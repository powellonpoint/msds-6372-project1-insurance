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eue Machina Ultra-Bold" charset="1" panose="00000900000000000000"/>
      <p:regular r:id="rId18"/>
    </p:embeddedFont>
    <p:embeddedFont>
      <p:font typeface="Montserrat" charset="1" panose="00000500000000000000"/>
      <p:regular r:id="rId19"/>
    </p:embeddedFont>
    <p:embeddedFont>
      <p:font typeface="Montserrat Bold" charset="1" panose="00000800000000000000"/>
      <p:regular r:id="rId20"/>
    </p:embeddedFont>
    <p:embeddedFont>
      <p:font typeface="Poppins Bold" charset="1" panose="00000800000000000000"/>
      <p:regular r:id="rId21"/>
    </p:embeddedFont>
    <p:embeddedFont>
      <p:font typeface="Arial Bold" charset="1" panose="020B0704020202020204"/>
      <p:regular r:id="rId22"/>
    </p:embeddedFont>
    <p:embeddedFont>
      <p:font typeface="Arial" charset="1" panose="020B0604020202020204"/>
      <p:regular r:id="rId23"/>
    </p:embeddedFont>
    <p:embeddedFont>
      <p:font typeface="Poppins" charset="1" panose="00000500000000000000"/>
      <p:regular r:id="rId24"/>
    </p:embeddedFont>
    <p:embeddedFont>
      <p:font typeface="Arial Italics" charset="1" panose="020B060402020209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34306" y="4570048"/>
            <a:ext cx="14346707" cy="4672576"/>
            <a:chOff x="0" y="0"/>
            <a:chExt cx="187172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1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871720">
                  <a:moveTo>
                    <a:pt x="203200" y="0"/>
                  </a:moveTo>
                  <a:lnTo>
                    <a:pt x="1871720" y="0"/>
                  </a:lnTo>
                  <a:lnTo>
                    <a:pt x="166852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8C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668520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7572706" y="7122532"/>
            <a:ext cx="2223537" cy="2135768"/>
            <a:chOff x="0" y="0"/>
            <a:chExt cx="585623" cy="562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23" cy="562507"/>
            </a:xfrm>
            <a:custGeom>
              <a:avLst/>
              <a:gdLst/>
              <a:ahLst/>
              <a:cxnLst/>
              <a:rect r="r" b="b" t="t" l="l"/>
              <a:pathLst>
                <a:path h="562507" w="585623">
                  <a:moveTo>
                    <a:pt x="292811" y="0"/>
                  </a:moveTo>
                  <a:lnTo>
                    <a:pt x="585623" y="562507"/>
                  </a:lnTo>
                  <a:lnTo>
                    <a:pt x="0" y="562507"/>
                  </a:lnTo>
                  <a:lnTo>
                    <a:pt x="292811" y="0"/>
                  </a:lnTo>
                  <a:close/>
                </a:path>
              </a:pathLst>
            </a:custGeom>
            <a:solidFill>
              <a:srgbClr val="5265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1504" y="204014"/>
              <a:ext cx="402616" cy="318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72706" y="3164468"/>
            <a:ext cx="13193823" cy="3958065"/>
            <a:chOff x="0" y="0"/>
            <a:chExt cx="2032042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2042" cy="609600"/>
            </a:xfrm>
            <a:custGeom>
              <a:avLst/>
              <a:gdLst/>
              <a:ahLst/>
              <a:cxnLst/>
              <a:rect r="r" b="b" t="t" l="l"/>
              <a:pathLst>
                <a:path h="609600" w="2032042">
                  <a:moveTo>
                    <a:pt x="203200" y="0"/>
                  </a:moveTo>
                  <a:lnTo>
                    <a:pt x="2032042" y="0"/>
                  </a:lnTo>
                  <a:lnTo>
                    <a:pt x="182884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1828842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31851" y="684992"/>
            <a:ext cx="6840855" cy="8229600"/>
          </a:xfrm>
          <a:custGeom>
            <a:avLst/>
            <a:gdLst/>
            <a:ahLst/>
            <a:cxnLst/>
            <a:rect r="r" b="b" t="t" l="l"/>
            <a:pathLst>
              <a:path h="8229600" w="6840855">
                <a:moveTo>
                  <a:pt x="0" y="0"/>
                </a:moveTo>
                <a:lnTo>
                  <a:pt x="6840855" y="0"/>
                </a:lnTo>
                <a:lnTo>
                  <a:pt x="68408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4000" y="3659332"/>
            <a:ext cx="8115300" cy="325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HEALTH</a:t>
            </a:r>
            <a:r>
              <a:rPr lang="en-US" b="true" sz="6200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CARE</a:t>
            </a:r>
          </a:p>
          <a:p>
            <a:pPr algn="ctr">
              <a:lnSpc>
                <a:spcPts val="8680"/>
              </a:lnSpc>
            </a:pPr>
            <a:r>
              <a:rPr lang="en-US" b="true" sz="6200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CHARGES</a:t>
            </a:r>
          </a:p>
          <a:p>
            <a:pPr algn="ctr">
              <a:lnSpc>
                <a:spcPts val="868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5856395"/>
            <a:ext cx="8115300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Wh</a:t>
            </a:r>
            <a:r>
              <a:rPr lang="en-US" sz="32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at is associated with the bill, and how we would price the next customer</a:t>
            </a:r>
          </a:p>
          <a:p>
            <a:pPr algn="ctr">
              <a:lnSpc>
                <a:spcPts val="448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079306" y="7850691"/>
            <a:ext cx="31799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Presented By 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79306" y="8152316"/>
            <a:ext cx="31799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1E337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Aaron Powell </a:t>
            </a:r>
          </a:p>
        </p:txBody>
      </p:sp>
      <p:sp>
        <p:nvSpPr>
          <p:cNvPr name="AutoShape 16" id="16"/>
          <p:cNvSpPr/>
          <p:nvPr/>
        </p:nvSpPr>
        <p:spPr>
          <a:xfrm>
            <a:off x="8684474" y="2473040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8944826" y="2212540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434779" y="8024166"/>
            <a:ext cx="935751" cy="0"/>
          </a:xfrm>
          <a:prstGeom prst="line">
            <a:avLst/>
          </a:prstGeom>
          <a:ln cap="flat" w="257175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0902387" y="7556290"/>
            <a:ext cx="0" cy="935751"/>
          </a:xfrm>
          <a:prstGeom prst="line">
            <a:avLst/>
          </a:prstGeom>
          <a:ln cap="flat" w="257175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5861081" y="1952039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7312205" y="8654091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7572557" y="8393590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7312205" y="2005165"/>
            <a:ext cx="935751" cy="0"/>
          </a:xfrm>
          <a:prstGeom prst="line">
            <a:avLst/>
          </a:prstGeom>
          <a:ln cap="flat" w="257175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7779813" y="1537289"/>
            <a:ext cx="0" cy="935751"/>
          </a:xfrm>
          <a:prstGeom prst="line">
            <a:avLst/>
          </a:prstGeom>
          <a:ln cap="flat" w="257175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13162" y="3473812"/>
            <a:ext cx="618689" cy="0"/>
          </a:xfrm>
          <a:prstGeom prst="line">
            <a:avLst/>
          </a:prstGeom>
          <a:ln cap="flat" w="1714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422329" y="3164468"/>
            <a:ext cx="0" cy="618689"/>
          </a:xfrm>
          <a:prstGeom prst="line">
            <a:avLst/>
          </a:prstGeom>
          <a:ln cap="flat" w="1714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4082648" y="8465178"/>
            <a:ext cx="31799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1E337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Thuan-Andy Bui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549082" y="2817409"/>
            <a:ext cx="14346707" cy="4672576"/>
            <a:chOff x="0" y="0"/>
            <a:chExt cx="187172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1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871720">
                  <a:moveTo>
                    <a:pt x="203200" y="0"/>
                  </a:moveTo>
                  <a:lnTo>
                    <a:pt x="1871720" y="0"/>
                  </a:lnTo>
                  <a:lnTo>
                    <a:pt x="166852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8C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668520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057930" y="5369894"/>
            <a:ext cx="2223537" cy="2135768"/>
            <a:chOff x="0" y="0"/>
            <a:chExt cx="585623" cy="562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23" cy="562507"/>
            </a:xfrm>
            <a:custGeom>
              <a:avLst/>
              <a:gdLst/>
              <a:ahLst/>
              <a:cxnLst/>
              <a:rect r="r" b="b" t="t" l="l"/>
              <a:pathLst>
                <a:path h="562507" w="585623">
                  <a:moveTo>
                    <a:pt x="292811" y="0"/>
                  </a:moveTo>
                  <a:lnTo>
                    <a:pt x="585623" y="562507"/>
                  </a:lnTo>
                  <a:lnTo>
                    <a:pt x="0" y="562507"/>
                  </a:lnTo>
                  <a:lnTo>
                    <a:pt x="292811" y="0"/>
                  </a:lnTo>
                  <a:close/>
                </a:path>
              </a:pathLst>
            </a:custGeom>
            <a:solidFill>
              <a:srgbClr val="5265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1504" y="204014"/>
              <a:ext cx="402616" cy="318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57930" y="1411829"/>
            <a:ext cx="20465338" cy="3958065"/>
            <a:chOff x="0" y="0"/>
            <a:chExt cx="3151962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1962" cy="609600"/>
            </a:xfrm>
            <a:custGeom>
              <a:avLst/>
              <a:gdLst/>
              <a:ahLst/>
              <a:cxnLst/>
              <a:rect r="r" b="b" t="t" l="l"/>
              <a:pathLst>
                <a:path h="609600" w="3151962">
                  <a:moveTo>
                    <a:pt x="203200" y="0"/>
                  </a:moveTo>
                  <a:lnTo>
                    <a:pt x="3151962" y="0"/>
                  </a:lnTo>
                  <a:lnTo>
                    <a:pt x="294876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2948762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6998799" y="4707403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7259151" y="4446903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3405304" y="6165773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3665655" y="5905272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797429" y="1490109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057781" y="1229608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5780728" y="2578682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6170236" y="2188951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3175299" y="1906694"/>
            <a:ext cx="10904007" cy="215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Th</a:t>
            </a: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 big picture</a:t>
            </a:r>
          </a:p>
          <a:p>
            <a:pPr algn="l">
              <a:lnSpc>
                <a:spcPts val="868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068845" y="2999528"/>
            <a:ext cx="135161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Smok</a:t>
            </a:r>
            <a:r>
              <a:rPr lang="en-US" sz="27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ing dominates the bill; prediction and explanation are different jobs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21831" y="3606016"/>
            <a:ext cx="7621188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1E3371"/>
                </a:solidFill>
                <a:latin typeface="Poppins Bold"/>
                <a:ea typeface="Poppins Bold"/>
                <a:cs typeface="Poppins Bold"/>
                <a:sym typeface="Poppins Bold"/>
              </a:rPr>
              <a:t>Exp</a:t>
            </a:r>
            <a:r>
              <a:rPr lang="en-US" sz="2299" b="true">
                <a:solidFill>
                  <a:srgbClr val="1E3371"/>
                </a:solidFill>
                <a:latin typeface="Poppins Bold"/>
                <a:ea typeface="Poppins Bold"/>
                <a:cs typeface="Poppins Bold"/>
                <a:sym typeface="Poppins Bold"/>
              </a:rPr>
              <a:t>lain with the equation.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1E3371"/>
                </a:solidFill>
                <a:latin typeface="Poppins Bold"/>
                <a:ea typeface="Poppins Bold"/>
                <a:cs typeface="Poppins Bold"/>
                <a:sym typeface="Poppins Bold"/>
              </a:rPr>
              <a:t>Price with the random forest.</a:t>
            </a:r>
          </a:p>
          <a:p>
            <a:pPr algn="l">
              <a:lnSpc>
                <a:spcPts val="3219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4465755" y="5699392"/>
            <a:ext cx="5163766" cy="932762"/>
            <a:chOff x="0" y="0"/>
            <a:chExt cx="6885021" cy="12436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85021" cy="1243682"/>
            </a:xfrm>
            <a:custGeom>
              <a:avLst/>
              <a:gdLst/>
              <a:ahLst/>
              <a:cxnLst/>
              <a:rect r="r" b="b" t="t" l="l"/>
              <a:pathLst>
                <a:path h="1243682" w="6885021">
                  <a:moveTo>
                    <a:pt x="0" y="0"/>
                  </a:moveTo>
                  <a:lnTo>
                    <a:pt x="6885021" y="0"/>
                  </a:lnTo>
                  <a:lnTo>
                    <a:pt x="6885021" y="1243682"/>
                  </a:lnTo>
                  <a:lnTo>
                    <a:pt x="0" y="12436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52" r="30938" b="-1713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6885021" cy="1272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9B23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3.8×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465755" y="6521722"/>
            <a:ext cx="4361143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Average bill: smokers vs non-smokers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$32,050 vs $8,441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96271" y="5776867"/>
            <a:ext cx="3703320" cy="795528"/>
            <a:chOff x="0" y="0"/>
            <a:chExt cx="4937760" cy="10607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77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706" r="0" b="-4070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93776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9B23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$22.8k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96271" y="6521722"/>
            <a:ext cx="370332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Adjusted smoker gap at BMI 30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380765" y="7350397"/>
            <a:ext cx="3703320" cy="795528"/>
            <a:chOff x="0" y="0"/>
            <a:chExt cx="4937760" cy="10607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377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706" r="0" b="-4070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93776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$4,624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380765" y="8095252"/>
            <a:ext cx="370332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Random-forest repeated-check miss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96271" y="7285627"/>
            <a:ext cx="3703320" cy="795528"/>
            <a:chOff x="0" y="0"/>
            <a:chExt cx="4937760" cy="10607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377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706" r="0" b="-4070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93776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$4,366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296271" y="8030482"/>
            <a:ext cx="370332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Random-forest held-out miss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06327" y="9052560"/>
            <a:ext cx="17376992" cy="1234440"/>
            <a:chOff x="0" y="0"/>
            <a:chExt cx="23169323" cy="1645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169322" cy="1645920"/>
            </a:xfrm>
            <a:custGeom>
              <a:avLst/>
              <a:gdLst/>
              <a:ahLst/>
              <a:cxnLst/>
              <a:rect r="r" b="b" t="t" l="l"/>
              <a:pathLst>
                <a:path h="1645920" w="23169322">
                  <a:moveTo>
                    <a:pt x="0" y="0"/>
                  </a:moveTo>
                  <a:lnTo>
                    <a:pt x="23169322" y="0"/>
                  </a:lnTo>
                  <a:lnTo>
                    <a:pt x="2316932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60534" b="-582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3169323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6B7378"/>
                  </a:solidFill>
                  <a:latin typeface="Arial"/>
                  <a:ea typeface="Arial"/>
                  <a:cs typeface="Arial"/>
                  <a:sym typeface="Arial"/>
                </a:rPr>
                <a:t>The regression gives readable dollar effects. The forest bends with the observed charge pattern and is the better scorer.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95129" y="5018155"/>
            <a:ext cx="16061207" cy="4672576"/>
            <a:chOff x="0" y="0"/>
            <a:chExt cx="2095399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5399" cy="609600"/>
            </a:xfrm>
            <a:custGeom>
              <a:avLst/>
              <a:gdLst/>
              <a:ahLst/>
              <a:cxnLst/>
              <a:rect r="r" b="b" t="t" l="l"/>
              <a:pathLst>
                <a:path h="609600" w="2095399">
                  <a:moveTo>
                    <a:pt x="203200" y="0"/>
                  </a:moveTo>
                  <a:lnTo>
                    <a:pt x="2095399" y="0"/>
                  </a:lnTo>
                  <a:lnTo>
                    <a:pt x="189219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8C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892199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0726383" y="7570640"/>
            <a:ext cx="2223537" cy="2135768"/>
            <a:chOff x="0" y="0"/>
            <a:chExt cx="585623" cy="562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23" cy="562507"/>
            </a:xfrm>
            <a:custGeom>
              <a:avLst/>
              <a:gdLst/>
              <a:ahLst/>
              <a:cxnLst/>
              <a:rect r="r" b="b" t="t" l="l"/>
              <a:pathLst>
                <a:path h="562507" w="585623">
                  <a:moveTo>
                    <a:pt x="292811" y="0"/>
                  </a:moveTo>
                  <a:lnTo>
                    <a:pt x="585623" y="562507"/>
                  </a:lnTo>
                  <a:lnTo>
                    <a:pt x="0" y="562507"/>
                  </a:lnTo>
                  <a:lnTo>
                    <a:pt x="292811" y="0"/>
                  </a:lnTo>
                  <a:close/>
                </a:path>
              </a:pathLst>
            </a:custGeom>
            <a:solidFill>
              <a:srgbClr val="5265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1504" y="204014"/>
              <a:ext cx="402616" cy="318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26383" y="3612575"/>
            <a:ext cx="20465338" cy="3958065"/>
            <a:chOff x="0" y="0"/>
            <a:chExt cx="3151962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1962" cy="609600"/>
            </a:xfrm>
            <a:custGeom>
              <a:avLst/>
              <a:gdLst/>
              <a:ahLst/>
              <a:cxnLst/>
              <a:rect r="r" b="b" t="t" l="l"/>
              <a:pathLst>
                <a:path h="609600" w="3151962">
                  <a:moveTo>
                    <a:pt x="203200" y="0"/>
                  </a:moveTo>
                  <a:lnTo>
                    <a:pt x="3151962" y="0"/>
                  </a:lnTo>
                  <a:lnTo>
                    <a:pt x="294876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2948762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692381"/>
            <a:ext cx="8643984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Data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648229"/>
            <a:ext cx="9349957" cy="158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Data is not a random</a:t>
            </a:r>
            <a:r>
              <a:rPr lang="en-US" sz="23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 sample of the country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This not a causal effect of smoking, weight, or region, and is not a guarantee for one future person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Charges range from $1,122 to $63,770.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874295" y="4437937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8134646" y="4177436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507699" y="5611312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768050" y="5350812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3123038" y="8341229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3383390" y="8080728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6560191" y="2885350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6820542" y="2624849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507699" y="883550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897207" y="493819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4781758" y="2156044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15171266" y="1766313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99083" y="5294396"/>
            <a:ext cx="10303219" cy="4120094"/>
            <a:chOff x="0" y="0"/>
            <a:chExt cx="15453360" cy="6179553"/>
          </a:xfrm>
        </p:grpSpPr>
        <p:sp>
          <p:nvSpPr>
            <p:cNvPr name="Freeform 26" id="26" descr="/mnt/data/insurance_figures/fig_0.png"/>
            <p:cNvSpPr/>
            <p:nvPr/>
          </p:nvSpPr>
          <p:spPr>
            <a:xfrm flipH="false" flipV="false" rot="0">
              <a:off x="0" y="0"/>
              <a:ext cx="15453361" cy="6179566"/>
            </a:xfrm>
            <a:custGeom>
              <a:avLst/>
              <a:gdLst/>
              <a:ahLst/>
              <a:cxnLst/>
              <a:rect r="r" b="b" t="t" l="l"/>
              <a:pathLst>
                <a:path h="6179566" w="15453361">
                  <a:moveTo>
                    <a:pt x="0" y="0"/>
                  </a:moveTo>
                  <a:lnTo>
                    <a:pt x="15453361" y="0"/>
                  </a:lnTo>
                  <a:lnTo>
                    <a:pt x="15453361" y="6179566"/>
                  </a:lnTo>
                  <a:lnTo>
                    <a:pt x="0" y="6179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196698" y="3851418"/>
            <a:ext cx="3771900" cy="795528"/>
            <a:chOff x="0" y="0"/>
            <a:chExt cx="5029200" cy="10607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292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85" r="0" b="-4238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502920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1,337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196698" y="4596273"/>
            <a:ext cx="37719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distinct customers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373350" y="3779672"/>
            <a:ext cx="3771900" cy="795528"/>
            <a:chOff x="0" y="0"/>
            <a:chExt cx="5029200" cy="10607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292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85" r="0" b="-4238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502920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9B23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20.5%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5373350" y="4524527"/>
            <a:ext cx="37719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smokers in the file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601764" y="6021857"/>
            <a:ext cx="3771900" cy="795528"/>
            <a:chOff x="0" y="0"/>
            <a:chExt cx="5029200" cy="10607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292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85" r="0" b="-4238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02920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$13,279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601764" y="6766712"/>
            <a:ext cx="37719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average bill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5195242" y="6021857"/>
            <a:ext cx="3771900" cy="795528"/>
            <a:chOff x="0" y="0"/>
            <a:chExt cx="5029200" cy="10607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292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85" r="0" b="-4238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502920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$9,386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5195242" y="6766712"/>
            <a:ext cx="37719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median bill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92603" y="3259883"/>
            <a:ext cx="16061207" cy="4672576"/>
            <a:chOff x="0" y="0"/>
            <a:chExt cx="2095399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5399" cy="609600"/>
            </a:xfrm>
            <a:custGeom>
              <a:avLst/>
              <a:gdLst/>
              <a:ahLst/>
              <a:cxnLst/>
              <a:rect r="r" b="b" t="t" l="l"/>
              <a:pathLst>
                <a:path h="609600" w="2095399">
                  <a:moveTo>
                    <a:pt x="203200" y="0"/>
                  </a:moveTo>
                  <a:lnTo>
                    <a:pt x="2095399" y="0"/>
                  </a:lnTo>
                  <a:lnTo>
                    <a:pt x="189219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8C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892199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6028909" y="5812368"/>
            <a:ext cx="2223537" cy="2135768"/>
            <a:chOff x="0" y="0"/>
            <a:chExt cx="585623" cy="562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23" cy="562507"/>
            </a:xfrm>
            <a:custGeom>
              <a:avLst/>
              <a:gdLst/>
              <a:ahLst/>
              <a:cxnLst/>
              <a:rect r="r" b="b" t="t" l="l"/>
              <a:pathLst>
                <a:path h="562507" w="585623">
                  <a:moveTo>
                    <a:pt x="292811" y="0"/>
                  </a:moveTo>
                  <a:lnTo>
                    <a:pt x="585623" y="562507"/>
                  </a:lnTo>
                  <a:lnTo>
                    <a:pt x="0" y="562507"/>
                  </a:lnTo>
                  <a:lnTo>
                    <a:pt x="292811" y="0"/>
                  </a:lnTo>
                  <a:close/>
                </a:path>
              </a:pathLst>
            </a:custGeom>
            <a:solidFill>
              <a:srgbClr val="5265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1504" y="204014"/>
              <a:ext cx="402616" cy="318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28909" y="1854303"/>
            <a:ext cx="20465338" cy="3958065"/>
            <a:chOff x="0" y="0"/>
            <a:chExt cx="3151962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1962" cy="609600"/>
            </a:xfrm>
            <a:custGeom>
              <a:avLst/>
              <a:gdLst/>
              <a:ahLst/>
              <a:cxnLst/>
              <a:rect r="r" b="b" t="t" l="l"/>
              <a:pathLst>
                <a:path h="609600" w="3151962">
                  <a:moveTo>
                    <a:pt x="203200" y="0"/>
                  </a:moveTo>
                  <a:lnTo>
                    <a:pt x="3151962" y="0"/>
                  </a:lnTo>
                  <a:lnTo>
                    <a:pt x="294876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2948762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654184" y="6076288"/>
            <a:ext cx="8605116" cy="215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Smoking Stats</a:t>
            </a:r>
          </a:p>
          <a:p>
            <a:pPr algn="l">
              <a:lnSpc>
                <a:spcPts val="868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654184" y="7022612"/>
            <a:ext cx="8605116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Smoker </a:t>
            </a:r>
            <a:r>
              <a:rPr lang="en-US" sz="32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VS Non-Smoker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AutoShape 13" id="13"/>
          <p:cNvSpPr/>
          <p:nvPr/>
        </p:nvSpPr>
        <p:spPr>
          <a:xfrm>
            <a:off x="7862715" y="8566944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8252223" y="8177213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4960775" y="1674272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5350284" y="1284540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084980" y="8102522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7474488" y="7712791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7343441" y="2324503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7603793" y="2064003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738001" y="1284540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998352" y="1024040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9298988" y="9409112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9559339" y="9148612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7862715" y="2005633"/>
            <a:ext cx="8224662" cy="3655405"/>
            <a:chOff x="0" y="0"/>
            <a:chExt cx="15636240" cy="6949440"/>
          </a:xfrm>
        </p:grpSpPr>
        <p:sp>
          <p:nvSpPr>
            <p:cNvPr name="Freeform 26" id="26" descr="/mnt/data/insurance_figures/fig_1.png"/>
            <p:cNvSpPr/>
            <p:nvPr/>
          </p:nvSpPr>
          <p:spPr>
            <a:xfrm flipH="false" flipV="false" rot="0">
              <a:off x="0" y="0"/>
              <a:ext cx="15636239" cy="6949440"/>
            </a:xfrm>
            <a:custGeom>
              <a:avLst/>
              <a:gdLst/>
              <a:ahLst/>
              <a:cxnLst/>
              <a:rect r="r" b="b" t="t" l="l"/>
              <a:pathLst>
                <a:path h="6949440" w="15636239">
                  <a:moveTo>
                    <a:pt x="0" y="0"/>
                  </a:moveTo>
                  <a:lnTo>
                    <a:pt x="15636239" y="0"/>
                  </a:lnTo>
                  <a:lnTo>
                    <a:pt x="15636239" y="6949440"/>
                  </a:lnTo>
                  <a:lnTo>
                    <a:pt x="0" y="6949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06556" y="3484269"/>
            <a:ext cx="3360420" cy="795528"/>
            <a:chOff x="0" y="0"/>
            <a:chExt cx="4480560" cy="10607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805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07" r="0" b="-3230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48056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9B23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$32,050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06556" y="4229124"/>
            <a:ext cx="336042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average smoker bill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06556" y="4647290"/>
            <a:ext cx="3360420" cy="795528"/>
            <a:chOff x="0" y="0"/>
            <a:chExt cx="4480560" cy="10607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805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07" r="0" b="-3230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448056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$8,441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06556" y="5392145"/>
            <a:ext cx="336042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average non-smoker bill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306556" y="5876497"/>
            <a:ext cx="3291840" cy="342900"/>
            <a:chOff x="0" y="0"/>
            <a:chExt cx="4389120" cy="457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0" cy="457200"/>
            </a:xfrm>
            <a:custGeom>
              <a:avLst/>
              <a:gdLst/>
              <a:ahLst/>
              <a:cxnLst/>
              <a:rect r="r" b="b" t="t" l="l"/>
              <a:pathLst>
                <a:path h="457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3891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737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Median bills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06556" y="6246829"/>
            <a:ext cx="3360420" cy="1097280"/>
            <a:chOff x="0" y="0"/>
            <a:chExt cx="4480560" cy="1463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480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72" r="0" b="-967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4805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$34,456 smoker</a:t>
              </a:r>
            </a:p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$7,346 non-smoker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6007" y="7227397"/>
            <a:ext cx="3242310" cy="485394"/>
            <a:chOff x="0" y="0"/>
            <a:chExt cx="4323080" cy="6471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23080" cy="647192"/>
            </a:xfrm>
            <a:custGeom>
              <a:avLst/>
              <a:gdLst/>
              <a:ahLst/>
              <a:cxnLst/>
              <a:rect r="r" b="b" t="t" l="l"/>
              <a:pathLst>
                <a:path h="647192" w="4323080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170807" y="0"/>
                  </a:lnTo>
                  <a:cubicBezTo>
                    <a:pt x="4254881" y="0"/>
                    <a:pt x="4323080" y="68199"/>
                    <a:pt x="4323080" y="152273"/>
                  </a:cubicBezTo>
                  <a:lnTo>
                    <a:pt x="4323080" y="494919"/>
                  </a:lnTo>
                  <a:cubicBezTo>
                    <a:pt x="4323080" y="578993"/>
                    <a:pt x="4254881" y="647192"/>
                    <a:pt x="417080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9B2335"/>
            </a:solidFill>
            <a:ln w="19050" cap="sq">
              <a:solidFill>
                <a:srgbClr val="9B2335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295260" y="7278070"/>
            <a:ext cx="3003804" cy="356616"/>
            <a:chOff x="0" y="0"/>
            <a:chExt cx="4005072" cy="4754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05072" cy="475488"/>
            </a:xfrm>
            <a:custGeom>
              <a:avLst/>
              <a:gdLst/>
              <a:ahLst/>
              <a:cxnLst/>
              <a:rect r="r" b="b" t="t" l="l"/>
              <a:pathLst>
                <a:path h="475488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123" r="0" b="-11412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005072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3.8× average bill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86816" y="5018155"/>
            <a:ext cx="16061207" cy="4672576"/>
            <a:chOff x="0" y="0"/>
            <a:chExt cx="2095399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5399" cy="609600"/>
            </a:xfrm>
            <a:custGeom>
              <a:avLst/>
              <a:gdLst/>
              <a:ahLst/>
              <a:cxnLst/>
              <a:rect r="r" b="b" t="t" l="l"/>
              <a:pathLst>
                <a:path h="609600" w="2095399">
                  <a:moveTo>
                    <a:pt x="203200" y="0"/>
                  </a:moveTo>
                  <a:lnTo>
                    <a:pt x="2095399" y="0"/>
                  </a:lnTo>
                  <a:lnTo>
                    <a:pt x="189219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8C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892199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7734696" y="7570640"/>
            <a:ext cx="2223537" cy="2135768"/>
            <a:chOff x="0" y="0"/>
            <a:chExt cx="585623" cy="562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23" cy="562507"/>
            </a:xfrm>
            <a:custGeom>
              <a:avLst/>
              <a:gdLst/>
              <a:ahLst/>
              <a:cxnLst/>
              <a:rect r="r" b="b" t="t" l="l"/>
              <a:pathLst>
                <a:path h="562507" w="585623">
                  <a:moveTo>
                    <a:pt x="292811" y="0"/>
                  </a:moveTo>
                  <a:lnTo>
                    <a:pt x="585623" y="562507"/>
                  </a:lnTo>
                  <a:lnTo>
                    <a:pt x="0" y="562507"/>
                  </a:lnTo>
                  <a:lnTo>
                    <a:pt x="292811" y="0"/>
                  </a:lnTo>
                  <a:close/>
                </a:path>
              </a:pathLst>
            </a:custGeom>
            <a:solidFill>
              <a:srgbClr val="5265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1504" y="204014"/>
              <a:ext cx="402616" cy="318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34696" y="3612575"/>
            <a:ext cx="20465338" cy="3958065"/>
            <a:chOff x="0" y="0"/>
            <a:chExt cx="3151962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1962" cy="609600"/>
            </a:xfrm>
            <a:custGeom>
              <a:avLst/>
              <a:gdLst/>
              <a:ahLst/>
              <a:cxnLst/>
              <a:rect r="r" b="b" t="t" l="l"/>
              <a:pathLst>
                <a:path h="609600" w="3151962">
                  <a:moveTo>
                    <a:pt x="203200" y="0"/>
                  </a:moveTo>
                  <a:lnTo>
                    <a:pt x="3151962" y="0"/>
                  </a:lnTo>
                  <a:lnTo>
                    <a:pt x="294876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2948762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24434" y="3537336"/>
            <a:ext cx="7380486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BMI vs Smoking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0121153" y="2392203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0381504" y="2131703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922786" y="768199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2183137" y="507699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677855" y="2620665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938206" y="2360165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1848955" y="8429335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2238463" y="8039604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6283490" y="638969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6672998" y="249238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6802451" y="6021606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7062803" y="5761105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9144000" y="3107224"/>
            <a:ext cx="8865354" cy="4330066"/>
            <a:chOff x="0" y="0"/>
            <a:chExt cx="16642080" cy="8128419"/>
          </a:xfrm>
        </p:grpSpPr>
        <p:sp>
          <p:nvSpPr>
            <p:cNvPr name="Freeform 25" id="25" descr="/mnt/data/insurance_figures/fig_3.png"/>
            <p:cNvSpPr/>
            <p:nvPr/>
          </p:nvSpPr>
          <p:spPr>
            <a:xfrm flipH="false" flipV="false" rot="0">
              <a:off x="0" y="0"/>
              <a:ext cx="16642080" cy="8128381"/>
            </a:xfrm>
            <a:custGeom>
              <a:avLst/>
              <a:gdLst/>
              <a:ahLst/>
              <a:cxnLst/>
              <a:rect r="r" b="b" t="t" l="l"/>
              <a:pathLst>
                <a:path h="8128381" w="16642080">
                  <a:moveTo>
                    <a:pt x="0" y="0"/>
                  </a:moveTo>
                  <a:lnTo>
                    <a:pt x="16642080" y="0"/>
                  </a:lnTo>
                  <a:lnTo>
                    <a:pt x="16642080" y="8128381"/>
                  </a:lnTo>
                  <a:lnTo>
                    <a:pt x="0" y="8128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0492" y="5143500"/>
            <a:ext cx="3017520" cy="546624"/>
            <a:chOff x="0" y="0"/>
            <a:chExt cx="4023360" cy="7288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0" cy="728832"/>
            </a:xfrm>
            <a:custGeom>
              <a:avLst/>
              <a:gdLst/>
              <a:ahLst/>
              <a:cxnLst/>
              <a:rect r="r" b="b" t="t" l="l"/>
              <a:pathLst>
                <a:path h="72883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28832"/>
                  </a:lnTo>
                  <a:lnTo>
                    <a:pt x="0" y="728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70" r="0" b="-326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023360" cy="747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79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ADJUSTED INTERPRETATION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79072" y="5761105"/>
            <a:ext cx="2948940" cy="795528"/>
            <a:chOff x="0" y="0"/>
            <a:chExt cx="3931920" cy="10607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319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9" r="0" b="-2222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93192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9B23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+$1,461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79072" y="6505960"/>
            <a:ext cx="294894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per BMI point among smokers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44782" y="7269865"/>
            <a:ext cx="2948940" cy="795528"/>
            <a:chOff x="0" y="0"/>
            <a:chExt cx="3931920" cy="10607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319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9" r="0" b="-2222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393192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+$23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344782" y="8014720"/>
            <a:ext cx="294894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per BMI point among non-smokers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(range includes zero)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517317" y="6469761"/>
            <a:ext cx="2743200" cy="342900"/>
            <a:chOff x="0" y="0"/>
            <a:chExt cx="3657600" cy="457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457200"/>
            </a:xfrm>
            <a:custGeom>
              <a:avLst/>
              <a:gdLst/>
              <a:ahLst/>
              <a:cxnLst/>
              <a:rect r="r" b="b" t="t" l="l"/>
              <a:pathLst>
                <a:path h="45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6576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737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Smoker gap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517317" y="6840093"/>
            <a:ext cx="3017520" cy="1399032"/>
            <a:chOff x="0" y="0"/>
            <a:chExt cx="4023360" cy="18653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23360" cy="1865376"/>
            </a:xfrm>
            <a:custGeom>
              <a:avLst/>
              <a:gdLst/>
              <a:ahLst/>
              <a:cxnLst/>
              <a:rect r="r" b="b" t="t" l="l"/>
              <a:pathLst>
                <a:path h="186537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865376"/>
                  </a:lnTo>
                  <a:lnTo>
                    <a:pt x="0" y="18653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86" t="0" r="-9486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023360" cy="1874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BMI 25  →  $15,643</a:t>
              </a:r>
            </a:p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BMI 30  →  $22,833</a:t>
              </a:r>
            </a:p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BMI 35  →  $30,024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3902841" y="2491435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V="true">
            <a:off x="4292349" y="2101704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10121004" y="9328525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V="true">
            <a:off x="10381355" y="9068025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55155" y="1926667"/>
            <a:ext cx="14346707" cy="4672576"/>
            <a:chOff x="0" y="0"/>
            <a:chExt cx="187172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1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871720">
                  <a:moveTo>
                    <a:pt x="203200" y="0"/>
                  </a:moveTo>
                  <a:lnTo>
                    <a:pt x="1871720" y="0"/>
                  </a:lnTo>
                  <a:lnTo>
                    <a:pt x="166852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8C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668520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635070" y="4460883"/>
            <a:ext cx="2223537" cy="2135768"/>
            <a:chOff x="0" y="0"/>
            <a:chExt cx="585623" cy="562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23" cy="562507"/>
            </a:xfrm>
            <a:custGeom>
              <a:avLst/>
              <a:gdLst/>
              <a:ahLst/>
              <a:cxnLst/>
              <a:rect r="r" b="b" t="t" l="l"/>
              <a:pathLst>
                <a:path h="562507" w="585623">
                  <a:moveTo>
                    <a:pt x="292811" y="0"/>
                  </a:moveTo>
                  <a:lnTo>
                    <a:pt x="585623" y="562507"/>
                  </a:lnTo>
                  <a:lnTo>
                    <a:pt x="0" y="562507"/>
                  </a:lnTo>
                  <a:lnTo>
                    <a:pt x="292811" y="0"/>
                  </a:lnTo>
                  <a:close/>
                </a:path>
              </a:pathLst>
            </a:custGeom>
            <a:solidFill>
              <a:srgbClr val="5265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1504" y="204014"/>
              <a:ext cx="402616" cy="318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5070" y="1490109"/>
            <a:ext cx="20888049" cy="2970774"/>
            <a:chOff x="0" y="0"/>
            <a:chExt cx="3151962" cy="4482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1962" cy="448283"/>
            </a:xfrm>
            <a:custGeom>
              <a:avLst/>
              <a:gdLst/>
              <a:ahLst/>
              <a:cxnLst/>
              <a:rect r="r" b="b" t="t" l="l"/>
              <a:pathLst>
                <a:path h="448283" w="3151962">
                  <a:moveTo>
                    <a:pt x="203200" y="0"/>
                  </a:moveTo>
                  <a:lnTo>
                    <a:pt x="3151962" y="0"/>
                  </a:lnTo>
                  <a:lnTo>
                    <a:pt x="2948762" y="448283"/>
                  </a:lnTo>
                  <a:lnTo>
                    <a:pt x="0" y="44828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2948762" cy="505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175299" y="1906694"/>
            <a:ext cx="10904007" cy="215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The Eq</a:t>
            </a: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uation</a:t>
            </a:r>
          </a:p>
          <a:p>
            <a:pPr algn="l">
              <a:lnSpc>
                <a:spcPts val="868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247449" y="2930313"/>
            <a:ext cx="14454041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Quote the smoker effect at an </a:t>
            </a:r>
            <a:r>
              <a:rPr lang="en-US" sz="21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observed BMI. The smoker coefficient alone is the gap at BMI 0, which is not practical.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4258899" y="643840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4519251" y="383340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571328" y="8303861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831679" y="8043361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797429" y="1490109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057781" y="1229608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6073203" y="2104672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6462711" y="1714941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3035678" y="4800226"/>
            <a:ext cx="13792637" cy="1457081"/>
            <a:chOff x="0" y="0"/>
            <a:chExt cx="21879560" cy="2311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879561" cy="2311400"/>
            </a:xfrm>
            <a:custGeom>
              <a:avLst/>
              <a:gdLst/>
              <a:ahLst/>
              <a:cxnLst/>
              <a:rect r="r" b="b" t="t" l="l"/>
              <a:pathLst>
                <a:path h="2311400" w="21879561">
                  <a:moveTo>
                    <a:pt x="0" y="73914"/>
                  </a:moveTo>
                  <a:cubicBezTo>
                    <a:pt x="0" y="33147"/>
                    <a:pt x="33147" y="0"/>
                    <a:pt x="73914" y="0"/>
                  </a:cubicBezTo>
                  <a:lnTo>
                    <a:pt x="21805646" y="0"/>
                  </a:lnTo>
                  <a:cubicBezTo>
                    <a:pt x="21846539" y="0"/>
                    <a:pt x="21879561" y="33147"/>
                    <a:pt x="21879561" y="73914"/>
                  </a:cubicBezTo>
                  <a:lnTo>
                    <a:pt x="21879561" y="2237486"/>
                  </a:lnTo>
                  <a:cubicBezTo>
                    <a:pt x="21879561" y="2278380"/>
                    <a:pt x="21846412" y="2311400"/>
                    <a:pt x="21805646" y="2311400"/>
                  </a:cubicBezTo>
                  <a:lnTo>
                    <a:pt x="73914" y="2311400"/>
                  </a:lnTo>
                  <a:cubicBezTo>
                    <a:pt x="33147" y="2311400"/>
                    <a:pt x="0" y="2278253"/>
                    <a:pt x="0" y="2237486"/>
                  </a:cubicBezTo>
                  <a:close/>
                </a:path>
              </a:pathLst>
            </a:custGeom>
            <a:solidFill>
              <a:srgbClr val="A8C9F2"/>
            </a:solidFill>
            <a:ln w="19050" cap="sq">
              <a:solidFill>
                <a:srgbClr val="52659C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2057399" y="4989247"/>
            <a:ext cx="15567660" cy="1079041"/>
            <a:chOff x="0" y="0"/>
            <a:chExt cx="20756880" cy="14387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756880" cy="1438721"/>
            </a:xfrm>
            <a:custGeom>
              <a:avLst/>
              <a:gdLst/>
              <a:ahLst/>
              <a:cxnLst/>
              <a:rect r="r" b="b" t="t" l="l"/>
              <a:pathLst>
                <a:path h="1438721" w="20756880">
                  <a:moveTo>
                    <a:pt x="0" y="0"/>
                  </a:moveTo>
                  <a:lnTo>
                    <a:pt x="20756880" y="0"/>
                  </a:lnTo>
                  <a:lnTo>
                    <a:pt x="20756880" y="1438721"/>
                  </a:lnTo>
                  <a:lnTo>
                    <a:pt x="0" y="14387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1711" r="0" b="-22052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0756880" cy="1448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b="true" sz="2400">
                  <a:solidFill>
                    <a:srgbClr val="1E33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charges = β₀ + β₁(age) + β₂(children) + β₃(BMI) + β₄(smoker) + β₅(BMI × smoker) + region + ε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331319" y="6812422"/>
            <a:ext cx="3552444" cy="438912"/>
            <a:chOff x="0" y="0"/>
            <a:chExt cx="4736592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36592" cy="585216"/>
            </a:xfrm>
            <a:custGeom>
              <a:avLst/>
              <a:gdLst/>
              <a:ahLst/>
              <a:cxnLst/>
              <a:rect r="r" b="b" t="t" l="l"/>
              <a:pathLst>
                <a:path h="585216" w="4736592">
                  <a:moveTo>
                    <a:pt x="0" y="0"/>
                  </a:moveTo>
                  <a:lnTo>
                    <a:pt x="4736592" y="0"/>
                  </a:lnTo>
                  <a:lnTo>
                    <a:pt x="473659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707" r="0" b="-10770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736592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331319" y="7250191"/>
            <a:ext cx="3552444" cy="12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+$264 per year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~2.0% of the average bill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14699" y="6812422"/>
            <a:ext cx="3552444" cy="438912"/>
            <a:chOff x="0" y="0"/>
            <a:chExt cx="4736592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36592" cy="585216"/>
            </a:xfrm>
            <a:custGeom>
              <a:avLst/>
              <a:gdLst/>
              <a:ahLst/>
              <a:cxnLst/>
              <a:rect r="r" b="b" t="t" l="l"/>
              <a:pathLst>
                <a:path h="585216" w="4736592">
                  <a:moveTo>
                    <a:pt x="0" y="0"/>
                  </a:moveTo>
                  <a:lnTo>
                    <a:pt x="4736592" y="0"/>
                  </a:lnTo>
                  <a:lnTo>
                    <a:pt x="473659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707" r="0" b="-10770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736592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Children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514699" y="7250191"/>
            <a:ext cx="3552444" cy="12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+$512 per additional child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698079" y="6812422"/>
            <a:ext cx="3552444" cy="438912"/>
            <a:chOff x="0" y="0"/>
            <a:chExt cx="4736592" cy="5852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36592" cy="585216"/>
            </a:xfrm>
            <a:custGeom>
              <a:avLst/>
              <a:gdLst/>
              <a:ahLst/>
              <a:cxnLst/>
              <a:rect r="r" b="b" t="t" l="l"/>
              <a:pathLst>
                <a:path h="585216" w="4736592">
                  <a:moveTo>
                    <a:pt x="0" y="0"/>
                  </a:moveTo>
                  <a:lnTo>
                    <a:pt x="4736592" y="0"/>
                  </a:lnTo>
                  <a:lnTo>
                    <a:pt x="473659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707" r="0" b="-10770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736592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Region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698079" y="7250191"/>
            <a:ext cx="3552444" cy="12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SE −$1,207; SW −$1,228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vs Northeast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4881459" y="6812422"/>
            <a:ext cx="2866644" cy="438912"/>
            <a:chOff x="0" y="0"/>
            <a:chExt cx="3822192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22192" cy="585216"/>
            </a:xfrm>
            <a:custGeom>
              <a:avLst/>
              <a:gdLst/>
              <a:ahLst/>
              <a:cxnLst/>
              <a:rect r="r" b="b" t="t" l="l"/>
              <a:pathLst>
                <a:path h="585216" w="3822192">
                  <a:moveTo>
                    <a:pt x="0" y="0"/>
                  </a:moveTo>
                  <a:lnTo>
                    <a:pt x="3822192" y="0"/>
                  </a:lnTo>
                  <a:lnTo>
                    <a:pt x="382219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261" r="0" b="-7726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822192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Sex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4881459" y="7250191"/>
            <a:ext cx="2866644" cy="12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Not clearly associated after adjustment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(p = 0.062)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2331319" y="8503920"/>
            <a:ext cx="2743200" cy="795528"/>
            <a:chOff x="0" y="0"/>
            <a:chExt cx="3657600" cy="106070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65760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0.839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2331319" y="9248775"/>
            <a:ext cx="27432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Adjusted R²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6446119" y="8503920"/>
            <a:ext cx="3566160" cy="795528"/>
            <a:chOff x="0" y="0"/>
            <a:chExt cx="4754880" cy="10607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54880" cy="1060704"/>
            </a:xfrm>
            <a:custGeom>
              <a:avLst/>
              <a:gdLst/>
              <a:ahLst/>
              <a:cxnLst/>
              <a:rect r="r" b="b" t="t" l="l"/>
              <a:pathLst>
                <a:path h="106070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46" r="0" b="-3734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4754880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$4,853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6446119" y="9248775"/>
            <a:ext cx="356616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Residual standard deviation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917535" y="8503920"/>
            <a:ext cx="6775704" cy="438912"/>
            <a:chOff x="0" y="0"/>
            <a:chExt cx="9034272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034272" cy="585216"/>
            </a:xfrm>
            <a:custGeom>
              <a:avLst/>
              <a:gdLst/>
              <a:ahLst/>
              <a:cxnLst/>
              <a:rect r="r" b="b" t="t" l="l"/>
              <a:pathLst>
                <a:path h="585216" w="9034272">
                  <a:moveTo>
                    <a:pt x="0" y="0"/>
                  </a:moveTo>
                  <a:lnTo>
                    <a:pt x="9034272" y="0"/>
                  </a:lnTo>
                  <a:lnTo>
                    <a:pt x="903427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800" r="0" b="-2508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9034272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Important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0917535" y="8941689"/>
            <a:ext cx="677570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Quote the smoker effect at an observed BMI. The smoker coefficient alone is the gap at BMI 0, which is not practical.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95129" y="5018155"/>
            <a:ext cx="16061207" cy="4672576"/>
            <a:chOff x="0" y="0"/>
            <a:chExt cx="2095399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5399" cy="609600"/>
            </a:xfrm>
            <a:custGeom>
              <a:avLst/>
              <a:gdLst/>
              <a:ahLst/>
              <a:cxnLst/>
              <a:rect r="r" b="b" t="t" l="l"/>
              <a:pathLst>
                <a:path h="609600" w="2095399">
                  <a:moveTo>
                    <a:pt x="203200" y="0"/>
                  </a:moveTo>
                  <a:lnTo>
                    <a:pt x="2095399" y="0"/>
                  </a:lnTo>
                  <a:lnTo>
                    <a:pt x="189219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8C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892199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0726383" y="7570640"/>
            <a:ext cx="2223537" cy="2135768"/>
            <a:chOff x="0" y="0"/>
            <a:chExt cx="585623" cy="562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23" cy="562507"/>
            </a:xfrm>
            <a:custGeom>
              <a:avLst/>
              <a:gdLst/>
              <a:ahLst/>
              <a:cxnLst/>
              <a:rect r="r" b="b" t="t" l="l"/>
              <a:pathLst>
                <a:path h="562507" w="585623">
                  <a:moveTo>
                    <a:pt x="292811" y="0"/>
                  </a:moveTo>
                  <a:lnTo>
                    <a:pt x="585623" y="562507"/>
                  </a:lnTo>
                  <a:lnTo>
                    <a:pt x="0" y="562507"/>
                  </a:lnTo>
                  <a:lnTo>
                    <a:pt x="292811" y="0"/>
                  </a:lnTo>
                  <a:close/>
                </a:path>
              </a:pathLst>
            </a:custGeom>
            <a:solidFill>
              <a:srgbClr val="5265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1504" y="204014"/>
              <a:ext cx="402616" cy="318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26383" y="3612575"/>
            <a:ext cx="20465338" cy="3958065"/>
            <a:chOff x="0" y="0"/>
            <a:chExt cx="3151962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1962" cy="609600"/>
            </a:xfrm>
            <a:custGeom>
              <a:avLst/>
              <a:gdLst/>
              <a:ahLst/>
              <a:cxnLst/>
              <a:rect r="r" b="b" t="t" l="l"/>
              <a:pathLst>
                <a:path h="609600" w="3151962">
                  <a:moveTo>
                    <a:pt x="203200" y="0"/>
                  </a:moveTo>
                  <a:lnTo>
                    <a:pt x="3151962" y="0"/>
                  </a:lnTo>
                  <a:lnTo>
                    <a:pt x="294876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2948762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692381"/>
            <a:ext cx="11740179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Pricing the </a:t>
            </a: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next customer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69991" y="3925237"/>
            <a:ext cx="4598624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1E3371"/>
                </a:solidFill>
                <a:latin typeface="Poppins"/>
                <a:ea typeface="Poppins"/>
                <a:cs typeface="Poppins"/>
                <a:sym typeface="Poppins"/>
              </a:rPr>
              <a:t>The fo</a:t>
            </a:r>
            <a:r>
              <a:rPr lang="en-US" sz="2000">
                <a:solidFill>
                  <a:srgbClr val="1E3371"/>
                </a:solidFill>
                <a:latin typeface="Poppins"/>
                <a:ea typeface="Poppins"/>
                <a:cs typeface="Poppins"/>
                <a:sym typeface="Poppins"/>
              </a:rPr>
              <a:t>rest bends with the smoker cloud instead of forcing one straight line.</a:t>
            </a:r>
          </a:p>
          <a:p>
            <a:pPr algn="r">
              <a:lnSpc>
                <a:spcPts val="2800"/>
              </a:lnSpc>
            </a:pPr>
          </a:p>
        </p:txBody>
      </p:sp>
      <p:sp>
        <p:nvSpPr>
          <p:cNvPr name="AutoShape 13" id="13"/>
          <p:cNvSpPr/>
          <p:nvPr/>
        </p:nvSpPr>
        <p:spPr>
          <a:xfrm>
            <a:off x="507699" y="5611312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768050" y="5350812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123038" y="8341229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3383390" y="8080728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6560191" y="2885350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6820542" y="2624849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507699" y="883550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897207" y="493819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781758" y="2156044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15171266" y="1766313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254670" y="4307674"/>
            <a:ext cx="10361609" cy="5801423"/>
            <a:chOff x="0" y="0"/>
            <a:chExt cx="17801450" cy="9966960"/>
          </a:xfrm>
        </p:grpSpPr>
        <p:sp>
          <p:nvSpPr>
            <p:cNvPr name="Freeform 24" id="24" descr="/mnt/data/insurance_figures/fig_8.png"/>
            <p:cNvSpPr/>
            <p:nvPr/>
          </p:nvSpPr>
          <p:spPr>
            <a:xfrm flipH="false" flipV="false" rot="0">
              <a:off x="0" y="0"/>
              <a:ext cx="17801462" cy="9966960"/>
            </a:xfrm>
            <a:custGeom>
              <a:avLst/>
              <a:gdLst/>
              <a:ahLst/>
              <a:cxnLst/>
              <a:rect r="r" b="b" t="t" l="l"/>
              <a:pathLst>
                <a:path h="9966960" w="17801462">
                  <a:moveTo>
                    <a:pt x="0" y="0"/>
                  </a:moveTo>
                  <a:lnTo>
                    <a:pt x="17801462" y="0"/>
                  </a:lnTo>
                  <a:lnTo>
                    <a:pt x="17801462" y="9966960"/>
                  </a:lnTo>
                  <a:lnTo>
                    <a:pt x="0" y="9966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369991" y="5181313"/>
            <a:ext cx="4598624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1E3371"/>
                </a:solidFill>
                <a:latin typeface="Poppins"/>
                <a:ea typeface="Poppins"/>
                <a:cs typeface="Poppins"/>
                <a:sym typeface="Poppins"/>
              </a:rPr>
              <a:t>At high BMI, straight-line smoker p</a:t>
            </a:r>
            <a:r>
              <a:rPr lang="en-US" sz="2000">
                <a:solidFill>
                  <a:srgbClr val="1E3371"/>
                </a:solidFill>
                <a:latin typeface="Poppins"/>
                <a:ea typeface="Poppins"/>
                <a:cs typeface="Poppins"/>
                <a:sym typeface="Poppins"/>
              </a:rPr>
              <a:t>redictions keep climbing while the observed smoker cloud levels off.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0065" y="2685642"/>
            <a:ext cx="9828609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E3371"/>
                </a:solidFill>
                <a:latin typeface="Poppins"/>
                <a:ea typeface="Poppins"/>
                <a:cs typeface="Poppins"/>
                <a:sym typeface="Poppins"/>
              </a:rPr>
              <a:t>Explaining an average difference and pricing one new customer are different jobs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011107" y="4585724"/>
            <a:ext cx="16061207" cy="4672576"/>
            <a:chOff x="0" y="0"/>
            <a:chExt cx="2095399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5399" cy="609600"/>
            </a:xfrm>
            <a:custGeom>
              <a:avLst/>
              <a:gdLst/>
              <a:ahLst/>
              <a:cxnLst/>
              <a:rect r="r" b="b" t="t" l="l"/>
              <a:pathLst>
                <a:path h="609600" w="2095399">
                  <a:moveTo>
                    <a:pt x="203200" y="0"/>
                  </a:moveTo>
                  <a:lnTo>
                    <a:pt x="2095399" y="0"/>
                  </a:lnTo>
                  <a:lnTo>
                    <a:pt x="189219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8C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892199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3250162" y="6966495"/>
            <a:ext cx="2415762" cy="2320405"/>
            <a:chOff x="0" y="0"/>
            <a:chExt cx="585623" cy="562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23" cy="562507"/>
            </a:xfrm>
            <a:custGeom>
              <a:avLst/>
              <a:gdLst/>
              <a:ahLst/>
              <a:cxnLst/>
              <a:rect r="r" b="b" t="t" l="l"/>
              <a:pathLst>
                <a:path h="562507" w="585623">
                  <a:moveTo>
                    <a:pt x="292811" y="0"/>
                  </a:moveTo>
                  <a:lnTo>
                    <a:pt x="585623" y="562507"/>
                  </a:lnTo>
                  <a:lnTo>
                    <a:pt x="0" y="562507"/>
                  </a:lnTo>
                  <a:lnTo>
                    <a:pt x="292811" y="0"/>
                  </a:lnTo>
                  <a:close/>
                </a:path>
              </a:pathLst>
            </a:custGeom>
            <a:solidFill>
              <a:srgbClr val="5265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1504" y="204014"/>
              <a:ext cx="402616" cy="318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257466" y="681106"/>
            <a:ext cx="32498861" cy="6285389"/>
            <a:chOff x="0" y="0"/>
            <a:chExt cx="3151962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1962" cy="609600"/>
            </a:xfrm>
            <a:custGeom>
              <a:avLst/>
              <a:gdLst/>
              <a:ahLst/>
              <a:cxnLst/>
              <a:rect r="r" b="b" t="t" l="l"/>
              <a:pathLst>
                <a:path h="609600" w="3151962">
                  <a:moveTo>
                    <a:pt x="203200" y="0"/>
                  </a:moveTo>
                  <a:lnTo>
                    <a:pt x="3151962" y="0"/>
                  </a:lnTo>
                  <a:lnTo>
                    <a:pt x="294876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2948762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83932" y="7023657"/>
            <a:ext cx="10361554" cy="203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0"/>
              </a:lnSpc>
            </a:pPr>
            <a:r>
              <a:rPr lang="en-US" sz="58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Random Forest Ranks as most Optimal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458043" y="8278367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4847551" y="7888636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4960775" y="1674272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5350284" y="1284540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7084980" y="8102522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7474488" y="7712791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7696428" y="2324503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7956779" y="2064003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738001" y="1284540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998352" y="1024040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5789749" y="7800365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6050100" y="7539864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5848184" y="822687"/>
            <a:ext cx="11740298" cy="6002227"/>
          </a:xfrm>
          <a:custGeom>
            <a:avLst/>
            <a:gdLst/>
            <a:ahLst/>
            <a:cxnLst/>
            <a:rect r="r" b="b" t="t" l="l"/>
            <a:pathLst>
              <a:path h="6002227" w="11740298">
                <a:moveTo>
                  <a:pt x="0" y="0"/>
                </a:moveTo>
                <a:lnTo>
                  <a:pt x="11740298" y="0"/>
                </a:lnTo>
                <a:lnTo>
                  <a:pt x="11740298" y="6002227"/>
                </a:lnTo>
                <a:lnTo>
                  <a:pt x="0" y="6002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863495" y="8879799"/>
            <a:ext cx="12558562" cy="129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Lower is b</a:t>
            </a:r>
            <a:r>
              <a:rPr lang="en-US" sz="25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etter. The repeated 10-fold check is the primary comparison when one 80/20 split moves.</a:t>
            </a:r>
          </a:p>
          <a:p>
            <a:pPr algn="l">
              <a:lnSpc>
                <a:spcPts val="35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86816" y="5018155"/>
            <a:ext cx="16061207" cy="4672576"/>
            <a:chOff x="0" y="0"/>
            <a:chExt cx="2095399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5399" cy="609600"/>
            </a:xfrm>
            <a:custGeom>
              <a:avLst/>
              <a:gdLst/>
              <a:ahLst/>
              <a:cxnLst/>
              <a:rect r="r" b="b" t="t" l="l"/>
              <a:pathLst>
                <a:path h="609600" w="2095399">
                  <a:moveTo>
                    <a:pt x="203200" y="0"/>
                  </a:moveTo>
                  <a:lnTo>
                    <a:pt x="2095399" y="0"/>
                  </a:lnTo>
                  <a:lnTo>
                    <a:pt x="189219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8C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892199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7734696" y="7570640"/>
            <a:ext cx="2223537" cy="2135768"/>
            <a:chOff x="0" y="0"/>
            <a:chExt cx="585623" cy="562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23" cy="562507"/>
            </a:xfrm>
            <a:custGeom>
              <a:avLst/>
              <a:gdLst/>
              <a:ahLst/>
              <a:cxnLst/>
              <a:rect r="r" b="b" t="t" l="l"/>
              <a:pathLst>
                <a:path h="562507" w="585623">
                  <a:moveTo>
                    <a:pt x="292811" y="0"/>
                  </a:moveTo>
                  <a:lnTo>
                    <a:pt x="585623" y="562507"/>
                  </a:lnTo>
                  <a:lnTo>
                    <a:pt x="0" y="562507"/>
                  </a:lnTo>
                  <a:lnTo>
                    <a:pt x="292811" y="0"/>
                  </a:lnTo>
                  <a:close/>
                </a:path>
              </a:pathLst>
            </a:custGeom>
            <a:solidFill>
              <a:srgbClr val="5265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1504" y="204014"/>
              <a:ext cx="402616" cy="318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34696" y="3612575"/>
            <a:ext cx="20465338" cy="3958065"/>
            <a:chOff x="0" y="0"/>
            <a:chExt cx="3151962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1962" cy="609600"/>
            </a:xfrm>
            <a:custGeom>
              <a:avLst/>
              <a:gdLst/>
              <a:ahLst/>
              <a:cxnLst/>
              <a:rect r="r" b="b" t="t" l="l"/>
              <a:pathLst>
                <a:path h="609600" w="3151962">
                  <a:moveTo>
                    <a:pt x="203200" y="0"/>
                  </a:moveTo>
                  <a:lnTo>
                    <a:pt x="3151962" y="0"/>
                  </a:lnTo>
                  <a:lnTo>
                    <a:pt x="294876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2948762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538930"/>
            <a:ext cx="9417721" cy="215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What we would use</a:t>
            </a:r>
          </a:p>
          <a:p>
            <a:pPr algn="l">
              <a:lnSpc>
                <a:spcPts val="868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485253"/>
            <a:ext cx="7380486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Use one model to score; keep</a:t>
            </a:r>
            <a:r>
              <a:rPr lang="en-US" sz="3200">
                <a:solidFill>
                  <a:srgbClr val="1E3371"/>
                </a:solidFill>
                <a:latin typeface="Montserrat"/>
                <a:ea typeface="Montserrat"/>
                <a:cs typeface="Montserrat"/>
                <a:sym typeface="Montserrat"/>
              </a:rPr>
              <a:t> the other to explain.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819989" y="2802904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0080341" y="2542403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7259300" y="4336862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7519652" y="4076362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922786" y="768199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2183137" y="507699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0642154" y="8752542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0902506" y="8492041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1848955" y="8429335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12238463" y="8039604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6283490" y="638969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6672998" y="249238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5216559" y="4999971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5476911" y="4739470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0375372" y="1990530"/>
            <a:ext cx="2660904" cy="356616"/>
            <a:chOff x="0" y="0"/>
            <a:chExt cx="3547872" cy="4754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47872" cy="475488"/>
            </a:xfrm>
            <a:custGeom>
              <a:avLst/>
              <a:gdLst/>
              <a:ahLst/>
              <a:cxnLst/>
              <a:rect r="r" b="b" t="t" l="l"/>
              <a:pathLst>
                <a:path h="475488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388" r="0" b="-9538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547872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PRODUCTION PRICING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0" y="3756830"/>
            <a:ext cx="6720840" cy="617220"/>
            <a:chOff x="0" y="0"/>
            <a:chExt cx="896112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61120" cy="822960"/>
            </a:xfrm>
            <a:custGeom>
              <a:avLst/>
              <a:gdLst/>
              <a:ahLst/>
              <a:cxnLst/>
              <a:rect r="r" b="b" t="t" l="l"/>
              <a:pathLst>
                <a:path h="8229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896112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Random forest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59703" y="4387562"/>
            <a:ext cx="6652260" cy="2263140"/>
            <a:chOff x="0" y="0"/>
            <a:chExt cx="8869680" cy="3017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869680" cy="3017520"/>
            </a:xfrm>
            <a:custGeom>
              <a:avLst/>
              <a:gdLst/>
              <a:ahLst/>
              <a:cxnLst/>
              <a:rect r="r" b="b" t="t" l="l"/>
              <a:pathLst>
                <a:path h="3017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4" r="0" b="-727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8869680" cy="3027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A3034"/>
                  </a:solidFill>
                  <a:latin typeface="Arial"/>
                  <a:ea typeface="Arial"/>
                  <a:cs typeface="Arial"/>
                  <a:sym typeface="Arial"/>
                </a:rPr>
                <a:t>• Lowest error on both validation checks</a:t>
              </a:r>
            </a:p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A3034"/>
                  </a:solidFill>
                  <a:latin typeface="Arial"/>
                  <a:ea typeface="Arial"/>
                  <a:cs typeface="Arial"/>
                  <a:sym typeface="Arial"/>
                </a:rPr>
                <a:t>• Follows the observed smoker shape at high BMI</a:t>
              </a:r>
            </a:p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A3034"/>
                  </a:solidFill>
                  <a:latin typeface="Arial"/>
                  <a:ea typeface="Arial"/>
                  <a:cs typeface="Arial"/>
                  <a:sym typeface="Arial"/>
                </a:rPr>
                <a:t>• Does not require one common residual spread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188068" y="7031702"/>
            <a:ext cx="6309360" cy="480060"/>
            <a:chOff x="0" y="0"/>
            <a:chExt cx="841248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412480" cy="640080"/>
            </a:xfrm>
            <a:custGeom>
              <a:avLst/>
              <a:gdLst/>
              <a:ahLst/>
              <a:cxnLst/>
              <a:rect r="r" b="b" t="t" l="l"/>
              <a:pathLst>
                <a:path h="6400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84124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$4,624 repeated • $4,366 held-out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88389" y="3833665"/>
            <a:ext cx="2899410" cy="485394"/>
            <a:chOff x="0" y="0"/>
            <a:chExt cx="3865880" cy="6471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65880" cy="647192"/>
            </a:xfrm>
            <a:custGeom>
              <a:avLst/>
              <a:gdLst/>
              <a:ahLst/>
              <a:cxnLst/>
              <a:rect r="r" b="b" t="t" l="l"/>
              <a:pathLst>
                <a:path h="647192" w="3865880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3713607" y="0"/>
                  </a:lnTo>
                  <a:cubicBezTo>
                    <a:pt x="3797681" y="0"/>
                    <a:pt x="3865880" y="68199"/>
                    <a:pt x="3865880" y="152273"/>
                  </a:cubicBezTo>
                  <a:lnTo>
                    <a:pt x="3865880" y="494919"/>
                  </a:lnTo>
                  <a:cubicBezTo>
                    <a:pt x="3865880" y="578993"/>
                    <a:pt x="3797681" y="647192"/>
                    <a:pt x="371360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1F4E5F"/>
            </a:solidFill>
            <a:ln w="19050" cap="sq">
              <a:solidFill>
                <a:srgbClr val="1F4E5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3007642" y="3884338"/>
            <a:ext cx="2660904" cy="356616"/>
            <a:chOff x="0" y="0"/>
            <a:chExt cx="3547872" cy="4754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47872" cy="475488"/>
            </a:xfrm>
            <a:custGeom>
              <a:avLst/>
              <a:gdLst/>
              <a:ahLst/>
              <a:cxnLst/>
              <a:rect r="r" b="b" t="t" l="l"/>
              <a:pathLst>
                <a:path h="475488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388" r="0" b="-9538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547872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PRODUCTION PRICING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0191" y="5143885"/>
            <a:ext cx="6652260" cy="728226"/>
            <a:chOff x="0" y="0"/>
            <a:chExt cx="8869680" cy="97096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869680" cy="970967"/>
            </a:xfrm>
            <a:custGeom>
              <a:avLst/>
              <a:gdLst/>
              <a:ahLst/>
              <a:cxnLst/>
              <a:rect r="r" b="b" t="t" l="l"/>
              <a:pathLst>
                <a:path h="970967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970967"/>
                  </a:lnTo>
                  <a:lnTo>
                    <a:pt x="0" y="9709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615" r="0" b="-12037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8869680" cy="990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0"/>
                </a:lnSpc>
              </a:pPr>
              <a:r>
                <a:rPr lang="en-US" sz="3550" b="true">
                  <a:solidFill>
                    <a:srgbClr val="9B23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Short regression equation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18771" y="5797262"/>
            <a:ext cx="6583680" cy="2468880"/>
            <a:chOff x="0" y="0"/>
            <a:chExt cx="8778240" cy="3291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7782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8778240" cy="3301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0"/>
                </a:lnSpc>
              </a:pPr>
              <a:r>
                <a:rPr lang="en-US" sz="2375">
                  <a:solidFill>
                    <a:srgbClr val="2A3034"/>
                  </a:solidFill>
                  <a:latin typeface="Arial"/>
                  <a:ea typeface="Arial"/>
                  <a:cs typeface="Arial"/>
                  <a:sym typeface="Arial"/>
                </a:rPr>
                <a:t>• Readable dollar effects for age, children, BMI × smoking, and region</a:t>
              </a:r>
            </a:p>
            <a:p>
              <a:pPr algn="l">
                <a:lnSpc>
                  <a:spcPts val="2850"/>
                </a:lnSpc>
              </a:pPr>
              <a:r>
                <a:rPr lang="en-US" sz="2375">
                  <a:solidFill>
                    <a:srgbClr val="2A3034"/>
                  </a:solidFill>
                  <a:latin typeface="Arial"/>
                  <a:ea typeface="Arial"/>
                  <a:cs typeface="Arial"/>
                  <a:sym typeface="Arial"/>
                </a:rPr>
                <a:t>• Paired resampling gives ranges for the effects we quote</a:t>
              </a:r>
            </a:p>
            <a:p>
              <a:pPr algn="l">
                <a:lnSpc>
                  <a:spcPts val="2850"/>
                </a:lnSpc>
              </a:pPr>
              <a:r>
                <a:rPr lang="en-US" sz="2375">
                  <a:solidFill>
                    <a:srgbClr val="2A3034"/>
                  </a:solidFill>
                  <a:latin typeface="Arial"/>
                  <a:ea typeface="Arial"/>
                  <a:cs typeface="Arial"/>
                  <a:sym typeface="Arial"/>
                </a:rPr>
                <a:t>• Better for the “why did the bill move?” conversation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0191" y="9085292"/>
            <a:ext cx="4937760" cy="480060"/>
            <a:chOff x="0" y="0"/>
            <a:chExt cx="658368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9B23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Adjusted R² = 0.839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974054" y="5210500"/>
            <a:ext cx="2258949" cy="461054"/>
            <a:chOff x="0" y="0"/>
            <a:chExt cx="3170936" cy="6471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170936" cy="647192"/>
            </a:xfrm>
            <a:custGeom>
              <a:avLst/>
              <a:gdLst/>
              <a:ahLst/>
              <a:cxnLst/>
              <a:rect r="r" b="b" t="t" l="l"/>
              <a:pathLst>
                <a:path h="647192" w="3170936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3018663" y="0"/>
                  </a:lnTo>
                  <a:cubicBezTo>
                    <a:pt x="3102737" y="0"/>
                    <a:pt x="3170936" y="68199"/>
                    <a:pt x="3170936" y="152273"/>
                  </a:cubicBezTo>
                  <a:lnTo>
                    <a:pt x="3170936" y="494919"/>
                  </a:lnTo>
                  <a:cubicBezTo>
                    <a:pt x="3170936" y="578993"/>
                    <a:pt x="3102737" y="647192"/>
                    <a:pt x="3018663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9B2335"/>
            </a:solidFill>
            <a:ln w="19050" cap="sq">
              <a:solidFill>
                <a:srgbClr val="9B2335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993104" y="5274187"/>
            <a:ext cx="2139696" cy="356616"/>
            <a:chOff x="0" y="0"/>
            <a:chExt cx="2852928" cy="4754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852928" cy="475488"/>
            </a:xfrm>
            <a:custGeom>
              <a:avLst/>
              <a:gdLst/>
              <a:ahLst/>
              <a:cxnLst/>
              <a:rect r="r" b="b" t="t" l="l"/>
              <a:pathLst>
                <a:path h="475488" w="2852928">
                  <a:moveTo>
                    <a:pt x="0" y="0"/>
                  </a:moveTo>
                  <a:lnTo>
                    <a:pt x="2852928" y="0"/>
                  </a:lnTo>
                  <a:lnTo>
                    <a:pt x="285292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2852928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0"/>
                </a:lnSpc>
              </a:pPr>
              <a:r>
                <a:rPr lang="en-US" sz="15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EXPLANATION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0191" y="9839758"/>
            <a:ext cx="15361920" cy="438912"/>
            <a:chOff x="0" y="0"/>
            <a:chExt cx="20482560" cy="5852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482561" cy="585216"/>
            </a:xfrm>
            <a:custGeom>
              <a:avLst/>
              <a:gdLst/>
              <a:ahLst/>
              <a:cxnLst/>
              <a:rect r="r" b="b" t="t" l="l"/>
              <a:pathLst>
                <a:path h="58521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048256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889" i="true">
                  <a:solidFill>
                    <a:srgbClr val="6B737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Both models still struggle with high-charge non-smokers. Flexibility does not replace missing information.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02275" y="4983405"/>
            <a:ext cx="15597282" cy="4672576"/>
            <a:chOff x="0" y="0"/>
            <a:chExt cx="2034874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4874" cy="609600"/>
            </a:xfrm>
            <a:custGeom>
              <a:avLst/>
              <a:gdLst/>
              <a:ahLst/>
              <a:cxnLst/>
              <a:rect r="r" b="b" t="t" l="l"/>
              <a:pathLst>
                <a:path h="609600" w="2034874">
                  <a:moveTo>
                    <a:pt x="203200" y="0"/>
                  </a:moveTo>
                  <a:lnTo>
                    <a:pt x="2034874" y="0"/>
                  </a:lnTo>
                  <a:lnTo>
                    <a:pt x="183167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8C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831674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8648806" y="7580726"/>
            <a:ext cx="2223537" cy="2135768"/>
            <a:chOff x="0" y="0"/>
            <a:chExt cx="585623" cy="562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23" cy="562507"/>
            </a:xfrm>
            <a:custGeom>
              <a:avLst/>
              <a:gdLst/>
              <a:ahLst/>
              <a:cxnLst/>
              <a:rect r="r" b="b" t="t" l="l"/>
              <a:pathLst>
                <a:path h="562507" w="585623">
                  <a:moveTo>
                    <a:pt x="292811" y="0"/>
                  </a:moveTo>
                  <a:lnTo>
                    <a:pt x="585623" y="562507"/>
                  </a:lnTo>
                  <a:lnTo>
                    <a:pt x="0" y="562507"/>
                  </a:lnTo>
                  <a:lnTo>
                    <a:pt x="292811" y="0"/>
                  </a:lnTo>
                  <a:close/>
                </a:path>
              </a:pathLst>
            </a:custGeom>
            <a:solidFill>
              <a:srgbClr val="5265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1504" y="204014"/>
              <a:ext cx="402616" cy="318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648806" y="3631625"/>
            <a:ext cx="20465338" cy="3958065"/>
            <a:chOff x="0" y="0"/>
            <a:chExt cx="3151962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1962" cy="609600"/>
            </a:xfrm>
            <a:custGeom>
              <a:avLst/>
              <a:gdLst/>
              <a:ahLst/>
              <a:cxnLst/>
              <a:rect r="r" b="b" t="t" l="l"/>
              <a:pathLst>
                <a:path h="609600" w="3151962">
                  <a:moveTo>
                    <a:pt x="203200" y="0"/>
                  </a:moveTo>
                  <a:lnTo>
                    <a:pt x="3151962" y="0"/>
                  </a:lnTo>
                  <a:lnTo>
                    <a:pt x="294876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2948762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692381"/>
            <a:ext cx="11740179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Scope: 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3123038" y="8341229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3383390" y="8080728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6560191" y="2885350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6820542" y="2624849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507699" y="883550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897207" y="493819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4781758" y="2156044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5171266" y="1766313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312033" y="2548649"/>
            <a:ext cx="6809314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1E3371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2699">
                <a:solidFill>
                  <a:srgbClr val="1E3371"/>
                </a:solidFill>
                <a:latin typeface="Poppins"/>
                <a:ea typeface="Poppins"/>
                <a:cs typeface="Poppins"/>
                <a:sym typeface="Poppins"/>
              </a:rPr>
              <a:t>at the file can and cannot support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72254" y="5321652"/>
            <a:ext cx="3429000" cy="429573"/>
            <a:chOff x="0" y="0"/>
            <a:chExt cx="4572000" cy="5727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72000" cy="572764"/>
            </a:xfrm>
            <a:custGeom>
              <a:avLst/>
              <a:gdLst/>
              <a:ahLst/>
              <a:cxnLst/>
              <a:rect r="r" b="b" t="t" l="l"/>
              <a:pathLst>
                <a:path h="57276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2764"/>
                  </a:lnTo>
                  <a:lnTo>
                    <a:pt x="0" y="5727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606" r="0" b="-8746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572000" cy="591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b="true" sz="2099" spc="251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WE CAN SAY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193" y="5529449"/>
            <a:ext cx="7475220" cy="2811780"/>
            <a:chOff x="0" y="0"/>
            <a:chExt cx="9966960" cy="3749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66960" cy="3749040"/>
            </a:xfrm>
            <a:custGeom>
              <a:avLst/>
              <a:gdLst/>
              <a:ahLst/>
              <a:cxnLst/>
              <a:rect r="r" b="b" t="t" l="l"/>
              <a:pathLst>
                <a:path h="374904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3749040"/>
                  </a:lnTo>
                  <a:lnTo>
                    <a:pt x="0" y="3749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1" r="0" b="-180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966960" cy="375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5"/>
                </a:lnSpc>
              </a:pPr>
              <a:r>
                <a:rPr lang="en-US" sz="2579">
                  <a:solidFill>
                    <a:srgbClr val="2A3034"/>
                  </a:solidFill>
                  <a:latin typeface="Arial"/>
                  <a:ea typeface="Arial"/>
                  <a:cs typeface="Arial"/>
                  <a:sym typeface="Arial"/>
                </a:rPr>
                <a:t>• Smoking, BMI, age, children, and region are associated with charges in these customers.</a:t>
              </a:r>
            </a:p>
            <a:p>
              <a:pPr algn="l">
                <a:lnSpc>
                  <a:spcPts val="3095"/>
                </a:lnSpc>
              </a:pPr>
              <a:r>
                <a:rPr lang="en-US" sz="2579">
                  <a:solidFill>
                    <a:srgbClr val="2A3034"/>
                  </a:solidFill>
                  <a:latin typeface="Arial"/>
                  <a:ea typeface="Arial"/>
                  <a:cs typeface="Arial"/>
                  <a:sym typeface="Arial"/>
                </a:rPr>
                <a:t>• The smoker gap depends strongly on BMI.</a:t>
              </a:r>
            </a:p>
            <a:p>
              <a:pPr algn="l">
                <a:lnSpc>
                  <a:spcPts val="3095"/>
                </a:lnSpc>
              </a:pPr>
              <a:r>
                <a:rPr lang="en-US" sz="2579">
                  <a:solidFill>
                    <a:srgbClr val="2A3034"/>
                  </a:solidFill>
                  <a:latin typeface="Arial"/>
                  <a:ea typeface="Arial"/>
                  <a:cs typeface="Arial"/>
                  <a:sym typeface="Arial"/>
                </a:rPr>
                <a:t>• The forest is the best scorer among the methods compared here.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146639" y="3798294"/>
            <a:ext cx="4377020" cy="429573"/>
            <a:chOff x="0" y="0"/>
            <a:chExt cx="5836027" cy="5727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36027" cy="572764"/>
            </a:xfrm>
            <a:custGeom>
              <a:avLst/>
              <a:gdLst/>
              <a:ahLst/>
              <a:cxnLst/>
              <a:rect r="r" b="b" t="t" l="l"/>
              <a:pathLst>
                <a:path h="572764" w="5836027">
                  <a:moveTo>
                    <a:pt x="0" y="0"/>
                  </a:moveTo>
                  <a:lnTo>
                    <a:pt x="5836027" y="0"/>
                  </a:lnTo>
                  <a:lnTo>
                    <a:pt x="5836027" y="572764"/>
                  </a:lnTo>
                  <a:lnTo>
                    <a:pt x="0" y="5727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606" r="21659" b="-8746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836027" cy="591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b="true" sz="2099" spc="251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WE CANNOT SAY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146639" y="4227867"/>
            <a:ext cx="7475220" cy="2359152"/>
            <a:chOff x="0" y="0"/>
            <a:chExt cx="9966960" cy="31455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66960" cy="3145536"/>
            </a:xfrm>
            <a:custGeom>
              <a:avLst/>
              <a:gdLst/>
              <a:ahLst/>
              <a:cxnLst/>
              <a:rect r="r" b="b" t="t" l="l"/>
              <a:pathLst>
                <a:path h="3145536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3145536"/>
                  </a:lnTo>
                  <a:lnTo>
                    <a:pt x="0" y="31455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40" r="0" b="-117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9966960" cy="3155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5"/>
                </a:lnSpc>
              </a:pPr>
              <a:r>
                <a:rPr lang="en-US" sz="2579">
                  <a:solidFill>
                    <a:srgbClr val="2A3034"/>
                  </a:solidFill>
                  <a:latin typeface="Arial"/>
                  <a:ea typeface="Arial"/>
                  <a:cs typeface="Arial"/>
                  <a:sym typeface="Arial"/>
                </a:rPr>
                <a:t>• No causal effect: smoking, BMI, and region were not assigned.</a:t>
              </a:r>
            </a:p>
            <a:p>
              <a:pPr algn="l">
                <a:lnSpc>
                  <a:spcPts val="3095"/>
                </a:lnSpc>
              </a:pPr>
              <a:r>
                <a:rPr lang="en-US" sz="2579">
                  <a:solidFill>
                    <a:srgbClr val="2A3034"/>
                  </a:solidFill>
                  <a:latin typeface="Arial"/>
                  <a:ea typeface="Arial"/>
                  <a:cs typeface="Arial"/>
                  <a:sym typeface="Arial"/>
                </a:rPr>
                <a:t>• No national rate: this is not a random sample of the country.</a:t>
              </a:r>
            </a:p>
            <a:p>
              <a:pPr algn="l">
                <a:lnSpc>
                  <a:spcPts val="3095"/>
                </a:lnSpc>
              </a:pPr>
              <a:r>
                <a:rPr lang="en-US" sz="2579">
                  <a:solidFill>
                    <a:srgbClr val="2A3034"/>
                  </a:solidFill>
                  <a:latin typeface="Arial"/>
                  <a:ea typeface="Arial"/>
                  <a:cs typeface="Arial"/>
                  <a:sym typeface="Arial"/>
                </a:rPr>
                <a:t>• Independence is assumed, not verified.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55155" y="1926667"/>
            <a:ext cx="14346707" cy="4672576"/>
            <a:chOff x="0" y="0"/>
            <a:chExt cx="187172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1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871720">
                  <a:moveTo>
                    <a:pt x="203200" y="0"/>
                  </a:moveTo>
                  <a:lnTo>
                    <a:pt x="1871720" y="0"/>
                  </a:lnTo>
                  <a:lnTo>
                    <a:pt x="166852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8C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668520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635070" y="4460883"/>
            <a:ext cx="2223537" cy="2135768"/>
            <a:chOff x="0" y="0"/>
            <a:chExt cx="585623" cy="562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23" cy="562507"/>
            </a:xfrm>
            <a:custGeom>
              <a:avLst/>
              <a:gdLst/>
              <a:ahLst/>
              <a:cxnLst/>
              <a:rect r="r" b="b" t="t" l="l"/>
              <a:pathLst>
                <a:path h="562507" w="585623">
                  <a:moveTo>
                    <a:pt x="292811" y="0"/>
                  </a:moveTo>
                  <a:lnTo>
                    <a:pt x="585623" y="562507"/>
                  </a:lnTo>
                  <a:lnTo>
                    <a:pt x="0" y="562507"/>
                  </a:lnTo>
                  <a:lnTo>
                    <a:pt x="292811" y="0"/>
                  </a:lnTo>
                  <a:close/>
                </a:path>
              </a:pathLst>
            </a:custGeom>
            <a:solidFill>
              <a:srgbClr val="5265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1504" y="204014"/>
              <a:ext cx="402616" cy="318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5070" y="1490109"/>
            <a:ext cx="20888049" cy="2970774"/>
            <a:chOff x="0" y="0"/>
            <a:chExt cx="3151962" cy="4482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1962" cy="448283"/>
            </a:xfrm>
            <a:custGeom>
              <a:avLst/>
              <a:gdLst/>
              <a:ahLst/>
              <a:cxnLst/>
              <a:rect r="r" b="b" t="t" l="l"/>
              <a:pathLst>
                <a:path h="448283" w="3151962">
                  <a:moveTo>
                    <a:pt x="203200" y="0"/>
                  </a:moveTo>
                  <a:lnTo>
                    <a:pt x="3151962" y="0"/>
                  </a:lnTo>
                  <a:lnTo>
                    <a:pt x="2948762" y="448283"/>
                  </a:lnTo>
                  <a:lnTo>
                    <a:pt x="0" y="44828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2948762" cy="505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4258899" y="643840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4519251" y="383340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71328" y="8303861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831679" y="8043361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797429" y="1490109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057781" y="1229608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6073203" y="2104672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6462711" y="1714941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2138086" y="1591116"/>
            <a:ext cx="11740179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Scope: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21419" y="2447384"/>
            <a:ext cx="6809314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1E3371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2699">
                <a:solidFill>
                  <a:srgbClr val="1E3371"/>
                </a:solidFill>
                <a:latin typeface="Poppins"/>
                <a:ea typeface="Poppins"/>
                <a:cs typeface="Poppins"/>
                <a:sym typeface="Poppins"/>
              </a:rPr>
              <a:t>at the file can and cannot support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178866" y="5006340"/>
            <a:ext cx="4526280" cy="274320"/>
            <a:chOff x="0" y="0"/>
            <a:chExt cx="6035040" cy="365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35040" cy="365760"/>
            </a:xfrm>
            <a:custGeom>
              <a:avLst/>
              <a:gdLst/>
              <a:ahLst/>
              <a:cxnLst/>
              <a:rect r="r" b="b" t="t" l="l"/>
              <a:pathLst>
                <a:path h="3657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03504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79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WE WOULD COLLECT NEXT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737587" y="5528767"/>
            <a:ext cx="6720840" cy="576072"/>
            <a:chOff x="0" y="0"/>
            <a:chExt cx="8961120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61120" cy="768096"/>
            </a:xfrm>
            <a:custGeom>
              <a:avLst/>
              <a:gdLst/>
              <a:ahLst/>
              <a:cxnLst/>
              <a:rect r="r" b="b" t="t" l="l"/>
              <a:pathLst>
                <a:path h="76809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96112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Diagnosis / pre-existing conditions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737587" y="6106838"/>
            <a:ext cx="6720840" cy="576072"/>
            <a:chOff x="0" y="0"/>
            <a:chExt cx="8961120" cy="7680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61120" cy="768096"/>
            </a:xfrm>
            <a:custGeom>
              <a:avLst/>
              <a:gdLst/>
              <a:ahLst/>
              <a:cxnLst/>
              <a:rect r="r" b="b" t="t" l="l"/>
              <a:pathLst>
                <a:path h="76809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896112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 design and deductible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737587" y="6684908"/>
            <a:ext cx="6720840" cy="576072"/>
            <a:chOff x="0" y="0"/>
            <a:chExt cx="8961120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61120" cy="768096"/>
            </a:xfrm>
            <a:custGeom>
              <a:avLst/>
              <a:gdLst/>
              <a:ahLst/>
              <a:cxnLst/>
              <a:rect r="r" b="b" t="t" l="l"/>
              <a:pathLst>
                <a:path h="76809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896112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Hospital / provider context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737587" y="7262979"/>
            <a:ext cx="6720840" cy="576072"/>
            <a:chOff x="0" y="0"/>
            <a:chExt cx="8961120" cy="768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961120" cy="768096"/>
            </a:xfrm>
            <a:custGeom>
              <a:avLst/>
              <a:gdLst/>
              <a:ahLst/>
              <a:cxnLst/>
              <a:rect r="r" b="b" t="t" l="l"/>
              <a:pathLst>
                <a:path h="76809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896112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 horizon / year identifier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737587" y="7841050"/>
            <a:ext cx="6720840" cy="576072"/>
            <a:chOff x="0" y="0"/>
            <a:chExt cx="8961120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961120" cy="768096"/>
            </a:xfrm>
            <a:custGeom>
              <a:avLst/>
              <a:gdLst/>
              <a:ahLst/>
              <a:cxnLst/>
              <a:rect r="r" b="b" t="t" l="l"/>
              <a:pathLst>
                <a:path h="76809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896112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9B23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later book of customers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661462" y="10429945"/>
            <a:ext cx="6912864" cy="438912"/>
            <a:chOff x="0" y="0"/>
            <a:chExt cx="9217152" cy="5852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17152" cy="585216"/>
            </a:xfrm>
            <a:custGeom>
              <a:avLst/>
              <a:gdLst/>
              <a:ahLst/>
              <a:cxnLst/>
              <a:rect r="r" b="b" t="t" l="l"/>
              <a:pathLst>
                <a:path h="585216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9217152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90"/>
                </a:lnSpc>
              </a:pPr>
              <a:r>
                <a:rPr lang="en-US" sz="13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it matters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49516" y="6275427"/>
            <a:ext cx="6912864" cy="438912"/>
            <a:chOff x="0" y="0"/>
            <a:chExt cx="9217152" cy="5852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217152" cy="585216"/>
            </a:xfrm>
            <a:custGeom>
              <a:avLst/>
              <a:gdLst/>
              <a:ahLst/>
              <a:cxnLst/>
              <a:rect r="r" b="b" t="t" l="l"/>
              <a:pathLst>
                <a:path h="585216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9217152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it matters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449516" y="6713196"/>
            <a:ext cx="691286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6B7378"/>
                </a:solidFill>
                <a:latin typeface="Arial"/>
                <a:ea typeface="Arial"/>
                <a:cs typeface="Arial"/>
                <a:sym typeface="Arial"/>
              </a:rPr>
              <a:t>The forest’s repeated check edge is only about $192. A future cohort should confirm that edge before production.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81850" y="2452126"/>
            <a:ext cx="13179229" cy="2051875"/>
            <a:chOff x="0" y="0"/>
            <a:chExt cx="1729691" cy="269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9691" cy="269296"/>
            </a:xfrm>
            <a:custGeom>
              <a:avLst/>
              <a:gdLst/>
              <a:ahLst/>
              <a:cxnLst/>
              <a:rect r="r" b="b" t="t" l="l"/>
              <a:pathLst>
                <a:path h="269296" w="1729691">
                  <a:moveTo>
                    <a:pt x="203200" y="0"/>
                  </a:moveTo>
                  <a:lnTo>
                    <a:pt x="1729691" y="0"/>
                  </a:lnTo>
                  <a:lnTo>
                    <a:pt x="1526491" y="269296"/>
                  </a:lnTo>
                  <a:lnTo>
                    <a:pt x="0" y="26929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8C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1526491" cy="326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403107" y="2427802"/>
            <a:ext cx="3334260" cy="2100524"/>
            <a:chOff x="0" y="0"/>
            <a:chExt cx="731363" cy="4607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1363" cy="460746"/>
            </a:xfrm>
            <a:custGeom>
              <a:avLst/>
              <a:gdLst/>
              <a:ahLst/>
              <a:cxnLst/>
              <a:rect r="r" b="b" t="t" l="l"/>
              <a:pathLst>
                <a:path h="460746" w="731363">
                  <a:moveTo>
                    <a:pt x="365682" y="0"/>
                  </a:moveTo>
                  <a:lnTo>
                    <a:pt x="731363" y="460746"/>
                  </a:lnTo>
                  <a:lnTo>
                    <a:pt x="0" y="460746"/>
                  </a:lnTo>
                  <a:lnTo>
                    <a:pt x="365682" y="0"/>
                  </a:lnTo>
                  <a:close/>
                </a:path>
              </a:pathLst>
            </a:custGeom>
            <a:solidFill>
              <a:srgbClr val="5265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4275" y="156768"/>
              <a:ext cx="502812" cy="271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3107" y="360553"/>
            <a:ext cx="20888049" cy="2133693"/>
            <a:chOff x="0" y="0"/>
            <a:chExt cx="3151962" cy="3219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1962" cy="321970"/>
            </a:xfrm>
            <a:custGeom>
              <a:avLst/>
              <a:gdLst/>
              <a:ahLst/>
              <a:cxnLst/>
              <a:rect r="r" b="b" t="t" l="l"/>
              <a:pathLst>
                <a:path h="321970" w="3151962">
                  <a:moveTo>
                    <a:pt x="203200" y="0"/>
                  </a:moveTo>
                  <a:lnTo>
                    <a:pt x="3151962" y="0"/>
                  </a:lnTo>
                  <a:lnTo>
                    <a:pt x="2948762" y="321970"/>
                  </a:lnTo>
                  <a:lnTo>
                    <a:pt x="0" y="32197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2948762" cy="379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4258899" y="643840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4519251" y="383340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71328" y="8303861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831679" y="8043361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797429" y="1490109"/>
            <a:ext cx="521001" cy="0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057781" y="1229608"/>
            <a:ext cx="0" cy="521001"/>
          </a:xfrm>
          <a:prstGeom prst="line">
            <a:avLst/>
          </a:prstGeom>
          <a:ln cap="flat" w="142875">
            <a:solidFill>
              <a:srgbClr val="486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6073203" y="2104672"/>
            <a:ext cx="779462" cy="0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6462711" y="1714941"/>
            <a:ext cx="0" cy="779462"/>
          </a:xfrm>
          <a:prstGeom prst="line">
            <a:avLst/>
          </a:prstGeom>
          <a:ln cap="flat" w="209550">
            <a:solidFill>
              <a:srgbClr val="A8C9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823970" y="311568"/>
            <a:ext cx="11740179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true">
                <a:solidFill>
                  <a:srgbClr val="1E33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Appendix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1328" y="1115256"/>
            <a:ext cx="6809314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1E3371"/>
                </a:solidFill>
                <a:latin typeface="Poppins"/>
                <a:ea typeface="Poppins"/>
                <a:cs typeface="Poppins"/>
                <a:sym typeface="Poppins"/>
              </a:rPr>
              <a:t>Mod</a:t>
            </a:r>
            <a:r>
              <a:rPr lang="en-US" sz="2699">
                <a:solidFill>
                  <a:srgbClr val="1E3371"/>
                </a:solidFill>
                <a:latin typeface="Poppins"/>
                <a:ea typeface="Poppins"/>
                <a:cs typeface="Poppins"/>
                <a:sym typeface="Poppins"/>
              </a:rPr>
              <a:t>eling choices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661462" y="10429945"/>
            <a:ext cx="6912864" cy="438912"/>
            <a:chOff x="0" y="0"/>
            <a:chExt cx="9217152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17152" cy="585216"/>
            </a:xfrm>
            <a:custGeom>
              <a:avLst/>
              <a:gdLst/>
              <a:ahLst/>
              <a:cxnLst/>
              <a:rect r="r" b="b" t="t" l="l"/>
              <a:pathLst>
                <a:path h="585216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217152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90"/>
                </a:lnSpc>
              </a:pPr>
              <a:r>
                <a:rPr lang="en-US" sz="13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it matters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418115" y="3107484"/>
            <a:ext cx="3017520" cy="405035"/>
            <a:chOff x="0" y="0"/>
            <a:chExt cx="4023360" cy="5400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540047"/>
            </a:xfrm>
            <a:custGeom>
              <a:avLst/>
              <a:gdLst/>
              <a:ahLst/>
              <a:cxnLst/>
              <a:rect r="r" b="b" t="t" l="l"/>
              <a:pathLst>
                <a:path h="540047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0047"/>
                  </a:lnTo>
                  <a:lnTo>
                    <a:pt x="0" y="5400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300" r="0" b="-7902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023360" cy="540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239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RESIDUAL SPREAD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692435" y="2779824"/>
            <a:ext cx="4594860" cy="2002536"/>
            <a:chOff x="0" y="0"/>
            <a:chExt cx="6126480" cy="26700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26480" cy="2670048"/>
            </a:xfrm>
            <a:custGeom>
              <a:avLst/>
              <a:gdLst/>
              <a:ahLst/>
              <a:cxnLst/>
              <a:rect r="r" b="b" t="t" l="l"/>
              <a:pathLst>
                <a:path h="2670048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2670048"/>
                  </a:lnTo>
                  <a:lnTo>
                    <a:pt x="0" y="2670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86" r="0" b="2446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126480" cy="2679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Smoker residual SD ≈ $5,717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Non-smoker residual SD ≈ $4,588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692435" y="3943084"/>
            <a:ext cx="4869180" cy="1851660"/>
            <a:chOff x="0" y="0"/>
            <a:chExt cx="6492240" cy="2468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92240" cy="2468880"/>
            </a:xfrm>
            <a:custGeom>
              <a:avLst/>
              <a:gdLst/>
              <a:ahLst/>
              <a:cxnLst/>
              <a:rect r="r" b="b" t="t" l="l"/>
              <a:pathLst>
                <a:path h="24688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8" r="0" b="-123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492240" cy="2487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0"/>
                </a:lnSpc>
              </a:pPr>
              <a:r>
                <a:rPr lang="en-US" sz="1925">
                  <a:solidFill>
                    <a:srgbClr val="6B7378"/>
                  </a:solidFill>
                  <a:latin typeface="Arial"/>
                  <a:ea typeface="Arial"/>
                  <a:cs typeface="Arial"/>
                  <a:sym typeface="Arial"/>
                </a:rPr>
                <a:t>Residual variance is not constant. Paired resampling was used for coefficient uncertainty because it keeps each customer’s predictors and outcome together.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276920" y="5905960"/>
            <a:ext cx="4165229" cy="405035"/>
            <a:chOff x="0" y="0"/>
            <a:chExt cx="5553638" cy="54004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53638" cy="540047"/>
            </a:xfrm>
            <a:custGeom>
              <a:avLst/>
              <a:gdLst/>
              <a:ahLst/>
              <a:cxnLst/>
              <a:rect r="r" b="b" t="t" l="l"/>
              <a:pathLst>
                <a:path h="540047" w="5553638">
                  <a:moveTo>
                    <a:pt x="0" y="0"/>
                  </a:moveTo>
                  <a:lnTo>
                    <a:pt x="5553638" y="0"/>
                  </a:lnTo>
                  <a:lnTo>
                    <a:pt x="5553638" y="540047"/>
                  </a:lnTo>
                  <a:lnTo>
                    <a:pt x="0" y="5400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095" r="17675" b="-9882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553638" cy="540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239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TRANSFORMATION CHECK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692435" y="6080494"/>
            <a:ext cx="5006340" cy="1714500"/>
            <a:chOff x="0" y="0"/>
            <a:chExt cx="6675120" cy="2286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751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96" r="0" b="-689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675120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0"/>
                </a:lnSpc>
              </a:pPr>
              <a:r>
                <a:rPr lang="en-US" sz="1925">
                  <a:solidFill>
                    <a:srgbClr val="6B7378"/>
                  </a:solidFill>
                  <a:latin typeface="Arial"/>
                  <a:ea typeface="Arial"/>
                  <a:cs typeface="Arial"/>
                  <a:sym typeface="Arial"/>
                </a:rPr>
                <a:t>Log charges reduced skew, but the common age slope failed badly (&lt; 0.001). The dollar scale was retained for interpretation and prediction.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3787872" y="2517126"/>
            <a:ext cx="1400172" cy="1400172"/>
          </a:xfrm>
          <a:prstGeom prst="line">
            <a:avLst/>
          </a:prstGeom>
          <a:ln cap="rnd" w="19050">
            <a:solidFill>
              <a:srgbClr val="D8D5C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1424634" y="2833164"/>
            <a:ext cx="3566160" cy="274320"/>
            <a:chOff x="0" y="0"/>
            <a:chExt cx="4754880" cy="3657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54880" cy="365760"/>
            </a:xfrm>
            <a:custGeom>
              <a:avLst/>
              <a:gdLst/>
              <a:ahLst/>
              <a:cxnLst/>
              <a:rect r="r" b="b" t="t" l="l"/>
              <a:pathLst>
                <a:path h="3657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75488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79">
                  <a:solidFill>
                    <a:srgbClr val="1F4E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ALTERNATIVE MODELS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943645" y="3273600"/>
            <a:ext cx="3840480" cy="438912"/>
            <a:chOff x="0" y="0"/>
            <a:chExt cx="5120640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0640" cy="585216"/>
            </a:xfrm>
            <a:custGeom>
              <a:avLst/>
              <a:gdLst/>
              <a:ahLst/>
              <a:cxnLst/>
              <a:rect r="r" b="b" t="t" l="l"/>
              <a:pathLst>
                <a:path h="58521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12064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6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Stepwise / term search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943645" y="3739944"/>
            <a:ext cx="4114800" cy="1165860"/>
            <a:chOff x="0" y="0"/>
            <a:chExt cx="5486400" cy="1554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86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70" r="0" b="-1877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48640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4"/>
                </a:lnSpc>
              </a:pPr>
              <a:r>
                <a:rPr lang="en-US" sz="2220">
                  <a:solidFill>
                    <a:srgbClr val="6B7378"/>
                  </a:solidFill>
                  <a:latin typeface="Arial"/>
                  <a:ea typeface="Arial"/>
                  <a:cs typeface="Arial"/>
                  <a:sym typeface="Arial"/>
                </a:rPr>
                <a:t>15 terms; repeated-check miss $4,836. AIC improved, new-customer error did not.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564148" y="3328464"/>
            <a:ext cx="3840480" cy="438912"/>
            <a:chOff x="0" y="0"/>
            <a:chExt cx="512064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20640" cy="585216"/>
            </a:xfrm>
            <a:custGeom>
              <a:avLst/>
              <a:gdLst/>
              <a:ahLst/>
              <a:cxnLst/>
              <a:rect r="r" b="b" t="t" l="l"/>
              <a:pathLst>
                <a:path h="58521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512064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6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Penalized regression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564148" y="3794808"/>
            <a:ext cx="4114800" cy="987552"/>
            <a:chOff x="0" y="0"/>
            <a:chExt cx="5486400" cy="13167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48640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4"/>
                </a:lnSpc>
              </a:pPr>
              <a:r>
                <a:rPr lang="en-US" sz="2220">
                  <a:solidFill>
                    <a:srgbClr val="6B7378"/>
                  </a:solidFill>
                  <a:latin typeface="Arial"/>
                  <a:ea typeface="Arial"/>
                  <a:cs typeface="Arial"/>
                  <a:sym typeface="Arial"/>
                </a:rPr>
                <a:t>14 of 33 terms kept; repeated-check miss $5,050.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943645" y="5067796"/>
            <a:ext cx="3840480" cy="438912"/>
            <a:chOff x="0" y="0"/>
            <a:chExt cx="512064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20640" cy="585216"/>
            </a:xfrm>
            <a:custGeom>
              <a:avLst/>
              <a:gdLst/>
              <a:ahLst/>
              <a:cxnLst/>
              <a:rect r="r" b="b" t="t" l="l"/>
              <a:pathLst>
                <a:path h="58521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512064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625" b="true">
                  <a:solidFill>
                    <a:srgbClr val="2A303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k-nearest neighbors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943645" y="5534140"/>
            <a:ext cx="4114800" cy="987552"/>
            <a:chOff x="0" y="0"/>
            <a:chExt cx="5486400" cy="13167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86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548640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4"/>
                </a:lnSpc>
              </a:pPr>
              <a:r>
                <a:rPr lang="en-US" sz="2220">
                  <a:solidFill>
                    <a:srgbClr val="6B7378"/>
                  </a:solidFill>
                  <a:latin typeface="Arial"/>
                  <a:ea typeface="Arial"/>
                  <a:cs typeface="Arial"/>
                  <a:sym typeface="Arial"/>
                </a:rPr>
                <a:t>Best neighborhood k = 7; repeated-check miss $5,384.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943645" y="6521692"/>
            <a:ext cx="7738233" cy="3439215"/>
            <a:chOff x="0" y="0"/>
            <a:chExt cx="7772400" cy="3454400"/>
          </a:xfrm>
        </p:grpSpPr>
        <p:sp>
          <p:nvSpPr>
            <p:cNvPr name="Freeform 62" id="62" descr="/mnt/data/insurance_figures/fig_16.png"/>
            <p:cNvSpPr/>
            <p:nvPr/>
          </p:nvSpPr>
          <p:spPr>
            <a:xfrm flipH="false" flipV="false" rot="0">
              <a:off x="0" y="0"/>
              <a:ext cx="7772400" cy="3454400"/>
            </a:xfrm>
            <a:custGeom>
              <a:avLst/>
              <a:gdLst/>
              <a:ahLst/>
              <a:cxnLst/>
              <a:rect r="r" b="b" t="t" l="l"/>
              <a:pathLst>
                <a:path h="34544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3454400"/>
                  </a:lnTo>
                  <a:lnTo>
                    <a:pt x="0" y="345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DAHWVXEwpdc</dc:identifier>
  <dcterms:modified xsi:type="dcterms:W3CDTF">2011-08-01T06:04:30Z</dcterms:modified>
  <cp:revision>1</cp:revision>
  <dc:title>Blue and Yellow Modern Insurance for Every Stage of Life Presentation</dc:title>
</cp:coreProperties>
</file>
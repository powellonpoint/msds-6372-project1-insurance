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60" r:id="rId5"/>
    <p:sldId id="272" r:id="rId6"/>
    <p:sldId id="262" r:id="rId7"/>
    <p:sldId id="264" r:id="rId8"/>
    <p:sldId id="268" r:id="rId9"/>
    <p:sldId id="265" r:id="rId10"/>
    <p:sldId id="266" r:id="rId11"/>
    <p:sldId id="274" r:id="rId12"/>
    <p:sldId id="269" r:id="rId13"/>
    <p:sldId id="270" r:id="rId14"/>
    <p:sldId id="263"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EAE7"/>
    <a:srgbClr val="314A3D"/>
    <a:srgbClr val="F0FAF5"/>
    <a:srgbClr val="C3C7C5"/>
    <a:srgbClr val="1C2A22"/>
    <a:srgbClr val="C4C4C4"/>
    <a:srgbClr val="000000"/>
    <a:srgbClr val="2D4437"/>
    <a:srgbClr val="2B41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98"/>
    <p:restoredTop sz="74620"/>
  </p:normalViewPr>
  <p:slideViewPr>
    <p:cSldViewPr snapToGrid="0" snapToObjects="1">
      <p:cViewPr>
        <p:scale>
          <a:sx n="96" d="100"/>
          <a:sy n="96" d="100"/>
        </p:scale>
        <p:origin x="144"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275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0:00 to 0:40. Which customer facts are associated with health-account charges, and does that association depend on region? Separately, if the job is to price the next account, which method is the best?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0:40 to 3:00. Let’s talk about the big picture, and the insights we found given the sample.</a:t>
            </a:r>
          </a:p>
          <a:p>
            <a:pPr>
              <a:buNone/>
            </a:pPr>
            <a:endParaRPr lang="en-US" sz="1200" dirty="0"/>
          </a:p>
          <a:p>
            <a:pPr>
              <a:buNone/>
            </a:pPr>
            <a:r>
              <a:rPr lang="en-US" sz="1200" dirty="0"/>
              <a:t>Smoking dominates. At BMI 30, holding age, children, and region fixed, mean charges for a smoker are about $23,000 higher. 280% higher than a non-smoker at the same BMI. BMI among smokers is associated with about $1,461 increase charges per point. There isn’t a significant association among non-smokers. </a:t>
            </a:r>
          </a:p>
          <a:p>
            <a:pPr>
              <a:buNone/>
            </a:pPr>
            <a:endParaRPr lang="en-US" sz="1200" dirty="0"/>
          </a:p>
          <a:p>
            <a:pPr>
              <a:buNone/>
            </a:pPr>
            <a:r>
              <a:rPr lang="en-US" sz="1200" dirty="0"/>
              <a:t>Age is associated with a $264 a year increase both smokers and non-smokers. The ordinary 95 percent interval is $245 to $283 using a paired bootstrap method. That is about 2 percent of the average bill. Each child is added is associated with about $512 increase in charges. </a:t>
            </a:r>
          </a:p>
          <a:p>
            <a:pPr>
              <a:buNone/>
            </a:pPr>
            <a:r>
              <a:rPr lang="en-US" sz="1200" dirty="0"/>
              <a:t>Sex is not clearly associated once the other facts are held fixed. </a:t>
            </a:r>
          </a:p>
          <a:p>
            <a:pPr>
              <a:buNone/>
            </a:pPr>
            <a:r>
              <a:rPr lang="en-US" sz="1200" dirty="0"/>
              <a:t>The unadjusted southeast looks expensive because it has more smokers and a higher BMI. After those are held fixed, the southeast mean is $1,207 lower than the northeast, and the southwest is $1,228 lower. The northwest did not have a clear difference from the northeast.</a:t>
            </a:r>
          </a:p>
          <a:p>
            <a:pPr>
              <a:buNone/>
            </a:pPr>
            <a:r>
              <a:rPr lang="en-US" sz="1200" dirty="0"/>
              <a:t>These are associations in 1,337 accounts in the sample. Not a national rate, and not what the bill would do if a particular person stopped smoking.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3:00 to 4:10. </a:t>
            </a:r>
          </a:p>
          <a:p>
            <a:pPr>
              <a:buNone/>
            </a:pPr>
            <a:r>
              <a:rPr lang="en-US" sz="1200" dirty="0"/>
              <a:t>1,337 records were examined, after dropping one exact duplicate. Smokers are 20.5 percent. Their average charges are higher than the median so smokers are not right-skewed. The remaining non-smokers have higher average than median which presents a right skewed distribution for the sample. For this reason, we consider both mean and median in our analysis. </a:t>
            </a:r>
          </a:p>
          <a:p>
            <a:pPr>
              <a:buNone/>
            </a:pPr>
            <a:r>
              <a:rPr lang="en-US" sz="1200" dirty="0"/>
              <a:t>The right-hand list only names the facts. Forty-three people have four or five children, so the per-child slope is identified mostly from zero to three.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4:10 to 6:10. Since there is a clear delineation between smokers and non-smokers, we decided to view plots of other variables illustrating the difference. </a:t>
            </a:r>
          </a:p>
          <a:p>
            <a:pPr>
              <a:buNone/>
            </a:pPr>
            <a:r>
              <a:rPr lang="en-US" sz="1200" dirty="0"/>
              <a:t>We found age had different correlations among smokers compared to non-smokers, but when plotted against charges we did not find a significant difference to move the bill as illustrated on the left.</a:t>
            </a:r>
          </a:p>
          <a:p>
            <a:pPr>
              <a:buNone/>
            </a:pPr>
            <a:r>
              <a:rPr lang="en-US" sz="1200" dirty="0"/>
              <a:t>The right illustrates the opposite. using BMI to predict charges is highly dependent on if the customer is also a smoker. In short, Age is </a:t>
            </a:r>
            <a:r>
              <a:rPr lang="en-US" sz="1200" dirty="0" err="1"/>
              <a:t>linearily</a:t>
            </a:r>
            <a:r>
              <a:rPr lang="en-US" sz="1200" dirty="0"/>
              <a:t> correlated to the bill and BMI is only relevant among smokers.</a:t>
            </a:r>
          </a:p>
          <a:p>
            <a:pPr>
              <a:buNone/>
            </a:pPr>
            <a:r>
              <a:rPr lang="en-US" sz="1200" dirty="0"/>
              <a:t>We saw the same interaction among children, but overall children had a low correlation to charges (.07) and there’s not many instances greater than 3 children per account.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F6F0D-5CC4-BB98-29F5-E9A937FC5C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F801A0-0C46-5DF2-5AA5-558601B79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53A68A-1FAA-73A3-E84C-8C7A1B56E7E8}"/>
              </a:ext>
            </a:extLst>
          </p:cNvPr>
          <p:cNvSpPr>
            <a:spLocks noGrp="1"/>
          </p:cNvSpPr>
          <p:nvPr>
            <p:ph type="body" idx="1"/>
          </p:nvPr>
        </p:nvSpPr>
        <p:spPr/>
        <p:txBody>
          <a:bodyPr/>
          <a:lstStyle/>
          <a:p>
            <a:pPr>
              <a:buNone/>
            </a:pPr>
            <a:r>
              <a:rPr lang="en-US" sz="1200" dirty="0"/>
              <a:t>6:10 to 7:40. To answer your question if charges depends on region, yes but not as much as BMI, smoker or even age. Be careful when looking at the average bill by region. Southeast has the highest average BMI and Smoker share. </a:t>
            </a:r>
          </a:p>
          <a:p>
            <a:pPr>
              <a:buNone/>
            </a:pPr>
            <a:endParaRPr lang="en-US" sz="1200" dirty="0"/>
          </a:p>
          <a:p>
            <a:pPr>
              <a:buNone/>
            </a:pPr>
            <a:r>
              <a:rPr lang="en-US" sz="1200" b="0" i="0" u="none" strike="noStrike" kern="1200" dirty="0">
                <a:solidFill>
                  <a:schemeClr val="tx1"/>
                </a:solidFill>
                <a:effectLst/>
                <a:latin typeface="+mn-lt"/>
                <a:ea typeface="+mn-ea"/>
                <a:cs typeface="+mn-cs"/>
              </a:rPr>
              <a:t>For regional comparison only, holding age, children, BMI, and smoking status fixed, the southeast average is associated with $1,207 lower average charge amount relative to the northeast (-$1,959 to -$455), about 9.1% of the average bill. The southwest contrast is -$1,228 (-$1,978 to -$477). The northwest range includes zero (-$1,327 to $170).</a:t>
            </a:r>
            <a:endParaRPr lang="en-US" sz="1200" dirty="0"/>
          </a:p>
        </p:txBody>
      </p:sp>
      <p:sp>
        <p:nvSpPr>
          <p:cNvPr id="4" name="Slide Number Placeholder 3">
            <a:extLst>
              <a:ext uri="{FF2B5EF4-FFF2-40B4-BE49-F238E27FC236}">
                <a16:creationId xmlns:a16="http://schemas.microsoft.com/office/drawing/2014/main" id="{12C04D87-2491-B17D-C679-D01F0AE4FBB3}"/>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792409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7:40 to 9:10.  This is the equation we would tell your customers.</a:t>
            </a:r>
          </a:p>
          <a:p>
            <a:pPr>
              <a:buNone/>
            </a:pPr>
            <a:endParaRPr lang="en-US" sz="1200" dirty="0"/>
          </a:p>
          <a:p>
            <a:pPr>
              <a:buNone/>
            </a:pPr>
            <a:r>
              <a:rPr lang="en-US" sz="1200" dirty="0"/>
              <a:t>Read the equation once, slowly. Then what we kept and what we refused.</a:t>
            </a:r>
          </a:p>
          <a:p>
            <a:pPr>
              <a:buNone/>
            </a:pPr>
            <a:endParaRPr lang="en-US" sz="1200" dirty="0"/>
          </a:p>
          <a:p>
            <a:pPr>
              <a:buNone/>
            </a:pPr>
            <a:r>
              <a:rPr lang="en-US" sz="1200" dirty="0"/>
              <a:t>Non-smoker and northeast are the reference. We’re about to explain 84% of the variation in charges with this equation. </a:t>
            </a:r>
          </a:p>
          <a:p>
            <a:pPr>
              <a:buNone/>
            </a:pPr>
            <a:r>
              <a:rPr lang="en-US" sz="1200" dirty="0"/>
              <a:t>A common percent per year is too steep for smokers, and giving smokers their own age slope on the log scale makes the residual spreads unequal again.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Dollar scale. We fit the log of charges and did not adopt it. </a:t>
            </a:r>
          </a:p>
          <a:p>
            <a:pPr>
              <a:buNone/>
            </a:pPr>
            <a:endParaRPr lang="en-US" sz="1200"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10:50 to 12:10. </a:t>
            </a:r>
          </a:p>
          <a:p>
            <a:pPr>
              <a:buNone/>
            </a:pPr>
            <a:r>
              <a:rPr lang="en-US" sz="1200" dirty="0"/>
              <a:t>We didn’t adopt a transformation because there’s a unique distribution of errors with any equation or transformation we use. </a:t>
            </a:r>
          </a:p>
          <a:p>
            <a:pPr>
              <a:buNone/>
            </a:pPr>
            <a:r>
              <a:rPr lang="en-US" sz="1200" dirty="0"/>
              <a:t>The main non-smoker band sits near zero. The smoker cloud is wider and sits at higher fitted bills. A third group of non-smokers lands in the smoker range. We did not delete them. The largest Cook's distance is 0.055. A screen of 4 over n is about 0.003 and flags 92 rows at this sample size. It is a screen, not a deletion rule. None over leverage the equation, only the combination is unexplained.</a:t>
            </a:r>
          </a:p>
          <a:p>
            <a:pPr>
              <a:buNone/>
            </a:pPr>
            <a:r>
              <a:rPr lang="en-US" sz="1200" dirty="0"/>
              <a:t>Forty-eight accounts have a studentized residual beyond 3. Almost all are non-smokers. A log scale looks calmer and we refused it, because the model becomes over simplified increasing errors. Adding the complexity for our original analysis and the variation looks like the plot on the left again. This is why we will not predict charges with this equation.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12:10 to 13:30. We tested 7 models using a 10-fold cross-validation, the same folds for every method, and one 80/20 holdout, recording root-mean-squared-error. The random forest is lowest on both tests. $4,624 cross-validated, $4,366 on the holdout. Against the explanatory equation two slides </a:t>
            </a:r>
            <a:r>
              <a:rPr lang="en-US" sz="1200" dirty="0" err="1"/>
              <a:t>agao</a:t>
            </a:r>
            <a:r>
              <a:rPr lang="en-US" sz="1200" dirty="0"/>
              <a:t>, cross-validated gap is $192. The forest's fold-to-fold standard deviation is $763, so that edge is inside the variation. </a:t>
            </a:r>
          </a:p>
          <a:p>
            <a:pPr>
              <a:buNone/>
            </a:pPr>
            <a:endParaRPr lang="en-US" sz="1200" dirty="0"/>
          </a:p>
          <a:p>
            <a:pPr>
              <a:buNone/>
            </a:pPr>
            <a:r>
              <a:rPr lang="en-US" sz="1200" dirty="0"/>
              <a:t>The term search has a better AIC, because that is the score it we used to optimize. Its cross-validated RMSE is $4,836, slightly worse. Averaged trees beat the equation on the holdout, and lose the cross-validation. We don’t view RMSE as a single source of truth.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13:30 to 15:00. To understand the trade-off between </a:t>
            </a:r>
            <a:r>
              <a:rPr lang="en-US" sz="1200" dirty="0" err="1"/>
              <a:t>overfiting</a:t>
            </a:r>
            <a:r>
              <a:rPr lang="en-US" sz="1200" dirty="0"/>
              <a:t> and underfitting a model, and to help select the most practical model, let’s take a look at the predictive power of each model to a typical customer.</a:t>
            </a:r>
          </a:p>
          <a:p>
            <a:pPr>
              <a:buNone/>
            </a:pPr>
            <a:r>
              <a:rPr lang="en-US" sz="1200" dirty="0"/>
              <a:t>Age is held at 39, children at one, female lives in northeast. The gray points are real accounts within five years of age 39. A line that sits off the cloud is bias (underfit). A line that jumps from one BMI to the next is variance (overfit).</a:t>
            </a:r>
          </a:p>
          <a:p>
            <a:pPr>
              <a:buNone/>
            </a:pPr>
            <a:r>
              <a:rPr lang="en-US" sz="1200" dirty="0"/>
              <a:t>Left, non-smoker. Every method sits in the lower cloud. None of them climbs to the accounts whose bills are far above that band. The orange neighbor line wiggles toward a few of those points and falls back. The wiggle does not explain the band.</a:t>
            </a:r>
          </a:p>
          <a:p>
            <a:pPr>
              <a:buNone/>
            </a:pPr>
            <a:r>
              <a:rPr lang="en-US" sz="1200" dirty="0"/>
              <a:t>Right, smokers. The straight lines keep climbing and pass $60,000 when The actual flattens out. Around a BMI of 30 the forest, the neighbors, and the averaged trees step up and then level off. The straight line is biased high once BMI is high. The forest is the calmest line that is allowed to bend. The nearest neighbors  model still jump.</a:t>
            </a:r>
          </a:p>
          <a:p>
            <a:pPr>
              <a:buNone/>
            </a:pPr>
            <a:r>
              <a:rPr lang="en-US" sz="1200" dirty="0"/>
              <a:t>For the forest, 95 percent of left-out smoker bills fell within $9,800 of the quote, and 95 percent of non-smoker bills within $12,486.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15:00 to 16:20. So far random trees visually explains more of the unique variation in charges give the sample, and RMSE is the lowest.</a:t>
            </a:r>
          </a:p>
          <a:p>
            <a:pPr>
              <a:buNone/>
            </a:pPr>
            <a:endParaRPr lang="en-US" sz="1200" dirty="0"/>
          </a:p>
          <a:p>
            <a:pPr>
              <a:buNone/>
            </a:pPr>
            <a:r>
              <a:rPr lang="en-US" sz="1200" dirty="0"/>
              <a:t>before we lean on the RMSE ranking, let’s compare to the typical (or median) customer. Blue is the median absolute error. Half of the left-out accounts are closer to the quote. Red is the mean of the same absolute errors.</a:t>
            </a:r>
          </a:p>
          <a:p>
            <a:pPr>
              <a:buNone/>
            </a:pPr>
            <a:r>
              <a:rPr lang="en-US" sz="1200" dirty="0"/>
              <a:t>Non-smoking on the left, smoking on the right. </a:t>
            </a:r>
          </a:p>
          <a:p>
            <a:pPr>
              <a:buNone/>
            </a:pPr>
            <a:r>
              <a:rPr lang="en-US" sz="1200" dirty="0"/>
              <a:t>Right panel, The forest's median is $1,111. The equation's is $4,035. Averaged trees are about $3,011. For the typical smoker the forest is about $2,900 closer. </a:t>
            </a:r>
          </a:p>
          <a:p>
            <a:pPr>
              <a:buNone/>
            </a:pPr>
            <a:endParaRPr lang="en-US" sz="1200" dirty="0"/>
          </a:p>
          <a:p>
            <a:pPr>
              <a:buNone/>
            </a:pPr>
            <a:r>
              <a:rPr lang="en-US" sz="1200" dirty="0"/>
              <a:t>Left panel, non-smokers. The medians sit together, about $1,400 to $1,900. Neighbors are $1,402 and the forest is $1,428. On non-smokers the equation is slightly closer on RMSE, because again smokers dominate the formula in our sample. The random forest's win is the smoker book, but not on the most extreme cases. Not depicted on this graph: adjusting for 95 percent absolute error for smokers, so testing against the most extreme cases, the equation is about $9,500 and the forest is $9,800.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6E33B-CF14-6394-B4C6-1CF37F095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5739F-604C-34D4-4A2E-783060D984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0C99DA-ED18-358A-435E-C359B28E6DD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Now with that additional context and looking back at RMSE, we still recommend the </a:t>
            </a:r>
            <a:r>
              <a:rPr lang="en-US" sz="1200" dirty="0" err="1"/>
              <a:t>nonparameteric</a:t>
            </a:r>
            <a:r>
              <a:rPr lang="en-US" sz="1200" dirty="0"/>
              <a:t> Random Forest model as the best trade-off between bias and variance given then sample. Among non-smokers the models performs about the same, but much better among smokers where it counts. On the holdout, 16 non-smokers have bills above $15,000. The equation misses that group by about $14,036 on average. The forest misses them by about $13,554. A more flexible scorer does not explain those accounts.</a:t>
            </a:r>
          </a:p>
          <a:p>
            <a:pPr>
              <a:buNone/>
            </a:pPr>
            <a:endParaRPr lang="en-US" sz="1200" dirty="0"/>
          </a:p>
        </p:txBody>
      </p:sp>
      <p:sp>
        <p:nvSpPr>
          <p:cNvPr id="4" name="Slide Number Placeholder 3">
            <a:extLst>
              <a:ext uri="{FF2B5EF4-FFF2-40B4-BE49-F238E27FC236}">
                <a16:creationId xmlns:a16="http://schemas.microsoft.com/office/drawing/2014/main" id="{6821E50B-D7DF-C520-1D8F-C89128BAE35C}"/>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3982557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17:20 to 18:30. To conclude, we’re giving two tools for two jobs. </a:t>
            </a:r>
          </a:p>
          <a:p>
            <a:pPr>
              <a:buNone/>
            </a:pPr>
            <a:r>
              <a:rPr lang="en-US" sz="1200" dirty="0"/>
              <a:t>Explain with the equation. Age, children, a smoker gap that depends on BMI, and a regional level shift. Quote at BMI 30 when no BMI reading is available . Do not quote the smoker coefficient. It is the gap at BMI 0. Do not call the southeast expensive.</a:t>
            </a:r>
          </a:p>
          <a:p>
            <a:pPr>
              <a:buNone/>
            </a:pPr>
            <a:r>
              <a:rPr lang="en-US" sz="1200" dirty="0"/>
              <a:t>Price with the forest. Lowest RMSE on both checks. Use it because the quote levels off with the smoker cloud instead of climbing past it, and because the typical smoker is about $2,900 closer. It does represents the unique variance better than the equation, but cannot say what a year of age is worth.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18:30 to 20:00. Couple quick notes on Scope.</a:t>
            </a:r>
          </a:p>
          <a:p>
            <a:pPr>
              <a:buNone/>
            </a:pPr>
            <a:r>
              <a:rPr lang="en-US" sz="1200" dirty="0"/>
              <a:t>Four region labels in this file. No household, plan, or year, so independence is an assumption, not a result. Generalizing past these labels is a guess.</a:t>
            </a:r>
          </a:p>
          <a:p>
            <a:pPr>
              <a:buNone/>
            </a:pPr>
            <a:r>
              <a:rPr lang="en-US" sz="1200" dirty="0"/>
              <a:t>Cause. Smoking, BMI, and region were not assigned. $22,833 is a contrast in this file with age, children, and region held fixed. It is not an estimate of what the bill would do if a particular person stopped smoking.</a:t>
            </a:r>
          </a:p>
          <a:p>
            <a:pPr>
              <a:buNone/>
            </a:pPr>
            <a:r>
              <a:rPr lang="en-US" sz="1200" dirty="0"/>
              <a:t>The margin. Ninety-five percent of left-out smoker bills fell within $9,800 of the forest quote, and 95 percent of non-smoker bills within $12,486. That is a percentile of absolute errors, not a confidence interval, and not a percent of the average bill. The equation is as tight or tighter for smokers, at $9,489.</a:t>
            </a:r>
          </a:p>
          <a:p>
            <a:pPr>
              <a:buNone/>
            </a:pPr>
            <a:r>
              <a:rPr lang="en-US" sz="1200" dirty="0"/>
              <a:t>Mosti </a:t>
            </a:r>
            <a:r>
              <a:rPr lang="en-US" sz="1200" dirty="0" err="1"/>
              <a:t>mportantly</a:t>
            </a:r>
            <a:r>
              <a:rPr lang="en-US" sz="1200" dirty="0"/>
              <a:t>:</a:t>
            </a:r>
          </a:p>
          <a:p>
            <a:pPr>
              <a:buNone/>
            </a:pPr>
            <a:r>
              <a:rPr lang="en-US" sz="1200" dirty="0"/>
              <a:t>Diagnosis, plan design, deductible, and whether the charge is one year or many. Then a later book of accounts, not another split of this one, before treating a $192 edge as stable. Stop. The backup stays down unless someone asks how the penalty or the neighborhood behaved.</a:t>
            </a:r>
          </a:p>
          <a:p>
            <a:pPr>
              <a:buNone/>
            </a:pPr>
            <a:r>
              <a:rPr lang="en-US" sz="1200"/>
              <a:t>Any questions?</a:t>
            </a:r>
            <a:endParaRPr lang="en-US" sz="1200"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9:10 to 10:50. Read both contrasts almost as written. Do not drop the holding-fixed clause. This is the interpretation.</a:t>
            </a:r>
          </a:p>
          <a:p>
            <a:pPr>
              <a:buNone/>
            </a:pPr>
            <a:r>
              <a:rPr lang="en-US" sz="1200" dirty="0"/>
              <a:t>Age. One more year, with BMI, smoking, children, and region held fixed, is associated with $264 higher mean charges. Ordinary 95 percent interval $245 to $283. The paired bootstrap, which redraws whole accounts and keeps each person with their own residual, gives the same interval. Same slope in both groups. About 2 percent of the average bill.</a:t>
            </a:r>
          </a:p>
          <a:p>
            <a:pPr>
              <a:buNone/>
            </a:pPr>
            <a:r>
              <a:rPr lang="en-US" sz="1200" dirty="0"/>
              <a:t>Smoker gap at BMI 30. Holding age, children, and region fixed, the contrast is $22,833. The paired bootstrap interval we would quote is $22,045 to $23,566. The ordinary interval is $22,182 to $23,484. They agree because the contrast is many standard errors from zero. The ordinary interval is still approximate, because residual spread is wider for smokers. At BMI 25 the gap is $15,643. At BMI 35 it is $30,024. This describes the file. It is not the effect of a person quitting.</a:t>
            </a:r>
          </a:p>
          <a:p>
            <a:pPr>
              <a:buNone/>
            </a:pPr>
            <a:r>
              <a:rPr lang="en-US" sz="1200" dirty="0"/>
              <a:t>If asked. Children are $512, ordinary interval $296 to $729. Northwest versus northeast is about minus $578, and that interval includes zero. Southeast minus $1,207, interval minus $1,959 to minus $455. Southwest minus $1,228, interval minus $1,978 to minus $477.</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Do not present this unless asked. It is the backup for two pictures in the brief.</a:t>
            </a:r>
          </a:p>
          <a:p>
            <a:pPr>
              <a:buNone/>
            </a:pPr>
            <a:r>
              <a:rPr lang="en-US" sz="1200" dirty="0"/>
              <a:t>Left, the penalty path. Cross-validated squared error stays flat between the minimum and the one-standard-error penalty we keep, then climbs once signal starts coming out. We keep 14 of 33 terms. There is no t-test on a term the penalty has already set to zero.</a:t>
            </a:r>
          </a:p>
          <a:p>
            <a:pPr>
              <a:buNone/>
            </a:pPr>
            <a:r>
              <a:rPr lang="en-US" sz="1200" dirty="0"/>
              <a:t>Right, neighborhood size. One neighbor is unstable, with a cross-validated RMSE of about $6,460. Thirty neighbors average people who are not alike, about $5,879. The size the cross-validation chose is k = 7, at $5,384, and it still loses to the explanation equation.</a:t>
            </a:r>
          </a:p>
          <a:p>
            <a:pPr>
              <a:buNone/>
            </a:pPr>
            <a:r>
              <a:rPr lang="en-US" sz="1200" dirty="0"/>
              <a:t>Full tables, the coefficient list, and the code are in the knitted brief.</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A22"/>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F1EADA"/>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A8A08E"/>
                </a:solidFill>
                <a:latin typeface="Calibri" pitchFamily="34" charset="0"/>
                <a:ea typeface="Calibri" pitchFamily="34" charset="-122"/>
                <a:cs typeface="Calibri" pitchFamily="34" charset="-120"/>
              </a:rPr>
              <a:t>A DECISION BRIEF</a:t>
            </a:r>
            <a:endParaRPr lang="en-US" sz="1100" dirty="0"/>
          </a:p>
        </p:txBody>
      </p:sp>
      <p:sp>
        <p:nvSpPr>
          <p:cNvPr id="6" name="Text 4"/>
          <p:cNvSpPr/>
          <p:nvPr/>
        </p:nvSpPr>
        <p:spPr>
          <a:xfrm>
            <a:off x="502920" y="4160520"/>
            <a:ext cx="8412480" cy="640080"/>
          </a:xfrm>
          <a:prstGeom prst="rect">
            <a:avLst/>
          </a:prstGeom>
          <a:noFill/>
          <a:ln/>
        </p:spPr>
        <p:txBody>
          <a:bodyPr wrap="square" lIns="0" tIns="0" rIns="0" bIns="0" rtlCol="0" anchor="ctr"/>
          <a:lstStyle/>
          <a:p>
            <a:pPr marL="0" indent="0">
              <a:buNone/>
            </a:pPr>
            <a:r>
              <a:rPr lang="en-US" sz="1800" dirty="0">
                <a:solidFill>
                  <a:srgbClr val="F1EADA"/>
                </a:solidFill>
                <a:latin typeface="Calibri" pitchFamily="34" charset="0"/>
                <a:ea typeface="Calibri" pitchFamily="34" charset="-122"/>
                <a:cs typeface="Calibri" pitchFamily="34" charset="-120"/>
              </a:rPr>
              <a:t>What is associated with the bill, and how we would price the next customer.</a:t>
            </a:r>
            <a:endParaRPr lang="en-US" sz="1800" dirty="0"/>
          </a:p>
        </p:txBody>
      </p:sp>
      <p:sp>
        <p:nvSpPr>
          <p:cNvPr id="7" name="Text 5"/>
          <p:cNvSpPr/>
          <p:nvPr/>
        </p:nvSpPr>
        <p:spPr>
          <a:xfrm>
            <a:off x="502920" y="5212080"/>
            <a:ext cx="7315200" cy="292608"/>
          </a:xfrm>
          <a:prstGeom prst="rect">
            <a:avLst/>
          </a:prstGeom>
          <a:noFill/>
          <a:ln/>
        </p:spPr>
        <p:txBody>
          <a:bodyPr wrap="square" lIns="0" tIns="0" rIns="0" bIns="0" rtlCol="0" anchor="ctr"/>
          <a:lstStyle/>
          <a:p>
            <a:pPr marL="0" indent="0">
              <a:buNone/>
            </a:pPr>
            <a:r>
              <a:rPr lang="en-US" sz="1600" dirty="0">
                <a:solidFill>
                  <a:srgbClr val="F1EADA"/>
                </a:solidFill>
                <a:latin typeface="Georgia" pitchFamily="34" charset="0"/>
                <a:ea typeface="Georgia" pitchFamily="34" charset="-122"/>
                <a:cs typeface="Georgia" pitchFamily="34" charset="-120"/>
              </a:rPr>
              <a:t>Aaron Powell  and  Thuan-Andy Bui</a:t>
            </a:r>
            <a:endParaRPr lang="en-US" sz="1600" dirty="0"/>
          </a:p>
        </p:txBody>
      </p:sp>
      <p:sp>
        <p:nvSpPr>
          <p:cNvPr id="8" name="Text 6"/>
          <p:cNvSpPr/>
          <p:nvPr/>
        </p:nvSpPr>
        <p:spPr>
          <a:xfrm>
            <a:off x="502920" y="5559552"/>
            <a:ext cx="5486400" cy="256032"/>
          </a:xfrm>
          <a:prstGeom prst="rect">
            <a:avLst/>
          </a:prstGeom>
          <a:noFill/>
          <a:ln/>
        </p:spPr>
        <p:txBody>
          <a:bodyPr wrap="square" lIns="0" tIns="0" rIns="0" bIns="0" rtlCol="0" anchor="ctr"/>
          <a:lstStyle/>
          <a:p>
            <a:pPr marL="0" indent="0">
              <a:buNone/>
            </a:pPr>
            <a:r>
              <a:rPr lang="en-US" sz="1400" dirty="0">
                <a:solidFill>
                  <a:srgbClr val="A8A08E"/>
                </a:solidFill>
                <a:latin typeface="Calibri" pitchFamily="34" charset="0"/>
                <a:ea typeface="Calibri" pitchFamily="34" charset="-122"/>
                <a:cs typeface="Calibri" pitchFamily="34" charset="-120"/>
              </a:rPr>
              <a:t>26 September 2026</a:t>
            </a:r>
            <a:endParaRPr lang="en-US" sz="1400" dirty="0"/>
          </a:p>
        </p:txBody>
      </p:sp>
      <p:sp>
        <p:nvSpPr>
          <p:cNvPr id="9" name="Text 7"/>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A8A08E"/>
                </a:solidFill>
                <a:latin typeface="Calibri" pitchFamily="34" charset="0"/>
                <a:ea typeface="Calibri" pitchFamily="34" charset="-122"/>
                <a:cs typeface="Calibri" pitchFamily="34" charset="-120"/>
              </a:rPr>
              <a:t>HEALTH-ACCOUNT CHARGES</a:t>
            </a:r>
            <a:endParaRPr lang="en-US" sz="1000" dirty="0"/>
          </a:p>
        </p:txBody>
      </p:sp>
      <p:sp>
        <p:nvSpPr>
          <p:cNvPr id="10" name="Text 8"/>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A8A08E"/>
                </a:solidFill>
                <a:latin typeface="Calibri" pitchFamily="34" charset="0"/>
                <a:ea typeface="Calibri" pitchFamily="34" charset="-122"/>
                <a:cs typeface="Calibri" pitchFamily="34" charset="-120"/>
              </a:rPr>
              <a:t>01  /  15</a:t>
            </a:r>
            <a:endParaRPr lang="en-US" sz="1000" dirty="0"/>
          </a:p>
        </p:txBody>
      </p:sp>
      <p:pic>
        <p:nvPicPr>
          <p:cNvPr id="20" name="Picture 19">
            <a:extLst>
              <a:ext uri="{FF2B5EF4-FFF2-40B4-BE49-F238E27FC236}">
                <a16:creationId xmlns:a16="http://schemas.microsoft.com/office/drawing/2014/main" id="{DB3042C4-2442-EC8B-6C88-9EB1D3AFCC27}"/>
              </a:ext>
            </a:extLst>
          </p:cNvPr>
          <p:cNvPicPr>
            <a:picLocks noChangeAspect="1"/>
          </p:cNvPicPr>
          <p:nvPr/>
        </p:nvPicPr>
        <p:blipFill>
          <a:blip r:embed="rId3">
            <a:duotone>
              <a:prstClr val="black"/>
              <a:srgbClr val="314A3D">
                <a:alpha val="1176"/>
                <a:tint val="45000"/>
                <a:satMod val="400000"/>
              </a:srgbClr>
            </a:duotone>
            <a:alphaModFix amt="35000"/>
          </a:blip>
          <a:srcRect r="10299" b="23389"/>
          <a:stretch>
            <a:fillRect/>
          </a:stretch>
        </p:blipFill>
        <p:spPr>
          <a:xfrm>
            <a:off x="3989741" y="512064"/>
            <a:ext cx="8202259" cy="6345936"/>
          </a:xfrm>
          <a:prstGeom prst="rect">
            <a:avLst/>
          </a:prstGeom>
        </p:spPr>
      </p:pic>
      <p:sp>
        <p:nvSpPr>
          <p:cNvPr id="5" name="Text 3"/>
          <p:cNvSpPr/>
          <p:nvPr/>
        </p:nvSpPr>
        <p:spPr>
          <a:xfrm>
            <a:off x="502920" y="2057400"/>
            <a:ext cx="9144000" cy="1965960"/>
          </a:xfrm>
          <a:prstGeom prst="rect">
            <a:avLst/>
          </a:prstGeom>
          <a:noFill/>
          <a:ln/>
        </p:spPr>
        <p:txBody>
          <a:bodyPr wrap="square" lIns="0" tIns="0" rIns="0" bIns="0" rtlCol="0" anchor="ctr"/>
          <a:lstStyle/>
          <a:p>
            <a:pPr marL="0" indent="0">
              <a:buNone/>
            </a:pPr>
            <a:r>
              <a:rPr lang="en-US" sz="5400" dirty="0">
                <a:solidFill>
                  <a:srgbClr val="F1EADA"/>
                </a:solidFill>
                <a:latin typeface="Georgia" pitchFamily="34" charset="0"/>
                <a:ea typeface="Georgia" pitchFamily="34" charset="-122"/>
                <a:cs typeface="Georgia" pitchFamily="34" charset="-120"/>
              </a:rPr>
              <a:t>Health Account</a:t>
            </a:r>
            <a:endParaRPr lang="en-US" sz="5400" dirty="0"/>
          </a:p>
          <a:p>
            <a:pPr marL="0" indent="0">
              <a:buNone/>
            </a:pPr>
            <a:r>
              <a:rPr lang="en-US" sz="5400" dirty="0">
                <a:solidFill>
                  <a:srgbClr val="F1EADA"/>
                </a:solidFill>
                <a:latin typeface="Georgia" pitchFamily="34" charset="0"/>
                <a:ea typeface="Georgia" pitchFamily="34" charset="-122"/>
                <a:cs typeface="Georgia" pitchFamily="34" charset="-120"/>
              </a:rPr>
              <a:t>Charges.</a:t>
            </a:r>
            <a:endParaRPr lang="en-US" sz="5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ADA"/>
        </a:solidFill>
        <a:effectLst/>
      </p:bgPr>
    </p:bg>
    <p:spTree>
      <p:nvGrpSpPr>
        <p:cNvPr id="1" name=""/>
        <p:cNvGrpSpPr/>
        <p:nvPr/>
      </p:nvGrpSpPr>
      <p:grpSpPr>
        <a:xfrm>
          <a:off x="0" y="0"/>
          <a:ext cx="0" cy="0"/>
          <a:chOff x="0" y="0"/>
          <a:chExt cx="0" cy="0"/>
        </a:xfrm>
      </p:grpSpPr>
      <p:sp>
        <p:nvSpPr>
          <p:cNvPr id="37" name="Shape 11">
            <a:extLst>
              <a:ext uri="{FF2B5EF4-FFF2-40B4-BE49-F238E27FC236}">
                <a16:creationId xmlns:a16="http://schemas.microsoft.com/office/drawing/2014/main" id="{BC704AB2-9A2F-42BA-1C57-EC38B4B49C8B}"/>
              </a:ext>
            </a:extLst>
          </p:cNvPr>
          <p:cNvSpPr/>
          <p:nvPr/>
        </p:nvSpPr>
        <p:spPr>
          <a:xfrm>
            <a:off x="6247982" y="1415975"/>
            <a:ext cx="2743200" cy="4160520"/>
          </a:xfrm>
          <a:prstGeom prst="rect">
            <a:avLst/>
          </a:prstGeom>
          <a:solidFill>
            <a:srgbClr val="F7F1E2"/>
          </a:solidFill>
          <a:ln w="12700">
            <a:solidFill>
              <a:srgbClr val="E4D8C4"/>
            </a:solidFill>
            <a:prstDash val="solid"/>
          </a:ln>
          <a:effectLst>
            <a:outerShdw blurRad="50800" dist="38100" dir="8100000" algn="tr" rotWithShape="0">
              <a:prstClr val="black">
                <a:alpha val="40000"/>
              </a:prstClr>
            </a:outerShdw>
          </a:effectLst>
        </p:spPr>
        <p:txBody>
          <a:bodyPr/>
          <a:lstStyle/>
          <a:p>
            <a:endParaRPr lang="en-US"/>
          </a:p>
        </p:txBody>
      </p:sp>
      <p:sp>
        <p:nvSpPr>
          <p:cNvPr id="36" name="Shape 7">
            <a:extLst>
              <a:ext uri="{FF2B5EF4-FFF2-40B4-BE49-F238E27FC236}">
                <a16:creationId xmlns:a16="http://schemas.microsoft.com/office/drawing/2014/main" id="{B842459B-B502-253F-7A52-568F4E51CA74}"/>
              </a:ext>
            </a:extLst>
          </p:cNvPr>
          <p:cNvSpPr/>
          <p:nvPr/>
        </p:nvSpPr>
        <p:spPr>
          <a:xfrm>
            <a:off x="3351963" y="1415975"/>
            <a:ext cx="2743200" cy="4160520"/>
          </a:xfrm>
          <a:prstGeom prst="rect">
            <a:avLst/>
          </a:prstGeom>
          <a:solidFill>
            <a:srgbClr val="F7F1E2"/>
          </a:solidFill>
          <a:ln w="12700">
            <a:solidFill>
              <a:srgbClr val="E4D8C4"/>
            </a:solidFill>
            <a:prstDash val="solid"/>
          </a:ln>
          <a:effectLst>
            <a:outerShdw blurRad="50800" dist="38100" dir="8100000" algn="tr" rotWithShape="0">
              <a:prstClr val="black">
                <a:alpha val="40000"/>
              </a:prstClr>
            </a:outerShdw>
          </a:effectLst>
        </p:spPr>
        <p:txBody>
          <a:bodyPr/>
          <a:lstStyle/>
          <a:p>
            <a:endParaRPr lang="en-US" dirty="0"/>
          </a:p>
        </p:txBody>
      </p:sp>
      <p:sp>
        <p:nvSpPr>
          <p:cNvPr id="5" name="Shape 3"/>
          <p:cNvSpPr/>
          <p:nvPr/>
        </p:nvSpPr>
        <p:spPr>
          <a:xfrm>
            <a:off x="455944" y="1415975"/>
            <a:ext cx="2743200" cy="4160520"/>
          </a:xfrm>
          <a:prstGeom prst="rect">
            <a:avLst/>
          </a:prstGeom>
          <a:solidFill>
            <a:srgbClr val="F7F1E2"/>
          </a:solidFill>
          <a:ln w="12700">
            <a:solidFill>
              <a:srgbClr val="E4D8C4"/>
            </a:solidFill>
            <a:prstDash val="solid"/>
          </a:ln>
          <a:effectLst>
            <a:outerShdw blurRad="50800" dist="38100" dir="8100000" algn="tr" rotWithShape="0">
              <a:prstClr val="black">
                <a:alpha val="40000"/>
              </a:prstClr>
            </a:outerShdw>
          </a:effectLst>
        </p:spPr>
        <p:txBody>
          <a:bodyPr/>
          <a:lstStyle/>
          <a:p>
            <a:endParaRPr lang="en-US" dirty="0"/>
          </a:p>
        </p:txBody>
      </p:sp>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4" name="Text 2"/>
          <p:cNvSpPr/>
          <p:nvPr/>
        </p:nvSpPr>
        <p:spPr>
          <a:xfrm>
            <a:off x="502920" y="713232"/>
            <a:ext cx="10972800" cy="438912"/>
          </a:xfrm>
          <a:prstGeom prst="rect">
            <a:avLst/>
          </a:prstGeom>
          <a:noFill/>
          <a:ln/>
        </p:spPr>
        <p:txBody>
          <a:bodyPr wrap="square" lIns="0" tIns="0" rIns="0" bIns="0" rtlCol="0" anchor="ctr"/>
          <a:lstStyle/>
          <a:p>
            <a:pPr marL="0" indent="0">
              <a:buNone/>
            </a:pPr>
            <a:r>
              <a:rPr lang="en-US" sz="2800" dirty="0">
                <a:solidFill>
                  <a:srgbClr val="1C2A22"/>
                </a:solidFill>
                <a:latin typeface="Georgia" pitchFamily="34" charset="0"/>
                <a:ea typeface="Georgia" pitchFamily="34" charset="-122"/>
                <a:cs typeface="Georgia" pitchFamily="34" charset="-120"/>
              </a:rPr>
              <a:t>Insurance insights</a:t>
            </a:r>
            <a:endParaRPr lang="en-US" sz="2800" dirty="0"/>
          </a:p>
        </p:txBody>
      </p:sp>
      <p:sp>
        <p:nvSpPr>
          <p:cNvPr id="17" name="Shape 15"/>
          <p:cNvSpPr/>
          <p:nvPr/>
        </p:nvSpPr>
        <p:spPr>
          <a:xfrm>
            <a:off x="9144000" y="1415975"/>
            <a:ext cx="2743200" cy="4160520"/>
          </a:xfrm>
          <a:prstGeom prst="rect">
            <a:avLst/>
          </a:prstGeom>
          <a:solidFill>
            <a:srgbClr val="1C2A22"/>
          </a:solidFill>
          <a:ln w="12700">
            <a:solidFill>
              <a:srgbClr val="1C2A22"/>
            </a:solidFill>
            <a:prstDash val="solid"/>
          </a:ln>
          <a:effectLst>
            <a:outerShdw blurRad="50800" dist="38100" dir="8100000" algn="tr" rotWithShape="0">
              <a:prstClr val="black">
                <a:alpha val="40000"/>
              </a:prstClr>
            </a:outerShdw>
          </a:effectLst>
        </p:spPr>
        <p:txBody>
          <a:bodyPr/>
          <a:lstStyle/>
          <a:p>
            <a:endParaRPr lang="en-US"/>
          </a:p>
        </p:txBody>
      </p:sp>
      <p:pic>
        <p:nvPicPr>
          <p:cNvPr id="23" name="Picture 22">
            <a:extLst>
              <a:ext uri="{FF2B5EF4-FFF2-40B4-BE49-F238E27FC236}">
                <a16:creationId xmlns:a16="http://schemas.microsoft.com/office/drawing/2014/main" id="{DEC177A2-EB9E-C623-A2D1-E75C6B413C7A}"/>
              </a:ext>
            </a:extLst>
          </p:cNvPr>
          <p:cNvPicPr>
            <a:picLocks noChangeAspect="1"/>
          </p:cNvPicPr>
          <p:nvPr/>
        </p:nvPicPr>
        <p:blipFill>
          <a:blip r:embed="rId3">
            <a:duotone>
              <a:prstClr val="black"/>
              <a:srgbClr val="314A3D">
                <a:alpha val="1176"/>
                <a:tint val="45000"/>
                <a:satMod val="400000"/>
              </a:srgbClr>
            </a:duotone>
            <a:alphaModFix amt="35000"/>
          </a:blip>
          <a:srcRect l="15826" r="34602" b="23389"/>
          <a:stretch>
            <a:fillRect/>
          </a:stretch>
        </p:blipFill>
        <p:spPr>
          <a:xfrm>
            <a:off x="9144001" y="1737360"/>
            <a:ext cx="2743200" cy="3840480"/>
          </a:xfrm>
          <a:prstGeom prst="rect">
            <a:avLst/>
          </a:prstGeom>
        </p:spPr>
      </p:pic>
      <p:sp>
        <p:nvSpPr>
          <p:cNvPr id="18" name="Text 16"/>
          <p:cNvSpPr/>
          <p:nvPr/>
        </p:nvSpPr>
        <p:spPr>
          <a:xfrm>
            <a:off x="9290304" y="1600200"/>
            <a:ext cx="2450592" cy="640080"/>
          </a:xfrm>
          <a:prstGeom prst="rect">
            <a:avLst/>
          </a:prstGeom>
          <a:noFill/>
          <a:ln/>
        </p:spPr>
        <p:txBody>
          <a:bodyPr wrap="square" lIns="0" tIns="0" rIns="0" bIns="0" rtlCol="0" anchor="ctr"/>
          <a:lstStyle/>
          <a:p>
            <a:pPr marL="0" indent="0">
              <a:buNone/>
            </a:pPr>
            <a:r>
              <a:rPr lang="en-US" sz="2800" dirty="0">
                <a:solidFill>
                  <a:srgbClr val="F1EADA"/>
                </a:solidFill>
                <a:latin typeface="Georgia" pitchFamily="34" charset="0"/>
                <a:ea typeface="Georgia" pitchFamily="34" charset="-122"/>
                <a:cs typeface="Georgia" pitchFamily="34" charset="-120"/>
              </a:rPr>
              <a:t>$512</a:t>
            </a:r>
            <a:endParaRPr lang="en-US" sz="2800" dirty="0"/>
          </a:p>
        </p:txBody>
      </p:sp>
      <p:sp>
        <p:nvSpPr>
          <p:cNvPr id="19" name="Text 17"/>
          <p:cNvSpPr/>
          <p:nvPr/>
        </p:nvSpPr>
        <p:spPr>
          <a:xfrm>
            <a:off x="9290304" y="2286000"/>
            <a:ext cx="2450592" cy="640080"/>
          </a:xfrm>
          <a:prstGeom prst="rect">
            <a:avLst/>
          </a:prstGeom>
          <a:noFill/>
          <a:ln/>
        </p:spPr>
        <p:txBody>
          <a:bodyPr wrap="square" lIns="0" tIns="0" rIns="0" bIns="0" rtlCol="0" anchor="ctr"/>
          <a:lstStyle/>
          <a:p>
            <a:pPr marL="0" indent="0">
              <a:buNone/>
            </a:pPr>
            <a:r>
              <a:rPr lang="en-US" sz="1500" b="1" dirty="0">
                <a:solidFill>
                  <a:srgbClr val="B79A68"/>
                </a:solidFill>
                <a:latin typeface="Calibri" pitchFamily="34" charset="0"/>
                <a:ea typeface="Calibri" pitchFamily="34" charset="-122"/>
                <a:cs typeface="Calibri" pitchFamily="34" charset="-120"/>
              </a:rPr>
              <a:t>Per child</a:t>
            </a:r>
            <a:endParaRPr lang="en-US" sz="1500" dirty="0"/>
          </a:p>
        </p:txBody>
      </p:sp>
      <p:sp>
        <p:nvSpPr>
          <p:cNvPr id="21" name="Text 19"/>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22" name="Text 20"/>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02  /  15</a:t>
            </a:r>
            <a:endParaRPr lang="en-US" sz="1000" dirty="0"/>
          </a:p>
        </p:txBody>
      </p:sp>
      <p:sp>
        <p:nvSpPr>
          <p:cNvPr id="10" name="Text 8"/>
          <p:cNvSpPr/>
          <p:nvPr/>
        </p:nvSpPr>
        <p:spPr>
          <a:xfrm>
            <a:off x="6409944" y="1598856"/>
            <a:ext cx="2450592" cy="640080"/>
          </a:xfrm>
          <a:prstGeom prst="rect">
            <a:avLst/>
          </a:prstGeom>
          <a:noFill/>
          <a:ln/>
        </p:spPr>
        <p:txBody>
          <a:bodyPr wrap="square" lIns="0" tIns="0" rIns="0" bIns="0" rtlCol="0" anchor="ctr"/>
          <a:lstStyle/>
          <a:p>
            <a:pPr marL="0" indent="0">
              <a:buNone/>
            </a:pPr>
            <a:r>
              <a:rPr lang="en-US" sz="2800" dirty="0">
                <a:solidFill>
                  <a:srgbClr val="1C2A22"/>
                </a:solidFill>
                <a:latin typeface="Georgia" pitchFamily="34" charset="0"/>
                <a:ea typeface="Georgia" pitchFamily="34" charset="-122"/>
                <a:cs typeface="Georgia" pitchFamily="34" charset="-120"/>
              </a:rPr>
              <a:t>$264</a:t>
            </a:r>
            <a:endParaRPr lang="en-US" sz="2800" dirty="0"/>
          </a:p>
        </p:txBody>
      </p:sp>
      <p:sp>
        <p:nvSpPr>
          <p:cNvPr id="11" name="Text 9"/>
          <p:cNvSpPr/>
          <p:nvPr/>
        </p:nvSpPr>
        <p:spPr>
          <a:xfrm>
            <a:off x="6409944" y="2286000"/>
            <a:ext cx="2450592" cy="640080"/>
          </a:xfrm>
          <a:prstGeom prst="rect">
            <a:avLst/>
          </a:prstGeom>
          <a:noFill/>
          <a:ln/>
        </p:spPr>
        <p:txBody>
          <a:bodyPr wrap="square" lIns="0" tIns="0" rIns="0" bIns="0" rtlCol="0" anchor="ctr"/>
          <a:lstStyle/>
          <a:p>
            <a:pPr marL="0" indent="0">
              <a:buNone/>
            </a:pPr>
            <a:r>
              <a:rPr lang="en-US" sz="1500" b="1" dirty="0">
                <a:solidFill>
                  <a:srgbClr val="8B1E2C"/>
                </a:solidFill>
                <a:latin typeface="Calibri" pitchFamily="34" charset="0"/>
                <a:ea typeface="Calibri" pitchFamily="34" charset="-122"/>
                <a:cs typeface="Calibri" pitchFamily="34" charset="-120"/>
              </a:rPr>
              <a:t>Per year of age</a:t>
            </a:r>
            <a:endParaRPr lang="en-US" sz="1500" dirty="0"/>
          </a:p>
        </p:txBody>
      </p:sp>
      <p:sp>
        <p:nvSpPr>
          <p:cNvPr id="12" name="Text 10"/>
          <p:cNvSpPr/>
          <p:nvPr/>
        </p:nvSpPr>
        <p:spPr>
          <a:xfrm>
            <a:off x="6409944" y="3108960"/>
            <a:ext cx="2450592" cy="2194560"/>
          </a:xfrm>
          <a:prstGeom prst="rect">
            <a:avLst/>
          </a:prstGeom>
          <a:noFill/>
          <a:ln/>
        </p:spPr>
        <p:txBody>
          <a:bodyPr wrap="square" lIns="0" tIns="0" rIns="0" bIns="0" rtlCol="0" anchor="ctr"/>
          <a:lstStyle/>
          <a:p>
            <a:pPr marL="0" indent="0">
              <a:buNone/>
            </a:pPr>
            <a:r>
              <a:rPr lang="en-US" sz="1400" dirty="0">
                <a:solidFill>
                  <a:srgbClr val="4E463C"/>
                </a:solidFill>
                <a:latin typeface="Calibri" pitchFamily="34" charset="0"/>
                <a:ea typeface="Calibri" pitchFamily="34" charset="-122"/>
                <a:cs typeface="Calibri" pitchFamily="34" charset="-120"/>
              </a:rPr>
              <a:t>2% of the average bill. </a:t>
            </a:r>
          </a:p>
          <a:p>
            <a:pPr marL="0" indent="0">
              <a:buNone/>
            </a:pPr>
            <a:endParaRPr lang="en-US" sz="1400" dirty="0">
              <a:solidFill>
                <a:srgbClr val="4E463C"/>
              </a:solidFill>
              <a:latin typeface="Calibri" pitchFamily="34" charset="0"/>
              <a:ea typeface="Calibri" pitchFamily="34" charset="-122"/>
              <a:cs typeface="Calibri" pitchFamily="34" charset="-120"/>
            </a:endParaRPr>
          </a:p>
          <a:p>
            <a:pPr marL="0" indent="0">
              <a:buNone/>
            </a:pPr>
            <a:r>
              <a:rPr lang="en-US" sz="1400" dirty="0">
                <a:solidFill>
                  <a:srgbClr val="4E463C"/>
                </a:solidFill>
                <a:latin typeface="Calibri" pitchFamily="34" charset="0"/>
                <a:ea typeface="Calibri" pitchFamily="34" charset="-122"/>
                <a:cs typeface="Calibri" pitchFamily="34" charset="-120"/>
              </a:rPr>
              <a:t>Same slope for smokers and non-smokers. Range $245 to $283.</a:t>
            </a:r>
            <a:endParaRPr lang="en-US" sz="1400" dirty="0"/>
          </a:p>
        </p:txBody>
      </p:sp>
      <p:sp>
        <p:nvSpPr>
          <p:cNvPr id="6" name="Text 4"/>
          <p:cNvSpPr/>
          <p:nvPr/>
        </p:nvSpPr>
        <p:spPr>
          <a:xfrm>
            <a:off x="3529584" y="1600200"/>
            <a:ext cx="2450592" cy="640080"/>
          </a:xfrm>
          <a:prstGeom prst="rect">
            <a:avLst/>
          </a:prstGeom>
          <a:noFill/>
          <a:ln/>
        </p:spPr>
        <p:txBody>
          <a:bodyPr wrap="square" lIns="0" tIns="0" rIns="0" bIns="0" rtlCol="0" anchor="ctr"/>
          <a:lstStyle/>
          <a:p>
            <a:pPr marL="0" indent="0">
              <a:buNone/>
            </a:pPr>
            <a:r>
              <a:rPr lang="en-US" sz="2800" dirty="0">
                <a:solidFill>
                  <a:srgbClr val="1C2A22"/>
                </a:solidFill>
                <a:latin typeface="Georgia" pitchFamily="34" charset="0"/>
                <a:ea typeface="Georgia" pitchFamily="34" charset="-122"/>
                <a:cs typeface="Georgia" pitchFamily="34" charset="-120"/>
              </a:rPr>
              <a:t>$1,461</a:t>
            </a:r>
            <a:endParaRPr lang="en-US" sz="2800" dirty="0"/>
          </a:p>
        </p:txBody>
      </p:sp>
      <p:sp>
        <p:nvSpPr>
          <p:cNvPr id="8" name="Text 6"/>
          <p:cNvSpPr/>
          <p:nvPr/>
        </p:nvSpPr>
        <p:spPr>
          <a:xfrm>
            <a:off x="3529584" y="3108960"/>
            <a:ext cx="2450592" cy="2194560"/>
          </a:xfrm>
          <a:prstGeom prst="rect">
            <a:avLst/>
          </a:prstGeom>
          <a:noFill/>
          <a:ln/>
        </p:spPr>
        <p:txBody>
          <a:bodyPr wrap="square" lIns="0" tIns="0" rIns="0" bIns="0" rtlCol="0" anchor="ctr"/>
          <a:lstStyle/>
          <a:p>
            <a:r>
              <a:rPr lang="en-US" sz="1400" dirty="0">
                <a:solidFill>
                  <a:srgbClr val="4E463C"/>
                </a:solidFill>
                <a:latin typeface="Calibri" pitchFamily="34" charset="0"/>
                <a:cs typeface="Calibri" pitchFamily="34" charset="-120"/>
              </a:rPr>
              <a:t>$22,833 gap between smokers and non-smokers at BMI 30.</a:t>
            </a:r>
          </a:p>
          <a:p>
            <a:endParaRPr lang="en-US" sz="1400" dirty="0">
              <a:solidFill>
                <a:srgbClr val="4E463C"/>
              </a:solidFill>
              <a:latin typeface="Calibri" pitchFamily="34" charset="0"/>
              <a:cs typeface="Calibri" pitchFamily="34" charset="-120"/>
            </a:endParaRPr>
          </a:p>
          <a:p>
            <a:r>
              <a:rPr lang="en-US" sz="1400" dirty="0">
                <a:solidFill>
                  <a:srgbClr val="4E463C"/>
                </a:solidFill>
                <a:latin typeface="Calibri" pitchFamily="34" charset="0"/>
                <a:cs typeface="Calibri" pitchFamily="34" charset="-120"/>
              </a:rPr>
              <a:t>Among non-smokers, BMI is not a predictor of charges.</a:t>
            </a:r>
          </a:p>
        </p:txBody>
      </p:sp>
      <p:sp>
        <p:nvSpPr>
          <p:cNvPr id="24" name="Text 4">
            <a:extLst>
              <a:ext uri="{FF2B5EF4-FFF2-40B4-BE49-F238E27FC236}">
                <a16:creationId xmlns:a16="http://schemas.microsoft.com/office/drawing/2014/main" id="{DBDCACB5-4871-C02D-6E94-C1B08865EB0A}"/>
              </a:ext>
            </a:extLst>
          </p:cNvPr>
          <p:cNvSpPr/>
          <p:nvPr/>
        </p:nvSpPr>
        <p:spPr>
          <a:xfrm>
            <a:off x="676118" y="1598856"/>
            <a:ext cx="2450592" cy="640080"/>
          </a:xfrm>
          <a:prstGeom prst="rect">
            <a:avLst/>
          </a:prstGeom>
          <a:noFill/>
          <a:ln/>
        </p:spPr>
        <p:txBody>
          <a:bodyPr wrap="square" lIns="0" tIns="0" rIns="0" bIns="0" rtlCol="0" anchor="ctr"/>
          <a:lstStyle/>
          <a:p>
            <a:pPr marL="0" indent="0">
              <a:buNone/>
            </a:pPr>
            <a:r>
              <a:rPr lang="en-US" sz="2800" dirty="0">
                <a:solidFill>
                  <a:srgbClr val="1C2A22"/>
                </a:solidFill>
                <a:latin typeface="Georgia" pitchFamily="34" charset="0"/>
              </a:rPr>
              <a:t>3.8x</a:t>
            </a:r>
            <a:endParaRPr lang="en-US" sz="2800" dirty="0"/>
          </a:p>
        </p:txBody>
      </p:sp>
      <p:sp>
        <p:nvSpPr>
          <p:cNvPr id="25" name="Text 5">
            <a:extLst>
              <a:ext uri="{FF2B5EF4-FFF2-40B4-BE49-F238E27FC236}">
                <a16:creationId xmlns:a16="http://schemas.microsoft.com/office/drawing/2014/main" id="{5D6A9614-0F27-DC10-FED8-D529F1B5F387}"/>
              </a:ext>
            </a:extLst>
          </p:cNvPr>
          <p:cNvSpPr/>
          <p:nvPr/>
        </p:nvSpPr>
        <p:spPr>
          <a:xfrm>
            <a:off x="649224" y="2286000"/>
            <a:ext cx="2450592" cy="640080"/>
          </a:xfrm>
          <a:prstGeom prst="rect">
            <a:avLst/>
          </a:prstGeom>
          <a:noFill/>
          <a:ln/>
        </p:spPr>
        <p:txBody>
          <a:bodyPr wrap="square" lIns="0" tIns="0" rIns="0" bIns="0" rtlCol="0" anchor="ctr"/>
          <a:lstStyle/>
          <a:p>
            <a:pPr marL="0" indent="0">
              <a:buNone/>
            </a:pPr>
            <a:r>
              <a:rPr lang="en-US" sz="1500" b="1" dirty="0">
                <a:solidFill>
                  <a:srgbClr val="8B1E2C"/>
                </a:solidFill>
                <a:latin typeface="Calibri" pitchFamily="34" charset="0"/>
                <a:cs typeface="Calibri" pitchFamily="34" charset="-120"/>
              </a:rPr>
              <a:t>Average smoker charges</a:t>
            </a:r>
            <a:endParaRPr lang="en-US" sz="1500" dirty="0"/>
          </a:p>
        </p:txBody>
      </p:sp>
      <p:sp>
        <p:nvSpPr>
          <p:cNvPr id="27" name="Text 5">
            <a:extLst>
              <a:ext uri="{FF2B5EF4-FFF2-40B4-BE49-F238E27FC236}">
                <a16:creationId xmlns:a16="http://schemas.microsoft.com/office/drawing/2014/main" id="{C9D78CCC-5E3D-0371-9138-517DF0B377CE}"/>
              </a:ext>
            </a:extLst>
          </p:cNvPr>
          <p:cNvSpPr/>
          <p:nvPr/>
        </p:nvSpPr>
        <p:spPr>
          <a:xfrm>
            <a:off x="3529584" y="2286000"/>
            <a:ext cx="2450592" cy="640080"/>
          </a:xfrm>
          <a:prstGeom prst="rect">
            <a:avLst/>
          </a:prstGeom>
          <a:noFill/>
          <a:ln/>
        </p:spPr>
        <p:txBody>
          <a:bodyPr wrap="square" lIns="0" tIns="0" rIns="0" bIns="0" rtlCol="0" anchor="ctr"/>
          <a:lstStyle/>
          <a:p>
            <a:pPr marL="0" indent="0">
              <a:buNone/>
            </a:pPr>
            <a:r>
              <a:rPr lang="en-US" sz="1500" b="1" dirty="0">
                <a:solidFill>
                  <a:srgbClr val="8B1E2C"/>
                </a:solidFill>
                <a:latin typeface="Calibri" pitchFamily="34" charset="0"/>
                <a:ea typeface="Calibri" pitchFamily="34" charset="-122"/>
                <a:cs typeface="Calibri" pitchFamily="34" charset="-120"/>
              </a:rPr>
              <a:t>Per BMI point among smokers</a:t>
            </a:r>
            <a:endParaRPr lang="en-US" sz="1500" dirty="0"/>
          </a:p>
        </p:txBody>
      </p:sp>
      <p:sp>
        <p:nvSpPr>
          <p:cNvPr id="28" name="Text 6">
            <a:extLst>
              <a:ext uri="{FF2B5EF4-FFF2-40B4-BE49-F238E27FC236}">
                <a16:creationId xmlns:a16="http://schemas.microsoft.com/office/drawing/2014/main" id="{E4D5EC98-BAE0-9F0E-4EA3-EC826D6BD564}"/>
              </a:ext>
            </a:extLst>
          </p:cNvPr>
          <p:cNvSpPr/>
          <p:nvPr/>
        </p:nvSpPr>
        <p:spPr>
          <a:xfrm>
            <a:off x="649224" y="3108960"/>
            <a:ext cx="2450592" cy="2194560"/>
          </a:xfrm>
          <a:prstGeom prst="rect">
            <a:avLst/>
          </a:prstGeom>
          <a:noFill/>
          <a:ln/>
        </p:spPr>
        <p:txBody>
          <a:bodyPr wrap="square" lIns="0" tIns="0" rIns="0" bIns="0" rtlCol="0" anchor="ctr"/>
          <a:lstStyle/>
          <a:p>
            <a:pPr marL="0" indent="0">
              <a:buNone/>
            </a:pPr>
            <a:r>
              <a:rPr lang="en-US" sz="1400" dirty="0">
                <a:solidFill>
                  <a:srgbClr val="4E463C"/>
                </a:solidFill>
                <a:latin typeface="Calibri" pitchFamily="34" charset="0"/>
                <a:ea typeface="Calibri" pitchFamily="34" charset="-122"/>
                <a:cs typeface="Calibri" pitchFamily="34" charset="-120"/>
              </a:rPr>
              <a:t>$32,050 average smoker annual charges.</a:t>
            </a:r>
          </a:p>
          <a:p>
            <a:pPr marL="0" indent="0">
              <a:buNone/>
            </a:pPr>
            <a:endParaRPr lang="en-US" sz="1400" dirty="0">
              <a:solidFill>
                <a:srgbClr val="4E463C"/>
              </a:solidFill>
              <a:latin typeface="Calibri" pitchFamily="34" charset="0"/>
              <a:ea typeface="Calibri" pitchFamily="34" charset="-122"/>
              <a:cs typeface="Calibri" pitchFamily="34" charset="-120"/>
            </a:endParaRPr>
          </a:p>
          <a:p>
            <a:pPr marL="0" indent="0">
              <a:buNone/>
            </a:pPr>
            <a:r>
              <a:rPr lang="en-US" sz="1400" dirty="0">
                <a:solidFill>
                  <a:srgbClr val="4E463C"/>
                </a:solidFill>
                <a:latin typeface="Calibri" pitchFamily="34" charset="0"/>
                <a:ea typeface="Calibri" pitchFamily="34" charset="-122"/>
                <a:cs typeface="Calibri" pitchFamily="34" charset="-120"/>
              </a:rPr>
              <a:t>$8,441 average non-smoker annual charges.</a:t>
            </a:r>
            <a:endParaRPr lang="en-US" sz="1400" dirty="0"/>
          </a:p>
        </p:txBody>
      </p:sp>
      <p:sp>
        <p:nvSpPr>
          <p:cNvPr id="29" name="Text 18">
            <a:extLst>
              <a:ext uri="{FF2B5EF4-FFF2-40B4-BE49-F238E27FC236}">
                <a16:creationId xmlns:a16="http://schemas.microsoft.com/office/drawing/2014/main" id="{44334281-DFD9-AFDB-C197-C36721D37948}"/>
              </a:ext>
            </a:extLst>
          </p:cNvPr>
          <p:cNvSpPr/>
          <p:nvPr/>
        </p:nvSpPr>
        <p:spPr>
          <a:xfrm>
            <a:off x="9290304" y="3108960"/>
            <a:ext cx="2450592" cy="2194560"/>
          </a:xfrm>
          <a:prstGeom prst="rect">
            <a:avLst/>
          </a:prstGeom>
          <a:noFill/>
          <a:ln/>
        </p:spPr>
        <p:txBody>
          <a:bodyPr wrap="square" lIns="0" tIns="0" rIns="0" bIns="0" rtlCol="0" anchor="ctr"/>
          <a:lstStyle/>
          <a:p>
            <a:pPr marL="0" indent="0">
              <a:buNone/>
            </a:pPr>
            <a:r>
              <a:rPr lang="en-US" sz="1400" dirty="0">
                <a:solidFill>
                  <a:srgbClr val="F1EADA"/>
                </a:solidFill>
                <a:latin typeface="Calibri" pitchFamily="34" charset="0"/>
                <a:ea typeface="Calibri" pitchFamily="34" charset="-122"/>
                <a:cs typeface="Calibri" pitchFamily="34" charset="-120"/>
              </a:rPr>
              <a:t>Sex is not clearly associated with charges (p-value = .062). </a:t>
            </a:r>
          </a:p>
          <a:p>
            <a:pPr marL="0" indent="0">
              <a:buNone/>
            </a:pPr>
            <a:endParaRPr lang="en-US" sz="1400" dirty="0">
              <a:solidFill>
                <a:srgbClr val="F1EADA"/>
              </a:solidFill>
              <a:latin typeface="Calibri" pitchFamily="34" charset="0"/>
              <a:cs typeface="Calibri" pitchFamily="34" charset="-120"/>
            </a:endParaRPr>
          </a:p>
          <a:p>
            <a:pPr marL="0" indent="0">
              <a:buNone/>
            </a:pPr>
            <a:r>
              <a:rPr lang="en-US" sz="1400" dirty="0">
                <a:solidFill>
                  <a:srgbClr val="F1EADA"/>
                </a:solidFill>
                <a:latin typeface="Calibri" pitchFamily="34" charset="0"/>
                <a:cs typeface="Calibri" pitchFamily="34" charset="-120"/>
              </a:rPr>
              <a:t>Adjusted, southeast is $1,207 lower and southwest $1,228 lower than northeast region.</a:t>
            </a:r>
            <a:endParaRPr lang="en-US" sz="1400" dirty="0"/>
          </a:p>
        </p:txBody>
      </p:sp>
      <p:sp>
        <p:nvSpPr>
          <p:cNvPr id="30" name="Text 4">
            <a:extLst>
              <a:ext uri="{FF2B5EF4-FFF2-40B4-BE49-F238E27FC236}">
                <a16:creationId xmlns:a16="http://schemas.microsoft.com/office/drawing/2014/main" id="{E9D42FD5-525B-E0E1-076D-3D999784D1E8}"/>
              </a:ext>
            </a:extLst>
          </p:cNvPr>
          <p:cNvSpPr/>
          <p:nvPr/>
        </p:nvSpPr>
        <p:spPr>
          <a:xfrm>
            <a:off x="502920" y="5623560"/>
            <a:ext cx="11384280" cy="800100"/>
          </a:xfrm>
          <a:prstGeom prst="rect">
            <a:avLst/>
          </a:prstGeom>
          <a:noFill/>
          <a:ln/>
        </p:spPr>
        <p:txBody>
          <a:bodyPr wrap="square" lIns="0" tIns="0" rIns="0" bIns="0" rtlCol="0" anchor="ctr"/>
          <a:lstStyle/>
          <a:p>
            <a:r>
              <a:rPr lang="en-US" sz="1400" dirty="0">
                <a:solidFill>
                  <a:srgbClr val="4E463C"/>
                </a:solidFill>
                <a:latin typeface="Calibri" pitchFamily="34" charset="0"/>
                <a:cs typeface="Calibri" pitchFamily="34" charset="-120"/>
              </a:rPr>
              <a:t>Analysis supports an association in these customers. It does not support a national rate or a causal effect.</a:t>
            </a:r>
          </a:p>
          <a:p>
            <a:r>
              <a:rPr lang="en-US" sz="1400" dirty="0">
                <a:solidFill>
                  <a:srgbClr val="4E463C"/>
                </a:solidFill>
                <a:latin typeface="Calibri" pitchFamily="34" charset="0"/>
                <a:cs typeface="Calibri" pitchFamily="34" charset="-120"/>
              </a:rPr>
              <a:t>Reported as contrasts – all other variables held constant.   </a:t>
            </a:r>
          </a:p>
        </p:txBody>
      </p:sp>
      <p:pic>
        <p:nvPicPr>
          <p:cNvPr id="32" name="Graphic 31" descr="Smoking outline">
            <a:extLst>
              <a:ext uri="{FF2B5EF4-FFF2-40B4-BE49-F238E27FC236}">
                <a16:creationId xmlns:a16="http://schemas.microsoft.com/office/drawing/2014/main" id="{21FAFD38-5941-8223-6F6B-592354F641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81628" y="1714500"/>
            <a:ext cx="457200" cy="457200"/>
          </a:xfrm>
          <a:prstGeom prst="rect">
            <a:avLst/>
          </a:prstGeom>
        </p:spPr>
      </p:pic>
      <p:pic>
        <p:nvPicPr>
          <p:cNvPr id="35" name="Graphic 34" descr="Smoking outline">
            <a:extLst>
              <a:ext uri="{FF2B5EF4-FFF2-40B4-BE49-F238E27FC236}">
                <a16:creationId xmlns:a16="http://schemas.microsoft.com/office/drawing/2014/main" id="{EE361FCD-86E0-9C20-B469-DF502D4884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95948" y="1714500"/>
            <a:ext cx="457200" cy="457200"/>
          </a:xfrm>
          <a:prstGeom prst="rect">
            <a:avLst/>
          </a:prstGeom>
        </p:spPr>
      </p:pic>
      <p:pic>
        <p:nvPicPr>
          <p:cNvPr id="40" name="Graphic 39" descr="Man with cane outline">
            <a:extLst>
              <a:ext uri="{FF2B5EF4-FFF2-40B4-BE49-F238E27FC236}">
                <a16:creationId xmlns:a16="http://schemas.microsoft.com/office/drawing/2014/main" id="{0F6AF01E-5588-D8CB-8C85-C49CEEC64B6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13928" y="1714500"/>
            <a:ext cx="457200" cy="457200"/>
          </a:xfrm>
          <a:prstGeom prst="rect">
            <a:avLst/>
          </a:prstGeom>
        </p:spPr>
      </p:pic>
      <p:pic>
        <p:nvPicPr>
          <p:cNvPr id="42" name="Graphic 41" descr="Family with two children outline">
            <a:extLst>
              <a:ext uri="{FF2B5EF4-FFF2-40B4-BE49-F238E27FC236}">
                <a16:creationId xmlns:a16="http://schemas.microsoft.com/office/drawing/2014/main" id="{AE78768F-CFB0-B700-2BBD-18F73946070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830078" y="1696885"/>
            <a:ext cx="457200" cy="457200"/>
          </a:xfrm>
          <a:prstGeom prst="rect">
            <a:avLst/>
          </a:prstGeom>
        </p:spPr>
      </p:pic>
      <p:pic>
        <p:nvPicPr>
          <p:cNvPr id="44" name="Graphic 43" descr="Scale outline">
            <a:extLst>
              <a:ext uri="{FF2B5EF4-FFF2-40B4-BE49-F238E27FC236}">
                <a16:creationId xmlns:a16="http://schemas.microsoft.com/office/drawing/2014/main" id="{A726AB88-7179-DB2D-0588-877F517CC9F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23563" y="1737360"/>
            <a:ext cx="457200" cy="457200"/>
          </a:xfrm>
          <a:prstGeom prst="rect">
            <a:avLst/>
          </a:prstGeom>
        </p:spPr>
      </p:pic>
      <p:sp>
        <p:nvSpPr>
          <p:cNvPr id="7" name="Text 1">
            <a:extLst>
              <a:ext uri="{FF2B5EF4-FFF2-40B4-BE49-F238E27FC236}">
                <a16:creationId xmlns:a16="http://schemas.microsoft.com/office/drawing/2014/main" id="{C55F79E5-A105-DF7A-58DD-72EE85D2B274}"/>
              </a:ext>
            </a:extLst>
          </p:cNvPr>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cs typeface="Calibri" pitchFamily="34" charset="-120"/>
              </a:rPr>
              <a:t>THE BIG PICTURE</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cs typeface="Calibri" pitchFamily="34" charset="-120"/>
              </a:rPr>
              <a:t>DATA SUMMARY</a:t>
            </a:r>
            <a:endParaRPr lang="en-US" sz="1100" dirty="0"/>
          </a:p>
        </p:txBody>
      </p:sp>
      <p:sp>
        <p:nvSpPr>
          <p:cNvPr id="7" name="Text 5"/>
          <p:cNvSpPr/>
          <p:nvPr/>
        </p:nvSpPr>
        <p:spPr>
          <a:xfrm>
            <a:off x="6766560" y="1414629"/>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Age</a:t>
            </a:r>
            <a:endParaRPr lang="en-US" sz="1500" dirty="0"/>
          </a:p>
        </p:txBody>
      </p:sp>
      <p:sp>
        <p:nvSpPr>
          <p:cNvPr id="8" name="Text 6"/>
          <p:cNvSpPr/>
          <p:nvPr/>
        </p:nvSpPr>
        <p:spPr>
          <a:xfrm>
            <a:off x="8869680" y="1414629"/>
            <a:ext cx="2834640" cy="3657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Years, 18 to 64</a:t>
            </a:r>
            <a:endParaRPr lang="en-US" sz="1500" dirty="0"/>
          </a:p>
        </p:txBody>
      </p:sp>
      <p:sp>
        <p:nvSpPr>
          <p:cNvPr id="9" name="Text 7"/>
          <p:cNvSpPr/>
          <p:nvPr/>
        </p:nvSpPr>
        <p:spPr>
          <a:xfrm>
            <a:off x="6766560" y="2072997"/>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Sex</a:t>
            </a:r>
            <a:endParaRPr lang="en-US" sz="1500" dirty="0"/>
          </a:p>
        </p:txBody>
      </p:sp>
      <p:sp>
        <p:nvSpPr>
          <p:cNvPr id="10" name="Text 8"/>
          <p:cNvSpPr/>
          <p:nvPr/>
        </p:nvSpPr>
        <p:spPr>
          <a:xfrm>
            <a:off x="8869680" y="2072997"/>
            <a:ext cx="2834640" cy="3657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675 male, 662 female</a:t>
            </a:r>
            <a:endParaRPr lang="en-US" sz="1500" dirty="0"/>
          </a:p>
        </p:txBody>
      </p:sp>
      <p:sp>
        <p:nvSpPr>
          <p:cNvPr id="11" name="Text 9"/>
          <p:cNvSpPr/>
          <p:nvPr/>
        </p:nvSpPr>
        <p:spPr>
          <a:xfrm>
            <a:off x="6766560" y="2731365"/>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BMI</a:t>
            </a:r>
            <a:endParaRPr lang="en-US" sz="1500" dirty="0"/>
          </a:p>
        </p:txBody>
      </p:sp>
      <p:sp>
        <p:nvSpPr>
          <p:cNvPr id="12" name="Text 10"/>
          <p:cNvSpPr/>
          <p:nvPr/>
        </p:nvSpPr>
        <p:spPr>
          <a:xfrm>
            <a:off x="8869680" y="2731365"/>
            <a:ext cx="2834640" cy="365760"/>
          </a:xfrm>
          <a:prstGeom prst="rect">
            <a:avLst/>
          </a:prstGeom>
          <a:noFill/>
          <a:ln/>
        </p:spPr>
        <p:txBody>
          <a:bodyPr wrap="square" lIns="0" tIns="0" rIns="0" bIns="0" rtlCol="0" anchor="ctr"/>
          <a:lstStyle/>
          <a:p>
            <a:r>
              <a:rPr lang="en-US" sz="1500" dirty="0">
                <a:solidFill>
                  <a:srgbClr val="4E463C"/>
                </a:solidFill>
                <a:latin typeface="Calibri" pitchFamily="34" charset="0"/>
                <a:cs typeface="Calibri" pitchFamily="34" charset="-120"/>
              </a:rPr>
              <a:t>Slope differs by smoker</a:t>
            </a:r>
            <a:endParaRPr lang="en-US" sz="1500" dirty="0"/>
          </a:p>
        </p:txBody>
      </p:sp>
      <p:sp>
        <p:nvSpPr>
          <p:cNvPr id="13" name="Text 11"/>
          <p:cNvSpPr/>
          <p:nvPr/>
        </p:nvSpPr>
        <p:spPr>
          <a:xfrm>
            <a:off x="6766560" y="3389733"/>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Children</a:t>
            </a:r>
            <a:endParaRPr lang="en-US" sz="1500" dirty="0"/>
          </a:p>
        </p:txBody>
      </p:sp>
      <p:sp>
        <p:nvSpPr>
          <p:cNvPr id="14" name="Text 12"/>
          <p:cNvSpPr/>
          <p:nvPr/>
        </p:nvSpPr>
        <p:spPr>
          <a:xfrm>
            <a:off x="8869680" y="3389733"/>
            <a:ext cx="2834640" cy="3657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$512 each. Thin past 3.</a:t>
            </a:r>
            <a:endParaRPr lang="en-US" sz="1500" dirty="0"/>
          </a:p>
        </p:txBody>
      </p:sp>
      <p:sp>
        <p:nvSpPr>
          <p:cNvPr id="15" name="Text 13"/>
          <p:cNvSpPr/>
          <p:nvPr/>
        </p:nvSpPr>
        <p:spPr>
          <a:xfrm>
            <a:off x="6766560" y="4048101"/>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Smoker</a:t>
            </a:r>
            <a:endParaRPr lang="en-US" sz="1500" dirty="0"/>
          </a:p>
        </p:txBody>
      </p:sp>
      <p:sp>
        <p:nvSpPr>
          <p:cNvPr id="16" name="Text 14"/>
          <p:cNvSpPr/>
          <p:nvPr/>
        </p:nvSpPr>
        <p:spPr>
          <a:xfrm>
            <a:off x="8869680" y="4048101"/>
            <a:ext cx="2834640" cy="3657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20.5% of the book</a:t>
            </a:r>
            <a:endParaRPr lang="en-US" sz="1500" dirty="0"/>
          </a:p>
        </p:txBody>
      </p:sp>
      <p:sp>
        <p:nvSpPr>
          <p:cNvPr id="17" name="Text 15"/>
          <p:cNvSpPr/>
          <p:nvPr/>
        </p:nvSpPr>
        <p:spPr>
          <a:xfrm>
            <a:off x="6766560" y="4706469"/>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Region</a:t>
            </a:r>
            <a:endParaRPr lang="en-US" sz="1500" dirty="0"/>
          </a:p>
        </p:txBody>
      </p:sp>
      <p:sp>
        <p:nvSpPr>
          <p:cNvPr id="18" name="Text 16"/>
          <p:cNvSpPr/>
          <p:nvPr/>
        </p:nvSpPr>
        <p:spPr>
          <a:xfrm>
            <a:off x="8869680" y="4706469"/>
            <a:ext cx="2834640" cy="3657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Adjusted level shift</a:t>
            </a:r>
            <a:endParaRPr lang="en-US" sz="1500" dirty="0"/>
          </a:p>
        </p:txBody>
      </p:sp>
      <p:sp>
        <p:nvSpPr>
          <p:cNvPr id="19" name="Text 17"/>
          <p:cNvSpPr/>
          <p:nvPr/>
        </p:nvSpPr>
        <p:spPr>
          <a:xfrm>
            <a:off x="6766560" y="5364837"/>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Charges</a:t>
            </a:r>
            <a:endParaRPr lang="en-US" sz="1500" dirty="0"/>
          </a:p>
        </p:txBody>
      </p:sp>
      <p:sp>
        <p:nvSpPr>
          <p:cNvPr id="20" name="Text 18"/>
          <p:cNvSpPr/>
          <p:nvPr/>
        </p:nvSpPr>
        <p:spPr>
          <a:xfrm>
            <a:off x="8869680" y="5364837"/>
            <a:ext cx="2834640" cy="3657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Skewed. Median $9,386</a:t>
            </a:r>
            <a:endParaRPr lang="en-US" sz="1500" dirty="0"/>
          </a:p>
        </p:txBody>
      </p:sp>
      <p:sp>
        <p:nvSpPr>
          <p:cNvPr id="21" name="Text 19"/>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22" name="Text 20"/>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03  /  15</a:t>
            </a:r>
            <a:endParaRPr lang="en-US" sz="1000" dirty="0"/>
          </a:p>
        </p:txBody>
      </p:sp>
      <p:sp>
        <p:nvSpPr>
          <p:cNvPr id="23" name="Text 2">
            <a:extLst>
              <a:ext uri="{FF2B5EF4-FFF2-40B4-BE49-F238E27FC236}">
                <a16:creationId xmlns:a16="http://schemas.microsoft.com/office/drawing/2014/main" id="{5FFDAFC7-7D60-1CE6-ADEF-D5D31C3ECFF5}"/>
              </a:ext>
            </a:extLst>
          </p:cNvPr>
          <p:cNvSpPr/>
          <p:nvPr/>
        </p:nvSpPr>
        <p:spPr>
          <a:xfrm>
            <a:off x="502920" y="713232"/>
            <a:ext cx="10972800" cy="438912"/>
          </a:xfrm>
          <a:prstGeom prst="rect">
            <a:avLst/>
          </a:prstGeom>
          <a:noFill/>
          <a:ln/>
        </p:spPr>
        <p:txBody>
          <a:bodyPr wrap="square" lIns="0" tIns="0" rIns="0" bIns="0" rtlCol="0" anchor="ctr"/>
          <a:lstStyle/>
          <a:p>
            <a:pPr marL="0" indent="0">
              <a:buNone/>
            </a:pPr>
            <a:r>
              <a:rPr lang="en-US" sz="2800" dirty="0">
                <a:solidFill>
                  <a:srgbClr val="1C2A22"/>
                </a:solidFill>
                <a:latin typeface="Georgia" pitchFamily="34" charset="0"/>
                <a:ea typeface="Georgia" pitchFamily="34" charset="-122"/>
                <a:cs typeface="Georgia" pitchFamily="34" charset="-120"/>
              </a:rPr>
              <a:t>1,337 customer accounts</a:t>
            </a:r>
            <a:endParaRPr lang="en-US" sz="2800" dirty="0"/>
          </a:p>
        </p:txBody>
      </p:sp>
      <p:sp>
        <p:nvSpPr>
          <p:cNvPr id="27" name="Table caption"/>
          <p:cNvSpPr/>
          <p:nvPr/>
        </p:nvSpPr>
        <p:spPr>
          <a:xfrm>
            <a:off x="457200" y="3320346"/>
            <a:ext cx="5852160" cy="538422"/>
          </a:xfrm>
          <a:prstGeom prst="rect">
            <a:avLst/>
          </a:prstGeom>
          <a:noFill/>
        </p:spPr>
        <p:txBody>
          <a:bodyPr wrap="square" lIns="0" tIns="0" rIns="0" bIns="0" rtlCol="0" anchor="ctr"/>
          <a:lstStyle/>
          <a:p>
            <a:pPr algn="l">
              <a:lnSpc>
                <a:spcPct val="100000"/>
              </a:lnSpc>
              <a:buNone/>
            </a:pPr>
            <a:r>
              <a:rPr lang="en-US" sz="1400" b="0" dirty="0">
                <a:solidFill>
                  <a:srgbClr val="1C2A22"/>
                </a:solidFill>
                <a:latin typeface="Calibri"/>
              </a:rPr>
              <a:t>Mean bill </a:t>
            </a:r>
            <a:r>
              <a:rPr lang="en-US" sz="1400" b="1" dirty="0">
                <a:solidFill>
                  <a:srgbClr val="1C2A22"/>
                </a:solidFill>
                <a:latin typeface="Calibri"/>
              </a:rPr>
              <a:t>$13,279</a:t>
            </a:r>
            <a:r>
              <a:rPr lang="en-US" sz="1400" b="0" dirty="0">
                <a:solidFill>
                  <a:srgbClr val="1C2A22"/>
                </a:solidFill>
                <a:latin typeface="Calibri"/>
              </a:rPr>
              <a:t>. Median </a:t>
            </a:r>
            <a:r>
              <a:rPr lang="en-US" sz="1400" b="1" dirty="0">
                <a:solidFill>
                  <a:srgbClr val="1C2A22"/>
                </a:solidFill>
                <a:latin typeface="Calibri"/>
              </a:rPr>
              <a:t>$9,386</a:t>
            </a:r>
            <a:r>
              <a:rPr lang="en-US" sz="1400" b="0" dirty="0">
                <a:solidFill>
                  <a:srgbClr val="1C2A22"/>
                </a:solidFill>
                <a:latin typeface="Calibri"/>
              </a:rPr>
              <a:t>. </a:t>
            </a:r>
          </a:p>
        </p:txBody>
      </p:sp>
      <p:graphicFrame>
        <p:nvGraphicFramePr>
          <p:cNvPr id="24" name="Table 23">
            <a:extLst>
              <a:ext uri="{FF2B5EF4-FFF2-40B4-BE49-F238E27FC236}">
                <a16:creationId xmlns:a16="http://schemas.microsoft.com/office/drawing/2014/main" id="{75A3DE35-ECE0-7E87-0B6A-D18FDB6FEA30}"/>
              </a:ext>
            </a:extLst>
          </p:cNvPr>
          <p:cNvGraphicFramePr>
            <a:graphicFrameLocks noGrp="1"/>
          </p:cNvGraphicFramePr>
          <p:nvPr>
            <p:extLst>
              <p:ext uri="{D42A27DB-BD31-4B8C-83A1-F6EECF244321}">
                <p14:modId xmlns:p14="http://schemas.microsoft.com/office/powerpoint/2010/main" val="3864051867"/>
              </p:ext>
            </p:extLst>
          </p:nvPr>
        </p:nvGraphicFramePr>
        <p:xfrm>
          <a:off x="457200" y="3858768"/>
          <a:ext cx="5852160" cy="2286000"/>
        </p:xfrm>
        <a:graphic>
          <a:graphicData uri="http://schemas.openxmlformats.org/drawingml/2006/table">
            <a:tbl>
              <a:tblPr>
                <a:effectLst>
                  <a:outerShdw blurRad="50800" dist="38100" dir="8100000" algn="tr" rotWithShape="0">
                    <a:prstClr val="black">
                      <a:alpha val="40000"/>
                    </a:prstClr>
                  </a:outerShdw>
                </a:effectLst>
              </a:tblPr>
              <a:tblGrid>
                <a:gridCol w="1417320">
                  <a:extLst>
                    <a:ext uri="{9D8B030D-6E8A-4147-A177-3AD203B41FA5}">
                      <a16:colId xmlns:a16="http://schemas.microsoft.com/office/drawing/2014/main" val="267671257"/>
                    </a:ext>
                  </a:extLst>
                </a:gridCol>
                <a:gridCol w="886968">
                  <a:extLst>
                    <a:ext uri="{9D8B030D-6E8A-4147-A177-3AD203B41FA5}">
                      <a16:colId xmlns:a16="http://schemas.microsoft.com/office/drawing/2014/main" val="3151027109"/>
                    </a:ext>
                  </a:extLst>
                </a:gridCol>
                <a:gridCol w="886968">
                  <a:extLst>
                    <a:ext uri="{9D8B030D-6E8A-4147-A177-3AD203B41FA5}">
                      <a16:colId xmlns:a16="http://schemas.microsoft.com/office/drawing/2014/main" val="234024101"/>
                    </a:ext>
                  </a:extLst>
                </a:gridCol>
                <a:gridCol w="886968">
                  <a:extLst>
                    <a:ext uri="{9D8B030D-6E8A-4147-A177-3AD203B41FA5}">
                      <a16:colId xmlns:a16="http://schemas.microsoft.com/office/drawing/2014/main" val="1315846312"/>
                    </a:ext>
                  </a:extLst>
                </a:gridCol>
                <a:gridCol w="886968">
                  <a:extLst>
                    <a:ext uri="{9D8B030D-6E8A-4147-A177-3AD203B41FA5}">
                      <a16:colId xmlns:a16="http://schemas.microsoft.com/office/drawing/2014/main" val="2050502561"/>
                    </a:ext>
                  </a:extLst>
                </a:gridCol>
                <a:gridCol w="886968">
                  <a:extLst>
                    <a:ext uri="{9D8B030D-6E8A-4147-A177-3AD203B41FA5}">
                      <a16:colId xmlns:a16="http://schemas.microsoft.com/office/drawing/2014/main" val="1283960217"/>
                    </a:ext>
                  </a:extLst>
                </a:gridCol>
              </a:tblGrid>
              <a:tr h="384048">
                <a:tc>
                  <a:txBody>
                    <a:bodyPr/>
                    <a:lstStyle/>
                    <a:p>
                      <a:pPr algn="l" fontAlgn="ctr">
                        <a:spcAft>
                          <a:spcPts val="0"/>
                        </a:spcAft>
                        <a:buNone/>
                      </a:pPr>
                      <a:r>
                        <a:rPr lang="en-US" sz="1300" b="1" kern="1200" dirty="0">
                          <a:solidFill>
                            <a:srgbClr val="F1EADA"/>
                          </a:solidFill>
                          <a:effectLst/>
                          <a:latin typeface="Calibri"/>
                          <a:ea typeface="+mn-ea"/>
                          <a:cs typeface="+mn-cs"/>
                        </a:rPr>
                        <a:t>Fact</a:t>
                      </a: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Mean</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SD</a:t>
                      </a:r>
                      <a:endParaRPr lang="en-US" sz="1300" b="0" i="0" dirty="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Min</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Median</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Max</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extLst>
                  <a:ext uri="{0D108BD9-81ED-4DB2-BD59-A6C34878D82A}">
                    <a16:rowId xmlns:a16="http://schemas.microsoft.com/office/drawing/2014/main" val="2395393524"/>
                  </a:ext>
                </a:extLst>
              </a:tr>
              <a:tr h="475488">
                <a:tc>
                  <a:txBody>
                    <a:bodyPr/>
                    <a:lstStyle/>
                    <a:p>
                      <a:pPr algn="l" fontAlgn="ctr">
                        <a:spcAft>
                          <a:spcPts val="0"/>
                        </a:spcAft>
                        <a:buNone/>
                      </a:pPr>
                      <a:r>
                        <a:rPr lang="en-US" sz="1400" b="1" dirty="0">
                          <a:solidFill>
                            <a:srgbClr val="1C2A22"/>
                          </a:solidFill>
                          <a:effectLst/>
                          <a:latin typeface="Calibri"/>
                        </a:rPr>
                        <a:t>Charges ($)</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$13,279</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$12,110</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$1,122</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$9,386</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$63,770</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extLst>
                  <a:ext uri="{0D108BD9-81ED-4DB2-BD59-A6C34878D82A}">
                    <a16:rowId xmlns:a16="http://schemas.microsoft.com/office/drawing/2014/main" val="3188457146"/>
                  </a:ext>
                </a:extLst>
              </a:tr>
              <a:tr h="475488">
                <a:tc>
                  <a:txBody>
                    <a:bodyPr/>
                    <a:lstStyle/>
                    <a:p>
                      <a:pPr algn="l" fontAlgn="ctr">
                        <a:spcAft>
                          <a:spcPts val="0"/>
                        </a:spcAft>
                        <a:buNone/>
                      </a:pPr>
                      <a:r>
                        <a:rPr lang="en-US" sz="1400" b="0" dirty="0">
                          <a:solidFill>
                            <a:srgbClr val="1C2A22"/>
                          </a:solidFill>
                          <a:effectLst/>
                          <a:latin typeface="Calibri"/>
                        </a:rPr>
                        <a:t>Age (years)</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39.2</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14.0</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18</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39</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64</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extLst>
                  <a:ext uri="{0D108BD9-81ED-4DB2-BD59-A6C34878D82A}">
                    <a16:rowId xmlns:a16="http://schemas.microsoft.com/office/drawing/2014/main" val="3881150986"/>
                  </a:ext>
                </a:extLst>
              </a:tr>
              <a:tr h="475488">
                <a:tc>
                  <a:txBody>
                    <a:bodyPr/>
                    <a:lstStyle/>
                    <a:p>
                      <a:pPr algn="l" fontAlgn="ctr">
                        <a:spcAft>
                          <a:spcPts val="0"/>
                        </a:spcAft>
                        <a:buNone/>
                      </a:pPr>
                      <a:r>
                        <a:rPr lang="en-US" sz="1400" b="0" dirty="0">
                          <a:solidFill>
                            <a:srgbClr val="1C2A22"/>
                          </a:solidFill>
                          <a:effectLst/>
                          <a:latin typeface="Calibri"/>
                        </a:rPr>
                        <a:t>BMI</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30.7</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6.1</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16.0</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30.4</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53.1</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extLst>
                  <a:ext uri="{0D108BD9-81ED-4DB2-BD59-A6C34878D82A}">
                    <a16:rowId xmlns:a16="http://schemas.microsoft.com/office/drawing/2014/main" val="54310050"/>
                  </a:ext>
                </a:extLst>
              </a:tr>
              <a:tr h="475488">
                <a:tc>
                  <a:txBody>
                    <a:bodyPr/>
                    <a:lstStyle/>
                    <a:p>
                      <a:pPr algn="l" fontAlgn="ctr">
                        <a:spcAft>
                          <a:spcPts val="0"/>
                        </a:spcAft>
                        <a:buNone/>
                      </a:pPr>
                      <a:r>
                        <a:rPr lang="en-US" sz="1400" b="0" dirty="0">
                          <a:solidFill>
                            <a:srgbClr val="1C2A22"/>
                          </a:solidFill>
                          <a:effectLst/>
                          <a:latin typeface="Calibri"/>
                        </a:rPr>
                        <a:t>Children</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1.1</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1.2</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0</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5</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extLst>
                  <a:ext uri="{0D108BD9-81ED-4DB2-BD59-A6C34878D82A}">
                    <a16:rowId xmlns:a16="http://schemas.microsoft.com/office/drawing/2014/main" val="2868067663"/>
                  </a:ext>
                </a:extLst>
              </a:tr>
            </a:tbl>
          </a:graphicData>
        </a:graphic>
      </p:graphicFrame>
      <p:graphicFrame>
        <p:nvGraphicFramePr>
          <p:cNvPr id="26" name="Table 25">
            <a:extLst>
              <a:ext uri="{FF2B5EF4-FFF2-40B4-BE49-F238E27FC236}">
                <a16:creationId xmlns:a16="http://schemas.microsoft.com/office/drawing/2014/main" id="{5A1282F9-8F6E-09FE-F0A4-992C8DC1B131}"/>
              </a:ext>
            </a:extLst>
          </p:cNvPr>
          <p:cNvGraphicFramePr>
            <a:graphicFrameLocks noGrp="1"/>
          </p:cNvGraphicFramePr>
          <p:nvPr>
            <p:extLst>
              <p:ext uri="{D42A27DB-BD31-4B8C-83A1-F6EECF244321}">
                <p14:modId xmlns:p14="http://schemas.microsoft.com/office/powerpoint/2010/main" val="973349249"/>
              </p:ext>
            </p:extLst>
          </p:nvPr>
        </p:nvGraphicFramePr>
        <p:xfrm>
          <a:off x="457200" y="1400107"/>
          <a:ext cx="5852160" cy="1920240"/>
        </p:xfrm>
        <a:graphic>
          <a:graphicData uri="http://schemas.openxmlformats.org/drawingml/2006/table">
            <a:tbl>
              <a:tblPr>
                <a:effectLst>
                  <a:outerShdw blurRad="50800" dist="38100" dir="8100000" algn="tr" rotWithShape="0">
                    <a:prstClr val="black">
                      <a:alpha val="40000"/>
                    </a:prstClr>
                  </a:outerShdw>
                </a:effectLst>
                <a:tableStyleId>{5C22544A-7EE6-4342-B048-85BDC9FD1C3A}</a:tableStyleId>
              </a:tblPr>
              <a:tblGrid>
                <a:gridCol w="1325880">
                  <a:extLst>
                    <a:ext uri="{9D8B030D-6E8A-4147-A177-3AD203B41FA5}">
                      <a16:colId xmlns:a16="http://schemas.microsoft.com/office/drawing/2014/main" val="4035302251"/>
                    </a:ext>
                  </a:extLst>
                </a:gridCol>
                <a:gridCol w="960120">
                  <a:extLst>
                    <a:ext uri="{9D8B030D-6E8A-4147-A177-3AD203B41FA5}">
                      <a16:colId xmlns:a16="http://schemas.microsoft.com/office/drawing/2014/main" val="975766701"/>
                    </a:ext>
                  </a:extLst>
                </a:gridCol>
                <a:gridCol w="1188720">
                  <a:extLst>
                    <a:ext uri="{9D8B030D-6E8A-4147-A177-3AD203B41FA5}">
                      <a16:colId xmlns:a16="http://schemas.microsoft.com/office/drawing/2014/main" val="2096130608"/>
                    </a:ext>
                  </a:extLst>
                </a:gridCol>
                <a:gridCol w="1188720">
                  <a:extLst>
                    <a:ext uri="{9D8B030D-6E8A-4147-A177-3AD203B41FA5}">
                      <a16:colId xmlns:a16="http://schemas.microsoft.com/office/drawing/2014/main" val="1293226064"/>
                    </a:ext>
                  </a:extLst>
                </a:gridCol>
                <a:gridCol w="1188720">
                  <a:extLst>
                    <a:ext uri="{9D8B030D-6E8A-4147-A177-3AD203B41FA5}">
                      <a16:colId xmlns:a16="http://schemas.microsoft.com/office/drawing/2014/main" val="3593431168"/>
                    </a:ext>
                  </a:extLst>
                </a:gridCol>
              </a:tblGrid>
              <a:tr h="365760">
                <a:tc>
                  <a:txBody>
                    <a:bodyPr/>
                    <a:lstStyle/>
                    <a:p>
                      <a:pPr algn="l" fontAlgn="ctr">
                        <a:spcAft>
                          <a:spcPts val="0"/>
                        </a:spcAft>
                        <a:buNone/>
                      </a:pPr>
                      <a:r>
                        <a:rPr lang="en-US" sz="1300" b="1" kern="1200" dirty="0">
                          <a:solidFill>
                            <a:srgbClr val="F1EADA"/>
                          </a:solidFill>
                          <a:effectLst/>
                          <a:latin typeface="Calibri"/>
                          <a:ea typeface="+mn-ea"/>
                          <a:cs typeface="+mn-cs"/>
                        </a:rPr>
                        <a:t>Group</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C2A22"/>
                    </a:solidFill>
                  </a:tcPr>
                </a:tc>
                <a:tc>
                  <a:txBody>
                    <a:bodyPr/>
                    <a:lstStyle/>
                    <a:p>
                      <a:pPr algn="r" fontAlgn="ctr">
                        <a:spcAft>
                          <a:spcPts val="0"/>
                        </a:spcAft>
                        <a:buNone/>
                      </a:pPr>
                      <a:r>
                        <a:rPr lang="en-US" sz="1300" b="1" kern="1200" dirty="0">
                          <a:solidFill>
                            <a:srgbClr val="F1EADA"/>
                          </a:solidFill>
                          <a:effectLst/>
                          <a:latin typeface="Calibri"/>
                          <a:ea typeface="+mn-ea"/>
                          <a:cs typeface="+mn-cs"/>
                        </a:rPr>
                        <a:t>Customers</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C2A22"/>
                    </a:solidFill>
                  </a:tcPr>
                </a:tc>
                <a:tc>
                  <a:txBody>
                    <a:bodyPr/>
                    <a:lstStyle/>
                    <a:p>
                      <a:pPr algn="r" fontAlgn="ctr">
                        <a:spcAft>
                          <a:spcPts val="0"/>
                        </a:spcAft>
                        <a:buNone/>
                      </a:pPr>
                      <a:r>
                        <a:rPr lang="en-US" sz="1300" b="1" kern="1200" dirty="0">
                          <a:solidFill>
                            <a:srgbClr val="F1EADA"/>
                          </a:solidFill>
                          <a:effectLst/>
                          <a:latin typeface="Calibri"/>
                          <a:ea typeface="+mn-ea"/>
                          <a:cs typeface="+mn-cs"/>
                        </a:rPr>
                        <a:t>Average</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C2A22"/>
                    </a:solidFill>
                  </a:tcPr>
                </a:tc>
                <a:tc>
                  <a:txBody>
                    <a:bodyPr/>
                    <a:lstStyle/>
                    <a:p>
                      <a:pPr algn="r" fontAlgn="ctr">
                        <a:spcAft>
                          <a:spcPts val="0"/>
                        </a:spcAft>
                        <a:buNone/>
                      </a:pPr>
                      <a:r>
                        <a:rPr lang="en-US" sz="1300" b="1" kern="1200" dirty="0">
                          <a:solidFill>
                            <a:srgbClr val="F1EADA"/>
                          </a:solidFill>
                          <a:effectLst/>
                          <a:latin typeface="Calibri"/>
                          <a:ea typeface="+mn-ea"/>
                          <a:cs typeface="+mn-cs"/>
                        </a:rPr>
                        <a:t>Median</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C2A22"/>
                    </a:solidFill>
                  </a:tcPr>
                </a:tc>
                <a:tc>
                  <a:txBody>
                    <a:bodyPr/>
                    <a:lstStyle/>
                    <a:p>
                      <a:pPr algn="r" fontAlgn="ctr">
                        <a:spcAft>
                          <a:spcPts val="0"/>
                        </a:spcAft>
                        <a:buNone/>
                      </a:pPr>
                      <a:r>
                        <a:rPr lang="en-US" sz="1300" b="1" kern="1200" dirty="0">
                          <a:solidFill>
                            <a:srgbClr val="F1EADA"/>
                          </a:solidFill>
                          <a:effectLst/>
                          <a:latin typeface="Calibri"/>
                          <a:ea typeface="+mn-ea"/>
                          <a:cs typeface="+mn-cs"/>
                        </a:rPr>
                        <a:t>SD</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C2A22"/>
                    </a:solidFill>
                  </a:tcPr>
                </a:tc>
                <a:extLst>
                  <a:ext uri="{0D108BD9-81ED-4DB2-BD59-A6C34878D82A}">
                    <a16:rowId xmlns:a16="http://schemas.microsoft.com/office/drawing/2014/main" val="710723707"/>
                  </a:ext>
                </a:extLst>
              </a:tr>
              <a:tr h="777240">
                <a:tc>
                  <a:txBody>
                    <a:bodyPr/>
                    <a:lstStyle/>
                    <a:p>
                      <a:pPr algn="l" fontAlgn="ctr">
                        <a:spcAft>
                          <a:spcPts val="0"/>
                        </a:spcAft>
                        <a:buNone/>
                      </a:pPr>
                      <a:r>
                        <a:rPr lang="en-US" sz="1800" b="0" dirty="0">
                          <a:effectLst/>
                        </a:rPr>
                        <a:t>Non-smoker</a:t>
                      </a:r>
                      <a:endParaRPr lang="en-US" sz="1800" b="0" i="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1E2"/>
                    </a:solidFill>
                  </a:tcPr>
                </a:tc>
                <a:tc>
                  <a:txBody>
                    <a:bodyPr/>
                    <a:lstStyle/>
                    <a:p>
                      <a:pPr algn="r" fontAlgn="ctr">
                        <a:spcAft>
                          <a:spcPts val="0"/>
                        </a:spcAft>
                        <a:buNone/>
                      </a:pPr>
                      <a:r>
                        <a:rPr lang="en-US" sz="1800" b="0" dirty="0">
                          <a:effectLst/>
                        </a:rPr>
                        <a:t>1,063</a:t>
                      </a:r>
                      <a:endParaRPr lang="en-US" sz="1800" b="0" i="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1E2"/>
                    </a:solidFill>
                  </a:tcPr>
                </a:tc>
                <a:tc>
                  <a:txBody>
                    <a:bodyPr/>
                    <a:lstStyle/>
                    <a:p>
                      <a:pPr algn="r" fontAlgn="ctr">
                        <a:spcAft>
                          <a:spcPts val="0"/>
                        </a:spcAft>
                        <a:buNone/>
                      </a:pPr>
                      <a:r>
                        <a:rPr lang="en-US" sz="1800" b="0" dirty="0">
                          <a:effectLst/>
                        </a:rPr>
                        <a:t>$8,441</a:t>
                      </a:r>
                      <a:endParaRPr lang="en-US" sz="1800" b="0" i="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1E2"/>
                    </a:solidFill>
                  </a:tcPr>
                </a:tc>
                <a:tc>
                  <a:txBody>
                    <a:bodyPr/>
                    <a:lstStyle/>
                    <a:p>
                      <a:pPr algn="r" fontAlgn="ctr">
                        <a:spcAft>
                          <a:spcPts val="0"/>
                        </a:spcAft>
                        <a:buNone/>
                      </a:pPr>
                      <a:r>
                        <a:rPr lang="en-US" sz="1800" b="0" dirty="0">
                          <a:effectLst/>
                        </a:rPr>
                        <a:t>$7,346</a:t>
                      </a:r>
                      <a:endParaRPr lang="en-US" sz="1800" b="0" i="0" dirty="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1E2"/>
                    </a:solidFill>
                  </a:tcPr>
                </a:tc>
                <a:tc>
                  <a:txBody>
                    <a:bodyPr/>
                    <a:lstStyle/>
                    <a:p>
                      <a:pPr algn="r" fontAlgn="ctr">
                        <a:spcAft>
                          <a:spcPts val="0"/>
                        </a:spcAft>
                        <a:buNone/>
                      </a:pPr>
                      <a:r>
                        <a:rPr lang="en-US" sz="1800" b="0" dirty="0">
                          <a:effectLst/>
                        </a:rPr>
                        <a:t>$5,993</a:t>
                      </a:r>
                      <a:endParaRPr lang="en-US" sz="1800" b="0" i="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1E2"/>
                    </a:solidFill>
                  </a:tcPr>
                </a:tc>
                <a:extLst>
                  <a:ext uri="{0D108BD9-81ED-4DB2-BD59-A6C34878D82A}">
                    <a16:rowId xmlns:a16="http://schemas.microsoft.com/office/drawing/2014/main" val="1991661574"/>
                  </a:ext>
                </a:extLst>
              </a:tr>
              <a:tr h="777240">
                <a:tc>
                  <a:txBody>
                    <a:bodyPr/>
                    <a:lstStyle/>
                    <a:p>
                      <a:pPr algn="l" fontAlgn="ctr">
                        <a:spcAft>
                          <a:spcPts val="0"/>
                        </a:spcAft>
                        <a:buNone/>
                      </a:pPr>
                      <a:r>
                        <a:rPr lang="en-US" sz="1800" b="1" dirty="0">
                          <a:effectLst/>
                        </a:rPr>
                        <a:t>Smoker</a:t>
                      </a:r>
                      <a:endParaRPr lang="en-US" sz="1800" b="0" i="0" dirty="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3C4"/>
                    </a:solidFill>
                  </a:tcPr>
                </a:tc>
                <a:tc>
                  <a:txBody>
                    <a:bodyPr/>
                    <a:lstStyle/>
                    <a:p>
                      <a:pPr algn="r" fontAlgn="ctr">
                        <a:spcAft>
                          <a:spcPts val="0"/>
                        </a:spcAft>
                        <a:buNone/>
                      </a:pPr>
                      <a:r>
                        <a:rPr lang="en-US" sz="1800" b="1" dirty="0">
                          <a:effectLst/>
                        </a:rPr>
                        <a:t>274</a:t>
                      </a:r>
                      <a:endParaRPr lang="en-US" sz="1800" b="0" i="0" dirty="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3C4"/>
                    </a:solidFill>
                  </a:tcPr>
                </a:tc>
                <a:tc>
                  <a:txBody>
                    <a:bodyPr/>
                    <a:lstStyle/>
                    <a:p>
                      <a:pPr algn="r" fontAlgn="ctr">
                        <a:spcAft>
                          <a:spcPts val="0"/>
                        </a:spcAft>
                        <a:buNone/>
                      </a:pPr>
                      <a:r>
                        <a:rPr lang="en-US" sz="1800" b="1" dirty="0">
                          <a:effectLst/>
                        </a:rPr>
                        <a:t>$32,050</a:t>
                      </a:r>
                      <a:endParaRPr lang="en-US" sz="1800" b="0" i="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3C4"/>
                    </a:solidFill>
                  </a:tcPr>
                </a:tc>
                <a:tc>
                  <a:txBody>
                    <a:bodyPr/>
                    <a:lstStyle/>
                    <a:p>
                      <a:pPr algn="r" fontAlgn="ctr">
                        <a:spcAft>
                          <a:spcPts val="0"/>
                        </a:spcAft>
                        <a:buNone/>
                      </a:pPr>
                      <a:r>
                        <a:rPr lang="en-US" sz="1800" b="1" dirty="0">
                          <a:effectLst/>
                        </a:rPr>
                        <a:t>$34,456</a:t>
                      </a:r>
                      <a:endParaRPr lang="en-US" sz="1800" b="0" i="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3C4"/>
                    </a:solidFill>
                  </a:tcPr>
                </a:tc>
                <a:tc>
                  <a:txBody>
                    <a:bodyPr/>
                    <a:lstStyle/>
                    <a:p>
                      <a:pPr algn="r" fontAlgn="ctr">
                        <a:spcAft>
                          <a:spcPts val="0"/>
                        </a:spcAft>
                        <a:buNone/>
                      </a:pPr>
                      <a:r>
                        <a:rPr lang="en-US" sz="1800" b="1" dirty="0">
                          <a:effectLst/>
                        </a:rPr>
                        <a:t>$11,542</a:t>
                      </a:r>
                      <a:endParaRPr lang="en-US" sz="1800" b="0" i="0" dirty="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3C4"/>
                    </a:solidFill>
                  </a:tcPr>
                </a:tc>
                <a:extLst>
                  <a:ext uri="{0D108BD9-81ED-4DB2-BD59-A6C34878D82A}">
                    <a16:rowId xmlns:a16="http://schemas.microsoft.com/office/drawing/2014/main" val="231550982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DATA SUMMARY</a:t>
            </a:r>
            <a:endParaRPr lang="en-US" sz="1100" dirty="0"/>
          </a:p>
        </p:txBody>
      </p:sp>
      <p:sp>
        <p:nvSpPr>
          <p:cNvPr id="7" name="Text 3"/>
          <p:cNvSpPr/>
          <p:nvPr/>
        </p:nvSpPr>
        <p:spPr>
          <a:xfrm>
            <a:off x="464748" y="4595992"/>
            <a:ext cx="5403902" cy="141732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Age correlation is 0.63 for non-smokers and 0.37 for smokers. The lines are roughly parallel. Smoking is a level shift of tens of thousands of dollars. Age is a few hundred a year.</a:t>
            </a:r>
            <a:endParaRPr lang="en-US" sz="1500" dirty="0"/>
          </a:p>
        </p:txBody>
      </p:sp>
      <p:sp>
        <p:nvSpPr>
          <p:cNvPr id="8" name="Text 4"/>
          <p:cNvSpPr/>
          <p:nvPr/>
        </p:nvSpPr>
        <p:spPr>
          <a:xfrm>
            <a:off x="6309360" y="4595992"/>
            <a:ext cx="5417892" cy="141732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BMI correlation is 0.81 for smokers and 0.08 for non-smokers. One smoker number would average a steep line and a flat line into a sentence that is true for neither group.</a:t>
            </a:r>
            <a:endParaRPr lang="en-US" sz="1500" dirty="0"/>
          </a:p>
        </p:txBody>
      </p:sp>
      <p:sp>
        <p:nvSpPr>
          <p:cNvPr id="9" name="Text 5"/>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10" name="Text 6"/>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04  /  15</a:t>
            </a:r>
            <a:endParaRPr lang="en-US" sz="1000" dirty="0"/>
          </a:p>
        </p:txBody>
      </p:sp>
      <p:pic>
        <p:nvPicPr>
          <p:cNvPr id="12" name="Picture 11">
            <a:extLst>
              <a:ext uri="{FF2B5EF4-FFF2-40B4-BE49-F238E27FC236}">
                <a16:creationId xmlns:a16="http://schemas.microsoft.com/office/drawing/2014/main" id="{0BB707B5-0A33-21D5-2EC9-5F7BA26CC826}"/>
              </a:ext>
            </a:extLst>
          </p:cNvPr>
          <p:cNvPicPr>
            <a:picLocks noChangeAspect="1"/>
          </p:cNvPicPr>
          <p:nvPr/>
        </p:nvPicPr>
        <p:blipFill>
          <a:blip r:embed="rId3"/>
          <a:stretch>
            <a:fillRect/>
          </a:stretch>
        </p:blipFill>
        <p:spPr>
          <a:xfrm>
            <a:off x="6309360" y="1440779"/>
            <a:ext cx="5394960" cy="2959735"/>
          </a:xfrm>
          <a:prstGeom prst="round2DiagRect">
            <a:avLst/>
          </a:prstGeom>
          <a:effectLst>
            <a:outerShdw blurRad="50800" dist="38100" dir="8100000" algn="tr" rotWithShape="0">
              <a:prstClr val="black">
                <a:alpha val="40000"/>
              </a:prstClr>
            </a:outerShdw>
          </a:effectLst>
        </p:spPr>
      </p:pic>
      <p:pic>
        <p:nvPicPr>
          <p:cNvPr id="14" name="Picture 13">
            <a:extLst>
              <a:ext uri="{FF2B5EF4-FFF2-40B4-BE49-F238E27FC236}">
                <a16:creationId xmlns:a16="http://schemas.microsoft.com/office/drawing/2014/main" id="{21064ECE-BF54-34D6-8659-3EE55EDC833B}"/>
              </a:ext>
            </a:extLst>
          </p:cNvPr>
          <p:cNvPicPr>
            <a:picLocks noChangeAspect="1"/>
          </p:cNvPicPr>
          <p:nvPr/>
        </p:nvPicPr>
        <p:blipFill>
          <a:blip r:embed="rId4"/>
          <a:srcRect l="722" r="887"/>
          <a:stretch>
            <a:fillRect/>
          </a:stretch>
        </p:blipFill>
        <p:spPr>
          <a:xfrm>
            <a:off x="464748" y="1428491"/>
            <a:ext cx="5554185" cy="2959734"/>
          </a:xfrm>
          <a:prstGeom prst="round2DiagRect">
            <a:avLst/>
          </a:prstGeom>
          <a:effectLst>
            <a:outerShdw blurRad="50800" dist="38100" dir="8100000" algn="tr" rotWithShape="0">
              <a:prstClr val="black">
                <a:alpha val="40000"/>
              </a:prstClr>
            </a:outerShdw>
          </a:effectLst>
        </p:spPr>
      </p:pic>
      <p:sp>
        <p:nvSpPr>
          <p:cNvPr id="17" name="Text 2">
            <a:extLst>
              <a:ext uri="{FF2B5EF4-FFF2-40B4-BE49-F238E27FC236}">
                <a16:creationId xmlns:a16="http://schemas.microsoft.com/office/drawing/2014/main" id="{0B78F03C-499B-51C9-B93D-89F6A6408739}"/>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ea typeface="Georgia" pitchFamily="34" charset="-122"/>
                <a:cs typeface="Georgia" pitchFamily="34" charset="-120"/>
              </a:rPr>
              <a:t>Age lifts both groups. BMI lifts smokers.</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EADA"/>
        </a:solidFill>
        <a:effectLst/>
      </p:bgPr>
    </p:bg>
    <p:spTree>
      <p:nvGrpSpPr>
        <p:cNvPr id="1" name="">
          <a:extLst>
            <a:ext uri="{FF2B5EF4-FFF2-40B4-BE49-F238E27FC236}">
              <a16:creationId xmlns:a16="http://schemas.microsoft.com/office/drawing/2014/main" id="{0168F29F-DA7E-4513-26F4-A2865A93624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16D4A2C-D392-D544-E5B8-C30CBFB987C9}"/>
              </a:ext>
            </a:extLst>
          </p:cNvPr>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a:extLst>
              <a:ext uri="{FF2B5EF4-FFF2-40B4-BE49-F238E27FC236}">
                <a16:creationId xmlns:a16="http://schemas.microsoft.com/office/drawing/2014/main" id="{C3DC8E1D-E6D2-8E8A-8DF9-C31864521563}"/>
              </a:ext>
            </a:extLst>
          </p:cNvPr>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DATA SUMMARY</a:t>
            </a:r>
            <a:endParaRPr lang="en-US" sz="1100" dirty="0"/>
          </a:p>
        </p:txBody>
      </p:sp>
      <p:sp>
        <p:nvSpPr>
          <p:cNvPr id="8" name="Text 4">
            <a:extLst>
              <a:ext uri="{FF2B5EF4-FFF2-40B4-BE49-F238E27FC236}">
                <a16:creationId xmlns:a16="http://schemas.microsoft.com/office/drawing/2014/main" id="{CEECE1C2-27FC-A02F-C04B-B42ECE8BFAAD}"/>
              </a:ext>
            </a:extLst>
          </p:cNvPr>
          <p:cNvSpPr/>
          <p:nvPr/>
        </p:nvSpPr>
        <p:spPr>
          <a:xfrm>
            <a:off x="6309360" y="4595992"/>
            <a:ext cx="5417892" cy="2005976"/>
          </a:xfrm>
          <a:prstGeom prst="rect">
            <a:avLst/>
          </a:prstGeom>
          <a:noFill/>
          <a:ln/>
        </p:spPr>
        <p:txBody>
          <a:bodyPr wrap="square" lIns="0" tIns="0" rIns="0" bIns="0" rtlCol="0" anchor="ctr"/>
          <a:lstStyle/>
          <a:p>
            <a:r>
              <a:rPr lang="en-US" sz="1500" dirty="0">
                <a:solidFill>
                  <a:srgbClr val="4E463C"/>
                </a:solidFill>
                <a:latin typeface="Calibri" pitchFamily="34" charset="0"/>
                <a:cs typeface="Calibri" pitchFamily="34" charset="-120"/>
              </a:rPr>
              <a:t>The smoker gap does not depend on region (p = 0.31). The age slope does not depend on region (p = 0.28), nor the smoker BMI slope (p = 0.20).</a:t>
            </a:r>
          </a:p>
          <a:p>
            <a:endParaRPr lang="en-US" sz="1500" dirty="0">
              <a:solidFill>
                <a:srgbClr val="4E463C"/>
              </a:solidFill>
              <a:latin typeface="Calibri" pitchFamily="34" charset="0"/>
              <a:cs typeface="Calibri" pitchFamily="34" charset="-120"/>
            </a:endParaRPr>
          </a:p>
          <a:p>
            <a:r>
              <a:rPr lang="en-US" sz="1500" dirty="0">
                <a:solidFill>
                  <a:srgbClr val="4E463C"/>
                </a:solidFill>
                <a:latin typeface="Calibri" pitchFamily="34" charset="0"/>
                <a:cs typeface="Calibri" pitchFamily="34" charset="-120"/>
              </a:rPr>
              <a:t>Southeast has the highest unadjusted average bill, lowest when holding age, children, BMI and smoking status fixed.</a:t>
            </a:r>
          </a:p>
          <a:p>
            <a:pPr marL="0" indent="0">
              <a:buNone/>
            </a:pPr>
            <a:endParaRPr lang="en-US" sz="1500" dirty="0"/>
          </a:p>
        </p:txBody>
      </p:sp>
      <p:sp>
        <p:nvSpPr>
          <p:cNvPr id="9" name="Text 5">
            <a:extLst>
              <a:ext uri="{FF2B5EF4-FFF2-40B4-BE49-F238E27FC236}">
                <a16:creationId xmlns:a16="http://schemas.microsoft.com/office/drawing/2014/main" id="{8BD77204-EE0F-2767-8150-E272BED17389}"/>
              </a:ext>
            </a:extLst>
          </p:cNvPr>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10" name="Text 6">
            <a:extLst>
              <a:ext uri="{FF2B5EF4-FFF2-40B4-BE49-F238E27FC236}">
                <a16:creationId xmlns:a16="http://schemas.microsoft.com/office/drawing/2014/main" id="{D14AD953-84B3-D68E-3AFD-88700BA1365B}"/>
              </a:ext>
            </a:extLst>
          </p:cNvPr>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05  /  15</a:t>
            </a:r>
            <a:endParaRPr lang="en-US" sz="1000" dirty="0"/>
          </a:p>
        </p:txBody>
      </p:sp>
      <p:pic>
        <p:nvPicPr>
          <p:cNvPr id="12" name="Picture 11">
            <a:extLst>
              <a:ext uri="{FF2B5EF4-FFF2-40B4-BE49-F238E27FC236}">
                <a16:creationId xmlns:a16="http://schemas.microsoft.com/office/drawing/2014/main" id="{74C68CE5-D23C-89E0-A468-88F651B34D2F}"/>
              </a:ext>
            </a:extLst>
          </p:cNvPr>
          <p:cNvPicPr>
            <a:picLocks noChangeAspect="1"/>
          </p:cNvPicPr>
          <p:nvPr/>
        </p:nvPicPr>
        <p:blipFill>
          <a:blip r:embed="rId3"/>
          <a:srcRect t="157" b="157"/>
          <a:stretch/>
        </p:blipFill>
        <p:spPr>
          <a:xfrm>
            <a:off x="6309360" y="1440779"/>
            <a:ext cx="5394960" cy="2959735"/>
          </a:xfrm>
          <a:prstGeom prst="round2DiagRect">
            <a:avLst/>
          </a:prstGeom>
          <a:effectLst>
            <a:outerShdw blurRad="50800" dist="38100" dir="8100000" algn="tr" rotWithShape="0">
              <a:prstClr val="black">
                <a:alpha val="40000"/>
              </a:prstClr>
            </a:outerShdw>
          </a:effectLst>
        </p:spPr>
      </p:pic>
      <p:sp>
        <p:nvSpPr>
          <p:cNvPr id="17" name="Text 2">
            <a:extLst>
              <a:ext uri="{FF2B5EF4-FFF2-40B4-BE49-F238E27FC236}">
                <a16:creationId xmlns:a16="http://schemas.microsoft.com/office/drawing/2014/main" id="{6AAECBED-9F17-7841-CB27-3E16CD0E9E23}"/>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ea typeface="Georgia" pitchFamily="34" charset="-122"/>
                <a:cs typeface="Georgia" pitchFamily="34" charset="-120"/>
              </a:rPr>
              <a:t>Region shift</a:t>
            </a:r>
            <a:endParaRPr lang="en-US" sz="2800" dirty="0"/>
          </a:p>
        </p:txBody>
      </p:sp>
      <p:graphicFrame>
        <p:nvGraphicFramePr>
          <p:cNvPr id="4" name="Table 3">
            <a:extLst>
              <a:ext uri="{FF2B5EF4-FFF2-40B4-BE49-F238E27FC236}">
                <a16:creationId xmlns:a16="http://schemas.microsoft.com/office/drawing/2014/main" id="{4552D113-DC35-3B90-AFB3-42309A4C0401}"/>
              </a:ext>
            </a:extLst>
          </p:cNvPr>
          <p:cNvGraphicFramePr>
            <a:graphicFrameLocks noGrp="1"/>
          </p:cNvGraphicFramePr>
          <p:nvPr>
            <p:extLst>
              <p:ext uri="{D42A27DB-BD31-4B8C-83A1-F6EECF244321}">
                <p14:modId xmlns:p14="http://schemas.microsoft.com/office/powerpoint/2010/main" val="714056586"/>
              </p:ext>
            </p:extLst>
          </p:nvPr>
        </p:nvGraphicFramePr>
        <p:xfrm>
          <a:off x="502920" y="1535310"/>
          <a:ext cx="5486400" cy="2139696"/>
        </p:xfrm>
        <a:graphic>
          <a:graphicData uri="http://schemas.openxmlformats.org/drawingml/2006/table">
            <a:tbl>
              <a:tblPr>
                <a:effectLst>
                  <a:outerShdw blurRad="50800" dist="38100" dir="8100000" algn="tr" rotWithShape="0">
                    <a:prstClr val="black">
                      <a:alpha val="40000"/>
                    </a:prstClr>
                  </a:outerShdw>
                </a:effectLst>
              </a:tblPr>
              <a:tblGrid>
                <a:gridCol w="1097280">
                  <a:extLst>
                    <a:ext uri="{9D8B030D-6E8A-4147-A177-3AD203B41FA5}">
                      <a16:colId xmlns:a16="http://schemas.microsoft.com/office/drawing/2014/main" val="494075696"/>
                    </a:ext>
                  </a:extLst>
                </a:gridCol>
                <a:gridCol w="1005840">
                  <a:extLst>
                    <a:ext uri="{9D8B030D-6E8A-4147-A177-3AD203B41FA5}">
                      <a16:colId xmlns:a16="http://schemas.microsoft.com/office/drawing/2014/main" val="3827039068"/>
                    </a:ext>
                  </a:extLst>
                </a:gridCol>
                <a:gridCol w="1115568">
                  <a:extLst>
                    <a:ext uri="{9D8B030D-6E8A-4147-A177-3AD203B41FA5}">
                      <a16:colId xmlns:a16="http://schemas.microsoft.com/office/drawing/2014/main" val="1752571979"/>
                    </a:ext>
                  </a:extLst>
                </a:gridCol>
                <a:gridCol w="1207008">
                  <a:extLst>
                    <a:ext uri="{9D8B030D-6E8A-4147-A177-3AD203B41FA5}">
                      <a16:colId xmlns:a16="http://schemas.microsoft.com/office/drawing/2014/main" val="3417635037"/>
                    </a:ext>
                  </a:extLst>
                </a:gridCol>
                <a:gridCol w="1060704">
                  <a:extLst>
                    <a:ext uri="{9D8B030D-6E8A-4147-A177-3AD203B41FA5}">
                      <a16:colId xmlns:a16="http://schemas.microsoft.com/office/drawing/2014/main" val="1724532567"/>
                    </a:ext>
                  </a:extLst>
                </a:gridCol>
              </a:tblGrid>
              <a:tr h="384048">
                <a:tc>
                  <a:txBody>
                    <a:bodyPr/>
                    <a:lstStyle/>
                    <a:p>
                      <a:pPr algn="l" fontAlgn="ctr">
                        <a:spcAft>
                          <a:spcPts val="0"/>
                        </a:spcAft>
                        <a:buNone/>
                      </a:pPr>
                      <a:r>
                        <a:rPr lang="en-US" sz="1300" b="1" dirty="0">
                          <a:solidFill>
                            <a:srgbClr val="F1EADA"/>
                          </a:solidFill>
                          <a:effectLst/>
                          <a:latin typeface="Calibri"/>
                        </a:rPr>
                        <a:t>Region</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Customers</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Average BMI</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Smoker share</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Average bill</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extLst>
                  <a:ext uri="{0D108BD9-81ED-4DB2-BD59-A6C34878D82A}">
                    <a16:rowId xmlns:a16="http://schemas.microsoft.com/office/drawing/2014/main" val="4132324964"/>
                  </a:ext>
                </a:extLst>
              </a:tr>
              <a:tr h="438912">
                <a:tc>
                  <a:txBody>
                    <a:bodyPr/>
                    <a:lstStyle/>
                    <a:p>
                      <a:pPr algn="l" fontAlgn="ctr">
                        <a:spcAft>
                          <a:spcPts val="0"/>
                        </a:spcAft>
                        <a:buNone/>
                      </a:pPr>
                      <a:r>
                        <a:rPr lang="en-US" sz="1400" b="0" dirty="0">
                          <a:solidFill>
                            <a:srgbClr val="1C2A22"/>
                          </a:solidFill>
                          <a:effectLst/>
                          <a:latin typeface="Calibri"/>
                        </a:rPr>
                        <a:t>Northeast</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324</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29.2</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20.7%</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$13,406</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extLst>
                  <a:ext uri="{0D108BD9-81ED-4DB2-BD59-A6C34878D82A}">
                    <a16:rowId xmlns:a16="http://schemas.microsoft.com/office/drawing/2014/main" val="1394868736"/>
                  </a:ext>
                </a:extLst>
              </a:tr>
              <a:tr h="438912">
                <a:tc>
                  <a:txBody>
                    <a:bodyPr/>
                    <a:lstStyle/>
                    <a:p>
                      <a:pPr algn="l" fontAlgn="ctr">
                        <a:spcAft>
                          <a:spcPts val="0"/>
                        </a:spcAft>
                        <a:buNone/>
                      </a:pPr>
                      <a:r>
                        <a:rPr lang="en-US" sz="1400" b="0" dirty="0">
                          <a:solidFill>
                            <a:srgbClr val="1C2A22"/>
                          </a:solidFill>
                          <a:effectLst/>
                          <a:latin typeface="Calibri"/>
                        </a:rPr>
                        <a:t>Northwest</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324</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29.2</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17.9%</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$12,451</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extLst>
                  <a:ext uri="{0D108BD9-81ED-4DB2-BD59-A6C34878D82A}">
                    <a16:rowId xmlns:a16="http://schemas.microsoft.com/office/drawing/2014/main" val="2616377724"/>
                  </a:ext>
                </a:extLst>
              </a:tr>
              <a:tr h="438912">
                <a:tc>
                  <a:txBody>
                    <a:bodyPr/>
                    <a:lstStyle/>
                    <a:p>
                      <a:pPr algn="l" fontAlgn="ctr">
                        <a:spcAft>
                          <a:spcPts val="0"/>
                        </a:spcAft>
                        <a:buNone/>
                      </a:pPr>
                      <a:r>
                        <a:rPr lang="en-US" sz="1400" b="1" dirty="0">
                          <a:solidFill>
                            <a:srgbClr val="1C2A22"/>
                          </a:solidFill>
                          <a:effectLst/>
                          <a:latin typeface="Calibri"/>
                        </a:rPr>
                        <a:t>Southeast</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364</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33.4</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25.0%</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$14,735</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extLst>
                  <a:ext uri="{0D108BD9-81ED-4DB2-BD59-A6C34878D82A}">
                    <a16:rowId xmlns:a16="http://schemas.microsoft.com/office/drawing/2014/main" val="2363780100"/>
                  </a:ext>
                </a:extLst>
              </a:tr>
              <a:tr h="438912">
                <a:tc>
                  <a:txBody>
                    <a:bodyPr/>
                    <a:lstStyle/>
                    <a:p>
                      <a:pPr algn="l" fontAlgn="ctr">
                        <a:spcAft>
                          <a:spcPts val="0"/>
                        </a:spcAft>
                        <a:buNone/>
                      </a:pPr>
                      <a:r>
                        <a:rPr lang="en-US" sz="1400" b="0" dirty="0">
                          <a:solidFill>
                            <a:srgbClr val="1C2A22"/>
                          </a:solidFill>
                          <a:effectLst/>
                          <a:latin typeface="Calibri"/>
                        </a:rPr>
                        <a:t>Southwest</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325</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30.6</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17.8%</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$12,347</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extLst>
                  <a:ext uri="{0D108BD9-81ED-4DB2-BD59-A6C34878D82A}">
                    <a16:rowId xmlns:a16="http://schemas.microsoft.com/office/drawing/2014/main" val="781695866"/>
                  </a:ext>
                </a:extLst>
              </a:tr>
            </a:tbl>
          </a:graphicData>
        </a:graphic>
      </p:graphicFrame>
      <p:sp>
        <p:nvSpPr>
          <p:cNvPr id="13" name="TextBox 12">
            <a:extLst>
              <a:ext uri="{FF2B5EF4-FFF2-40B4-BE49-F238E27FC236}">
                <a16:creationId xmlns:a16="http://schemas.microsoft.com/office/drawing/2014/main" id="{02AEA2EE-CCB8-12F6-7BE0-CDCE57D4636B}"/>
              </a:ext>
            </a:extLst>
          </p:cNvPr>
          <p:cNvSpPr txBox="1"/>
          <p:nvPr/>
        </p:nvSpPr>
        <p:spPr>
          <a:xfrm>
            <a:off x="2947300" y="5821291"/>
            <a:ext cx="1042204" cy="369332"/>
          </a:xfrm>
          <a:prstGeom prst="rect">
            <a:avLst/>
          </a:prstGeom>
          <a:noFill/>
        </p:spPr>
        <p:txBody>
          <a:bodyPr wrap="square" rtlCol="0">
            <a:spAutoFit/>
          </a:bodyPr>
          <a:lstStyle/>
          <a:p>
            <a:r>
              <a:rPr lang="en-US" b="1" dirty="0">
                <a:solidFill>
                  <a:srgbClr val="000000"/>
                </a:solidFill>
                <a:latin typeface="Calibri" pitchFamily="34" charset="0"/>
                <a:cs typeface="Calibri" pitchFamily="34" charset="-120"/>
              </a:rPr>
              <a:t>-$1,200</a:t>
            </a:r>
          </a:p>
        </p:txBody>
      </p:sp>
      <p:pic>
        <p:nvPicPr>
          <p:cNvPr id="16" name="Graphic 15" descr="Compass with solid fill">
            <a:extLst>
              <a:ext uri="{FF2B5EF4-FFF2-40B4-BE49-F238E27FC236}">
                <a16:creationId xmlns:a16="http://schemas.microsoft.com/office/drawing/2014/main" id="{DAC7C89C-9FBF-DC31-675C-618225C54E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8873851">
            <a:off x="2819781" y="4722709"/>
            <a:ext cx="1199962" cy="1199962"/>
          </a:xfrm>
          <a:prstGeom prst="rect">
            <a:avLst/>
          </a:prstGeom>
        </p:spPr>
      </p:pic>
      <p:sp>
        <p:nvSpPr>
          <p:cNvPr id="18" name="TextBox 17">
            <a:extLst>
              <a:ext uri="{FF2B5EF4-FFF2-40B4-BE49-F238E27FC236}">
                <a16:creationId xmlns:a16="http://schemas.microsoft.com/office/drawing/2014/main" id="{4A569EC8-16F8-E2DD-00DD-48EC370736D5}"/>
              </a:ext>
            </a:extLst>
          </p:cNvPr>
          <p:cNvSpPr txBox="1"/>
          <p:nvPr/>
        </p:nvSpPr>
        <p:spPr>
          <a:xfrm>
            <a:off x="3233305" y="4465966"/>
            <a:ext cx="372914" cy="369332"/>
          </a:xfrm>
          <a:prstGeom prst="rect">
            <a:avLst/>
          </a:prstGeom>
          <a:noFill/>
        </p:spPr>
        <p:txBody>
          <a:bodyPr wrap="square" rtlCol="0">
            <a:spAutoFit/>
          </a:bodyPr>
          <a:lstStyle/>
          <a:p>
            <a:r>
              <a:rPr lang="en-US" b="1" dirty="0">
                <a:solidFill>
                  <a:srgbClr val="000000"/>
                </a:solidFill>
                <a:latin typeface="Calibri" pitchFamily="34" charset="0"/>
                <a:cs typeface="Calibri" pitchFamily="34" charset="-120"/>
              </a:rPr>
              <a:t>N</a:t>
            </a:r>
          </a:p>
        </p:txBody>
      </p:sp>
      <p:pic>
        <p:nvPicPr>
          <p:cNvPr id="22" name="Graphic 21" descr="No smoking outline">
            <a:extLst>
              <a:ext uri="{FF2B5EF4-FFF2-40B4-BE49-F238E27FC236}">
                <a16:creationId xmlns:a16="http://schemas.microsoft.com/office/drawing/2014/main" id="{CEEEA680-B7EC-5421-F449-783A14BA152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65630" y="3811123"/>
            <a:ext cx="914400" cy="914400"/>
          </a:xfrm>
          <a:prstGeom prst="rect">
            <a:avLst/>
          </a:prstGeom>
        </p:spPr>
      </p:pic>
      <p:grpSp>
        <p:nvGrpSpPr>
          <p:cNvPr id="40" name="Group 39">
            <a:extLst>
              <a:ext uri="{FF2B5EF4-FFF2-40B4-BE49-F238E27FC236}">
                <a16:creationId xmlns:a16="http://schemas.microsoft.com/office/drawing/2014/main" id="{7745882C-D1F5-CEC4-ABB8-6A185552CFA9}"/>
              </a:ext>
            </a:extLst>
          </p:cNvPr>
          <p:cNvGrpSpPr/>
          <p:nvPr/>
        </p:nvGrpSpPr>
        <p:grpSpPr>
          <a:xfrm>
            <a:off x="1199009" y="4588584"/>
            <a:ext cx="724109" cy="724109"/>
            <a:chOff x="1494513" y="5075282"/>
            <a:chExt cx="724109" cy="724109"/>
          </a:xfrm>
        </p:grpSpPr>
        <p:pic>
          <p:nvPicPr>
            <p:cNvPr id="20" name="Graphic 19" descr="Man with cane outline">
              <a:extLst>
                <a:ext uri="{FF2B5EF4-FFF2-40B4-BE49-F238E27FC236}">
                  <a16:creationId xmlns:a16="http://schemas.microsoft.com/office/drawing/2014/main" id="{3EE1319E-1356-A000-E68D-55096557020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66760" y="5147529"/>
              <a:ext cx="579615" cy="579615"/>
            </a:xfrm>
            <a:prstGeom prst="rect">
              <a:avLst/>
            </a:prstGeom>
          </p:spPr>
        </p:pic>
        <p:sp>
          <p:nvSpPr>
            <p:cNvPr id="33" name="Freeform 32">
              <a:extLst>
                <a:ext uri="{FF2B5EF4-FFF2-40B4-BE49-F238E27FC236}">
                  <a16:creationId xmlns:a16="http://schemas.microsoft.com/office/drawing/2014/main" id="{2BA32F2A-626B-66C1-549A-5B592451B91A}"/>
                </a:ext>
              </a:extLst>
            </p:cNvPr>
            <p:cNvSpPr/>
            <p:nvPr/>
          </p:nvSpPr>
          <p:spPr>
            <a:xfrm>
              <a:off x="1494513" y="5075282"/>
              <a:ext cx="724109" cy="724109"/>
            </a:xfrm>
            <a:custGeom>
              <a:avLst/>
              <a:gdLst>
                <a:gd name="csX0" fmla="*/ 362160 w 724109"/>
                <a:gd name="csY0" fmla="*/ 0 h 724109"/>
                <a:gd name="csX1" fmla="*/ 0 w 724109"/>
                <a:gd name="csY1" fmla="*/ 361950 h 724109"/>
                <a:gd name="csX2" fmla="*/ 361950 w 724109"/>
                <a:gd name="csY2" fmla="*/ 724110 h 724109"/>
                <a:gd name="csX3" fmla="*/ 724110 w 724109"/>
                <a:gd name="csY3" fmla="*/ 362160 h 724109"/>
                <a:gd name="csX4" fmla="*/ 724110 w 724109"/>
                <a:gd name="csY4" fmla="*/ 362055 h 724109"/>
                <a:gd name="csX5" fmla="*/ 362455 w 724109"/>
                <a:gd name="csY5" fmla="*/ 0 h 724109"/>
                <a:gd name="csX6" fmla="*/ 362160 w 724109"/>
                <a:gd name="csY6" fmla="*/ 0 h 724109"/>
                <a:gd name="csX7" fmla="*/ 362160 w 724109"/>
                <a:gd name="csY7" fmla="*/ 705050 h 724109"/>
                <a:gd name="csX8" fmla="*/ 19260 w 724109"/>
                <a:gd name="csY8" fmla="*/ 362455 h 724109"/>
                <a:gd name="csX9" fmla="*/ 113271 w 724109"/>
                <a:gd name="csY9" fmla="*/ 126492 h 724109"/>
                <a:gd name="csX10" fmla="*/ 597741 w 724109"/>
                <a:gd name="csY10" fmla="*/ 610962 h 724109"/>
                <a:gd name="csX11" fmla="*/ 362160 w 724109"/>
                <a:gd name="csY11" fmla="*/ 705050 h 724109"/>
                <a:gd name="csX12" fmla="*/ 611200 w 724109"/>
                <a:gd name="csY12" fmla="*/ 597494 h 724109"/>
                <a:gd name="csX13" fmla="*/ 126740 w 724109"/>
                <a:gd name="csY13" fmla="*/ 113024 h 724109"/>
                <a:gd name="csX14" fmla="*/ 611205 w 724109"/>
                <a:gd name="csY14" fmla="*/ 125945 h 724109"/>
                <a:gd name="csX15" fmla="*/ 611200 w 724109"/>
                <a:gd name="csY15" fmla="*/ 597494 h 724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724109" h="724109">
                  <a:moveTo>
                    <a:pt x="362160" y="0"/>
                  </a:moveTo>
                  <a:cubicBezTo>
                    <a:pt x="162202" y="-58"/>
                    <a:pt x="58" y="161993"/>
                    <a:pt x="0" y="361950"/>
                  </a:cubicBezTo>
                  <a:cubicBezTo>
                    <a:pt x="-58" y="561907"/>
                    <a:pt x="161993" y="724052"/>
                    <a:pt x="361950" y="724110"/>
                  </a:cubicBezTo>
                  <a:cubicBezTo>
                    <a:pt x="561907" y="724168"/>
                    <a:pt x="724051" y="562117"/>
                    <a:pt x="724110" y="362160"/>
                  </a:cubicBezTo>
                  <a:cubicBezTo>
                    <a:pt x="724110" y="362124"/>
                    <a:pt x="724110" y="362090"/>
                    <a:pt x="724110" y="362055"/>
                  </a:cubicBezTo>
                  <a:cubicBezTo>
                    <a:pt x="724220" y="162208"/>
                    <a:pt x="562302" y="111"/>
                    <a:pt x="362455" y="0"/>
                  </a:cubicBezTo>
                  <a:cubicBezTo>
                    <a:pt x="362357" y="0"/>
                    <a:pt x="362258" y="0"/>
                    <a:pt x="362160" y="0"/>
                  </a:cubicBezTo>
                  <a:close/>
                  <a:moveTo>
                    <a:pt x="362160" y="705050"/>
                  </a:moveTo>
                  <a:cubicBezTo>
                    <a:pt x="172865" y="705135"/>
                    <a:pt x="19343" y="551750"/>
                    <a:pt x="19260" y="362455"/>
                  </a:cubicBezTo>
                  <a:cubicBezTo>
                    <a:pt x="19221" y="274663"/>
                    <a:pt x="52870" y="190204"/>
                    <a:pt x="113271" y="126492"/>
                  </a:cubicBezTo>
                  <a:lnTo>
                    <a:pt x="597741" y="610962"/>
                  </a:lnTo>
                  <a:cubicBezTo>
                    <a:pt x="534204" y="671404"/>
                    <a:pt x="449853" y="705092"/>
                    <a:pt x="362160" y="705050"/>
                  </a:cubicBezTo>
                  <a:close/>
                  <a:moveTo>
                    <a:pt x="611200" y="597494"/>
                  </a:moveTo>
                  <a:lnTo>
                    <a:pt x="126740" y="113024"/>
                  </a:lnTo>
                  <a:cubicBezTo>
                    <a:pt x="264089" y="-17189"/>
                    <a:pt x="480992" y="-11404"/>
                    <a:pt x="611205" y="125945"/>
                  </a:cubicBezTo>
                  <a:cubicBezTo>
                    <a:pt x="736536" y="258146"/>
                    <a:pt x="736534" y="465296"/>
                    <a:pt x="611200" y="597494"/>
                  </a:cubicBezTo>
                  <a:close/>
                </a:path>
              </a:pathLst>
            </a:custGeom>
            <a:solidFill>
              <a:srgbClr val="000000"/>
            </a:solidFill>
            <a:ln w="9525" cap="flat">
              <a:noFill/>
              <a:prstDash val="solid"/>
              <a:miter/>
            </a:ln>
          </p:spPr>
          <p:txBody>
            <a:bodyPr/>
            <a:lstStyle/>
            <a:p>
              <a:endParaRPr lang="en-US"/>
            </a:p>
          </p:txBody>
        </p:sp>
      </p:grpSp>
      <p:grpSp>
        <p:nvGrpSpPr>
          <p:cNvPr id="39" name="Group 38">
            <a:extLst>
              <a:ext uri="{FF2B5EF4-FFF2-40B4-BE49-F238E27FC236}">
                <a16:creationId xmlns:a16="http://schemas.microsoft.com/office/drawing/2014/main" id="{51FC063D-7D38-B921-2C5B-1F750893372C}"/>
              </a:ext>
            </a:extLst>
          </p:cNvPr>
          <p:cNvGrpSpPr/>
          <p:nvPr/>
        </p:nvGrpSpPr>
        <p:grpSpPr>
          <a:xfrm>
            <a:off x="4889164" y="4595993"/>
            <a:ext cx="724109" cy="724109"/>
            <a:chOff x="1699051" y="3774248"/>
            <a:chExt cx="724109" cy="724109"/>
          </a:xfrm>
        </p:grpSpPr>
        <p:pic>
          <p:nvPicPr>
            <p:cNvPr id="24" name="Graphic 23" descr="Family with two children outline">
              <a:extLst>
                <a:ext uri="{FF2B5EF4-FFF2-40B4-BE49-F238E27FC236}">
                  <a16:creationId xmlns:a16="http://schemas.microsoft.com/office/drawing/2014/main" id="{1C85D68A-351D-9D31-735E-405E8B364A2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72649" y="3847846"/>
              <a:ext cx="576912" cy="576912"/>
            </a:xfrm>
            <a:prstGeom prst="rect">
              <a:avLst/>
            </a:prstGeom>
          </p:spPr>
        </p:pic>
        <p:sp>
          <p:nvSpPr>
            <p:cNvPr id="34" name="Freeform 33">
              <a:extLst>
                <a:ext uri="{FF2B5EF4-FFF2-40B4-BE49-F238E27FC236}">
                  <a16:creationId xmlns:a16="http://schemas.microsoft.com/office/drawing/2014/main" id="{1F0885B3-B1D4-4153-2391-6C031D938A15}"/>
                </a:ext>
              </a:extLst>
            </p:cNvPr>
            <p:cNvSpPr/>
            <p:nvPr/>
          </p:nvSpPr>
          <p:spPr>
            <a:xfrm>
              <a:off x="1699051" y="3774248"/>
              <a:ext cx="724109" cy="724109"/>
            </a:xfrm>
            <a:custGeom>
              <a:avLst/>
              <a:gdLst>
                <a:gd name="csX0" fmla="*/ 362160 w 724109"/>
                <a:gd name="csY0" fmla="*/ 0 h 724109"/>
                <a:gd name="csX1" fmla="*/ 0 w 724109"/>
                <a:gd name="csY1" fmla="*/ 361950 h 724109"/>
                <a:gd name="csX2" fmla="*/ 361950 w 724109"/>
                <a:gd name="csY2" fmla="*/ 724110 h 724109"/>
                <a:gd name="csX3" fmla="*/ 724110 w 724109"/>
                <a:gd name="csY3" fmla="*/ 362160 h 724109"/>
                <a:gd name="csX4" fmla="*/ 724110 w 724109"/>
                <a:gd name="csY4" fmla="*/ 362055 h 724109"/>
                <a:gd name="csX5" fmla="*/ 362455 w 724109"/>
                <a:gd name="csY5" fmla="*/ 0 h 724109"/>
                <a:gd name="csX6" fmla="*/ 362160 w 724109"/>
                <a:gd name="csY6" fmla="*/ 0 h 724109"/>
                <a:gd name="csX7" fmla="*/ 362160 w 724109"/>
                <a:gd name="csY7" fmla="*/ 705050 h 724109"/>
                <a:gd name="csX8" fmla="*/ 19260 w 724109"/>
                <a:gd name="csY8" fmla="*/ 362455 h 724109"/>
                <a:gd name="csX9" fmla="*/ 113271 w 724109"/>
                <a:gd name="csY9" fmla="*/ 126492 h 724109"/>
                <a:gd name="csX10" fmla="*/ 597741 w 724109"/>
                <a:gd name="csY10" fmla="*/ 610962 h 724109"/>
                <a:gd name="csX11" fmla="*/ 362160 w 724109"/>
                <a:gd name="csY11" fmla="*/ 705050 h 724109"/>
                <a:gd name="csX12" fmla="*/ 611200 w 724109"/>
                <a:gd name="csY12" fmla="*/ 597494 h 724109"/>
                <a:gd name="csX13" fmla="*/ 126740 w 724109"/>
                <a:gd name="csY13" fmla="*/ 113024 h 724109"/>
                <a:gd name="csX14" fmla="*/ 611205 w 724109"/>
                <a:gd name="csY14" fmla="*/ 125945 h 724109"/>
                <a:gd name="csX15" fmla="*/ 611200 w 724109"/>
                <a:gd name="csY15" fmla="*/ 597494 h 724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724109" h="724109">
                  <a:moveTo>
                    <a:pt x="362160" y="0"/>
                  </a:moveTo>
                  <a:cubicBezTo>
                    <a:pt x="162202" y="-58"/>
                    <a:pt x="58" y="161993"/>
                    <a:pt x="0" y="361950"/>
                  </a:cubicBezTo>
                  <a:cubicBezTo>
                    <a:pt x="-58" y="561907"/>
                    <a:pt x="161993" y="724052"/>
                    <a:pt x="361950" y="724110"/>
                  </a:cubicBezTo>
                  <a:cubicBezTo>
                    <a:pt x="561907" y="724168"/>
                    <a:pt x="724051" y="562117"/>
                    <a:pt x="724110" y="362160"/>
                  </a:cubicBezTo>
                  <a:cubicBezTo>
                    <a:pt x="724110" y="362124"/>
                    <a:pt x="724110" y="362090"/>
                    <a:pt x="724110" y="362055"/>
                  </a:cubicBezTo>
                  <a:cubicBezTo>
                    <a:pt x="724220" y="162208"/>
                    <a:pt x="562302" y="111"/>
                    <a:pt x="362455" y="0"/>
                  </a:cubicBezTo>
                  <a:cubicBezTo>
                    <a:pt x="362357" y="0"/>
                    <a:pt x="362258" y="0"/>
                    <a:pt x="362160" y="0"/>
                  </a:cubicBezTo>
                  <a:close/>
                  <a:moveTo>
                    <a:pt x="362160" y="705050"/>
                  </a:moveTo>
                  <a:cubicBezTo>
                    <a:pt x="172865" y="705135"/>
                    <a:pt x="19343" y="551750"/>
                    <a:pt x="19260" y="362455"/>
                  </a:cubicBezTo>
                  <a:cubicBezTo>
                    <a:pt x="19221" y="274663"/>
                    <a:pt x="52870" y="190204"/>
                    <a:pt x="113271" y="126492"/>
                  </a:cubicBezTo>
                  <a:lnTo>
                    <a:pt x="597741" y="610962"/>
                  </a:lnTo>
                  <a:cubicBezTo>
                    <a:pt x="534204" y="671404"/>
                    <a:pt x="449853" y="705092"/>
                    <a:pt x="362160" y="705050"/>
                  </a:cubicBezTo>
                  <a:close/>
                  <a:moveTo>
                    <a:pt x="611200" y="597494"/>
                  </a:moveTo>
                  <a:lnTo>
                    <a:pt x="126740" y="113024"/>
                  </a:lnTo>
                  <a:cubicBezTo>
                    <a:pt x="264089" y="-17189"/>
                    <a:pt x="480992" y="-11404"/>
                    <a:pt x="611205" y="125945"/>
                  </a:cubicBezTo>
                  <a:cubicBezTo>
                    <a:pt x="736536" y="258146"/>
                    <a:pt x="736534" y="465296"/>
                    <a:pt x="611200" y="597494"/>
                  </a:cubicBezTo>
                  <a:close/>
                </a:path>
              </a:pathLst>
            </a:custGeom>
            <a:solidFill>
              <a:srgbClr val="000000"/>
            </a:solidFill>
            <a:ln w="9525" cap="flat">
              <a:noFill/>
              <a:prstDash val="solid"/>
              <a:miter/>
            </a:ln>
          </p:spPr>
          <p:txBody>
            <a:bodyPr/>
            <a:lstStyle/>
            <a:p>
              <a:endParaRPr lang="en-US"/>
            </a:p>
          </p:txBody>
        </p:sp>
      </p:grpSp>
      <p:grpSp>
        <p:nvGrpSpPr>
          <p:cNvPr id="38" name="Group 37">
            <a:extLst>
              <a:ext uri="{FF2B5EF4-FFF2-40B4-BE49-F238E27FC236}">
                <a16:creationId xmlns:a16="http://schemas.microsoft.com/office/drawing/2014/main" id="{88108302-5B81-6271-74C7-163AB4F9E895}"/>
              </a:ext>
            </a:extLst>
          </p:cNvPr>
          <p:cNvGrpSpPr/>
          <p:nvPr/>
        </p:nvGrpSpPr>
        <p:grpSpPr>
          <a:xfrm>
            <a:off x="3722542" y="3906268"/>
            <a:ext cx="724109" cy="724109"/>
            <a:chOff x="4731707" y="5050322"/>
            <a:chExt cx="724109" cy="724109"/>
          </a:xfrm>
        </p:grpSpPr>
        <p:pic>
          <p:nvPicPr>
            <p:cNvPr id="36" name="Graphic 35" descr="Scale outline">
              <a:extLst>
                <a:ext uri="{FF2B5EF4-FFF2-40B4-BE49-F238E27FC236}">
                  <a16:creationId xmlns:a16="http://schemas.microsoft.com/office/drawing/2014/main" id="{681E78BE-1D51-4413-5F03-51C145BAA5D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85403" y="5104018"/>
              <a:ext cx="616716" cy="616716"/>
            </a:xfrm>
            <a:prstGeom prst="rect">
              <a:avLst/>
            </a:prstGeom>
          </p:spPr>
        </p:pic>
        <p:sp>
          <p:nvSpPr>
            <p:cNvPr id="37" name="Freeform 36">
              <a:extLst>
                <a:ext uri="{FF2B5EF4-FFF2-40B4-BE49-F238E27FC236}">
                  <a16:creationId xmlns:a16="http://schemas.microsoft.com/office/drawing/2014/main" id="{7C1FE35B-CE1A-E912-6987-A607C458B82A}"/>
                </a:ext>
              </a:extLst>
            </p:cNvPr>
            <p:cNvSpPr/>
            <p:nvPr/>
          </p:nvSpPr>
          <p:spPr>
            <a:xfrm>
              <a:off x="4731707" y="5050322"/>
              <a:ext cx="724109" cy="724109"/>
            </a:xfrm>
            <a:custGeom>
              <a:avLst/>
              <a:gdLst>
                <a:gd name="csX0" fmla="*/ 362160 w 724109"/>
                <a:gd name="csY0" fmla="*/ 0 h 724109"/>
                <a:gd name="csX1" fmla="*/ 0 w 724109"/>
                <a:gd name="csY1" fmla="*/ 361950 h 724109"/>
                <a:gd name="csX2" fmla="*/ 361950 w 724109"/>
                <a:gd name="csY2" fmla="*/ 724110 h 724109"/>
                <a:gd name="csX3" fmla="*/ 724110 w 724109"/>
                <a:gd name="csY3" fmla="*/ 362160 h 724109"/>
                <a:gd name="csX4" fmla="*/ 724110 w 724109"/>
                <a:gd name="csY4" fmla="*/ 362055 h 724109"/>
                <a:gd name="csX5" fmla="*/ 362455 w 724109"/>
                <a:gd name="csY5" fmla="*/ 0 h 724109"/>
                <a:gd name="csX6" fmla="*/ 362160 w 724109"/>
                <a:gd name="csY6" fmla="*/ 0 h 724109"/>
                <a:gd name="csX7" fmla="*/ 362160 w 724109"/>
                <a:gd name="csY7" fmla="*/ 705050 h 724109"/>
                <a:gd name="csX8" fmla="*/ 19260 w 724109"/>
                <a:gd name="csY8" fmla="*/ 362455 h 724109"/>
                <a:gd name="csX9" fmla="*/ 113271 w 724109"/>
                <a:gd name="csY9" fmla="*/ 126492 h 724109"/>
                <a:gd name="csX10" fmla="*/ 597741 w 724109"/>
                <a:gd name="csY10" fmla="*/ 610962 h 724109"/>
                <a:gd name="csX11" fmla="*/ 362160 w 724109"/>
                <a:gd name="csY11" fmla="*/ 705050 h 724109"/>
                <a:gd name="csX12" fmla="*/ 611200 w 724109"/>
                <a:gd name="csY12" fmla="*/ 597494 h 724109"/>
                <a:gd name="csX13" fmla="*/ 126740 w 724109"/>
                <a:gd name="csY13" fmla="*/ 113024 h 724109"/>
                <a:gd name="csX14" fmla="*/ 611205 w 724109"/>
                <a:gd name="csY14" fmla="*/ 125945 h 724109"/>
                <a:gd name="csX15" fmla="*/ 611200 w 724109"/>
                <a:gd name="csY15" fmla="*/ 597494 h 724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724109" h="724109">
                  <a:moveTo>
                    <a:pt x="362160" y="0"/>
                  </a:moveTo>
                  <a:cubicBezTo>
                    <a:pt x="162202" y="-58"/>
                    <a:pt x="58" y="161993"/>
                    <a:pt x="0" y="361950"/>
                  </a:cubicBezTo>
                  <a:cubicBezTo>
                    <a:pt x="-58" y="561907"/>
                    <a:pt x="161993" y="724052"/>
                    <a:pt x="361950" y="724110"/>
                  </a:cubicBezTo>
                  <a:cubicBezTo>
                    <a:pt x="561907" y="724168"/>
                    <a:pt x="724051" y="562117"/>
                    <a:pt x="724110" y="362160"/>
                  </a:cubicBezTo>
                  <a:cubicBezTo>
                    <a:pt x="724110" y="362124"/>
                    <a:pt x="724110" y="362090"/>
                    <a:pt x="724110" y="362055"/>
                  </a:cubicBezTo>
                  <a:cubicBezTo>
                    <a:pt x="724220" y="162208"/>
                    <a:pt x="562302" y="111"/>
                    <a:pt x="362455" y="0"/>
                  </a:cubicBezTo>
                  <a:cubicBezTo>
                    <a:pt x="362357" y="0"/>
                    <a:pt x="362258" y="0"/>
                    <a:pt x="362160" y="0"/>
                  </a:cubicBezTo>
                  <a:close/>
                  <a:moveTo>
                    <a:pt x="362160" y="705050"/>
                  </a:moveTo>
                  <a:cubicBezTo>
                    <a:pt x="172865" y="705135"/>
                    <a:pt x="19343" y="551750"/>
                    <a:pt x="19260" y="362455"/>
                  </a:cubicBezTo>
                  <a:cubicBezTo>
                    <a:pt x="19221" y="274663"/>
                    <a:pt x="52870" y="190204"/>
                    <a:pt x="113271" y="126492"/>
                  </a:cubicBezTo>
                  <a:lnTo>
                    <a:pt x="597741" y="610962"/>
                  </a:lnTo>
                  <a:cubicBezTo>
                    <a:pt x="534204" y="671404"/>
                    <a:pt x="449853" y="705092"/>
                    <a:pt x="362160" y="705050"/>
                  </a:cubicBezTo>
                  <a:close/>
                  <a:moveTo>
                    <a:pt x="611200" y="597494"/>
                  </a:moveTo>
                  <a:lnTo>
                    <a:pt x="126740" y="113024"/>
                  </a:lnTo>
                  <a:cubicBezTo>
                    <a:pt x="264089" y="-17189"/>
                    <a:pt x="480992" y="-11404"/>
                    <a:pt x="611205" y="125945"/>
                  </a:cubicBezTo>
                  <a:cubicBezTo>
                    <a:pt x="736536" y="258146"/>
                    <a:pt x="736534" y="465296"/>
                    <a:pt x="611200" y="597494"/>
                  </a:cubicBezTo>
                  <a:close/>
                </a:path>
              </a:pathLst>
            </a:custGeom>
            <a:solidFill>
              <a:srgbClr val="000000"/>
            </a:solidFill>
            <a:ln w="9525" cap="flat">
              <a:noFill/>
              <a:prstDash val="solid"/>
              <a:miter/>
            </a:ln>
          </p:spPr>
          <p:txBody>
            <a:bodyPr/>
            <a:lstStyle/>
            <a:p>
              <a:endParaRPr lang="en-US"/>
            </a:p>
          </p:txBody>
        </p:sp>
      </p:grpSp>
    </p:spTree>
    <p:extLst>
      <p:ext uri="{BB962C8B-B14F-4D97-AF65-F5344CB8AC3E}">
        <p14:creationId xmlns:p14="http://schemas.microsoft.com/office/powerpoint/2010/main" val="1786442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1EADA"/>
        </a:solidFill>
        <a:effectLst/>
      </p:bgPr>
    </p:bg>
    <p:spTree>
      <p:nvGrpSpPr>
        <p:cNvPr id="1" name=""/>
        <p:cNvGrpSpPr/>
        <p:nvPr/>
      </p:nvGrpSpPr>
      <p:grpSpPr>
        <a:xfrm>
          <a:off x="0" y="0"/>
          <a:ext cx="0" cy="0"/>
          <a:chOff x="0" y="0"/>
          <a:chExt cx="0" cy="0"/>
        </a:xfrm>
      </p:grpSpPr>
      <p:sp>
        <p:nvSpPr>
          <p:cNvPr id="5" name="Shape 3"/>
          <p:cNvSpPr/>
          <p:nvPr/>
        </p:nvSpPr>
        <p:spPr>
          <a:xfrm>
            <a:off x="502920" y="1325880"/>
            <a:ext cx="11155680" cy="1051560"/>
          </a:xfrm>
          <a:prstGeom prst="rect">
            <a:avLst/>
          </a:prstGeom>
          <a:solidFill>
            <a:srgbClr val="1C2A22"/>
          </a:solidFill>
          <a:ln/>
          <a:effectLst>
            <a:outerShdw blurRad="50800" dist="38100" dir="8100000" algn="tr" rotWithShape="0">
              <a:prstClr val="black">
                <a:alpha val="40000"/>
              </a:prstClr>
            </a:outerShdw>
          </a:effectLst>
        </p:spPr>
        <p:txBody>
          <a:bodyPr/>
          <a:lstStyle/>
          <a:p>
            <a:endParaRPr lang="en-US"/>
          </a:p>
        </p:txBody>
      </p:sp>
      <p:pic>
        <p:nvPicPr>
          <p:cNvPr id="24" name="Picture 23">
            <a:extLst>
              <a:ext uri="{FF2B5EF4-FFF2-40B4-BE49-F238E27FC236}">
                <a16:creationId xmlns:a16="http://schemas.microsoft.com/office/drawing/2014/main" id="{A1AF6034-47A4-65AA-B583-80DC5FF3CECB}"/>
              </a:ext>
            </a:extLst>
          </p:cNvPr>
          <p:cNvPicPr>
            <a:picLocks noChangeAspect="1"/>
          </p:cNvPicPr>
          <p:nvPr/>
        </p:nvPicPr>
        <p:blipFill>
          <a:blip r:embed="rId3">
            <a:duotone>
              <a:prstClr val="black"/>
              <a:srgbClr val="314A3D">
                <a:alpha val="1176"/>
                <a:tint val="45000"/>
                <a:satMod val="400000"/>
              </a:srgbClr>
            </a:duotone>
            <a:alphaModFix amt="18000"/>
          </a:blip>
          <a:srcRect r="10299" b="23389"/>
          <a:stretch>
            <a:fillRect/>
          </a:stretch>
        </p:blipFill>
        <p:spPr>
          <a:xfrm>
            <a:off x="3989741" y="512064"/>
            <a:ext cx="8202259" cy="6345936"/>
          </a:xfrm>
          <a:prstGeom prst="rect">
            <a:avLst/>
          </a:prstGeom>
        </p:spPr>
      </p:pic>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THE EQUATION</a:t>
            </a:r>
            <a:endParaRPr lang="en-US" sz="1100" dirty="0"/>
          </a:p>
        </p:txBody>
      </p:sp>
      <p:sp>
        <p:nvSpPr>
          <p:cNvPr id="6" name="Text 4"/>
          <p:cNvSpPr/>
          <p:nvPr/>
        </p:nvSpPr>
        <p:spPr>
          <a:xfrm>
            <a:off x="685800" y="1463040"/>
            <a:ext cx="10789920" cy="777240"/>
          </a:xfrm>
          <a:prstGeom prst="rect">
            <a:avLst/>
          </a:prstGeom>
          <a:noFill/>
          <a:ln/>
        </p:spPr>
        <p:txBody>
          <a:bodyPr wrap="square" lIns="0" tIns="0" rIns="0" bIns="0" rtlCol="0" anchor="ctr"/>
          <a:lstStyle/>
          <a:p>
            <a:pPr marL="0" indent="0">
              <a:buNone/>
            </a:pPr>
            <a:r>
              <a:rPr lang="en-US" sz="2000" dirty="0">
                <a:solidFill>
                  <a:srgbClr val="F1EADA"/>
                </a:solidFill>
                <a:latin typeface="Georgia" pitchFamily="34" charset="0"/>
                <a:ea typeface="Georgia" pitchFamily="34" charset="-122"/>
                <a:cs typeface="Georgia" pitchFamily="34" charset="-120"/>
              </a:rPr>
              <a:t>Charges  =  age  +  children  +  BMI  +  smoker  +  (BMI × smoker)  +  region</a:t>
            </a:r>
            <a:endParaRPr lang="en-US" sz="2000" dirty="0"/>
          </a:p>
        </p:txBody>
      </p:sp>
      <p:sp>
        <p:nvSpPr>
          <p:cNvPr id="7" name="Text 5"/>
          <p:cNvSpPr/>
          <p:nvPr/>
        </p:nvSpPr>
        <p:spPr>
          <a:xfrm>
            <a:off x="502920" y="2560320"/>
            <a:ext cx="11155680" cy="548640"/>
          </a:xfrm>
          <a:prstGeom prst="rect">
            <a:avLst/>
          </a:prstGeom>
          <a:noFill/>
          <a:ln/>
        </p:spPr>
        <p:txBody>
          <a:bodyPr wrap="square" lIns="0" tIns="0" rIns="0" bIns="0" rtlCol="0" anchor="ctr"/>
          <a:lstStyle/>
          <a:p>
            <a:pPr marL="0" indent="0">
              <a:buNone/>
            </a:pPr>
            <a:r>
              <a:rPr lang="en-US" sz="1600" dirty="0">
                <a:solidFill>
                  <a:srgbClr val="4E463C"/>
                </a:solidFill>
                <a:latin typeface="Calibri" pitchFamily="34" charset="0"/>
                <a:ea typeface="Calibri" pitchFamily="34" charset="-122"/>
                <a:cs typeface="Calibri" pitchFamily="34" charset="-120"/>
              </a:rPr>
              <a:t>Non-smoker and northeast are the reference. </a:t>
            </a:r>
            <a:endParaRPr lang="en-US" sz="1600" dirty="0"/>
          </a:p>
        </p:txBody>
      </p:sp>
      <p:sp>
        <p:nvSpPr>
          <p:cNvPr id="8" name="Text 6"/>
          <p:cNvSpPr/>
          <p:nvPr/>
        </p:nvSpPr>
        <p:spPr>
          <a:xfrm>
            <a:off x="502920" y="3246120"/>
            <a:ext cx="1371600" cy="347472"/>
          </a:xfrm>
          <a:prstGeom prst="rect">
            <a:avLst/>
          </a:prstGeom>
          <a:noFill/>
          <a:ln/>
        </p:spPr>
        <p:txBody>
          <a:bodyPr wrap="square" lIns="0" tIns="0" rIns="0" bIns="0" rtlCol="0" anchor="ctr"/>
          <a:lstStyle/>
          <a:p>
            <a:pPr marL="0" indent="0">
              <a:buNone/>
            </a:pPr>
            <a:r>
              <a:rPr lang="en-US" sz="1400" b="1" dirty="0">
                <a:solidFill>
                  <a:srgbClr val="1C2A22"/>
                </a:solidFill>
                <a:latin typeface="Calibri" pitchFamily="34" charset="0"/>
                <a:ea typeface="Calibri" pitchFamily="34" charset="-122"/>
                <a:cs typeface="Calibri" pitchFamily="34" charset="-120"/>
              </a:rPr>
              <a:t>Kept</a:t>
            </a:r>
            <a:endParaRPr lang="en-US" sz="1400" dirty="0"/>
          </a:p>
        </p:txBody>
      </p:sp>
      <p:sp>
        <p:nvSpPr>
          <p:cNvPr id="9" name="Text 7"/>
          <p:cNvSpPr/>
          <p:nvPr/>
        </p:nvSpPr>
        <p:spPr>
          <a:xfrm>
            <a:off x="1965960" y="3246120"/>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Age, one slope for both groups</a:t>
            </a:r>
            <a:endParaRPr lang="en-US" sz="1500" dirty="0"/>
          </a:p>
        </p:txBody>
      </p:sp>
      <p:sp>
        <p:nvSpPr>
          <p:cNvPr id="10" name="Text 8"/>
          <p:cNvSpPr/>
          <p:nvPr/>
        </p:nvSpPr>
        <p:spPr>
          <a:xfrm>
            <a:off x="502920" y="3630168"/>
            <a:ext cx="1371600" cy="347472"/>
          </a:xfrm>
          <a:prstGeom prst="rect">
            <a:avLst/>
          </a:prstGeom>
          <a:noFill/>
          <a:ln/>
        </p:spPr>
        <p:txBody>
          <a:bodyPr wrap="square" lIns="0" tIns="0" rIns="0" bIns="0" rtlCol="0" anchor="ctr"/>
          <a:lstStyle/>
          <a:p>
            <a:pPr marL="0" indent="0">
              <a:buNone/>
            </a:pPr>
            <a:r>
              <a:rPr lang="en-US" sz="1400" b="1" dirty="0">
                <a:solidFill>
                  <a:srgbClr val="1C2A22"/>
                </a:solidFill>
                <a:latin typeface="Calibri" pitchFamily="34" charset="0"/>
                <a:ea typeface="Calibri" pitchFamily="34" charset="-122"/>
                <a:cs typeface="Calibri" pitchFamily="34" charset="-120"/>
              </a:rPr>
              <a:t>Kept</a:t>
            </a:r>
            <a:endParaRPr lang="en-US" sz="1400" dirty="0"/>
          </a:p>
        </p:txBody>
      </p:sp>
      <p:sp>
        <p:nvSpPr>
          <p:cNvPr id="11" name="Text 9"/>
          <p:cNvSpPr/>
          <p:nvPr/>
        </p:nvSpPr>
        <p:spPr>
          <a:xfrm>
            <a:off x="1965960" y="3630168"/>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Children, about $512 each</a:t>
            </a:r>
            <a:endParaRPr lang="en-US" sz="1500" dirty="0"/>
          </a:p>
        </p:txBody>
      </p:sp>
      <p:sp>
        <p:nvSpPr>
          <p:cNvPr id="12" name="Text 10"/>
          <p:cNvSpPr/>
          <p:nvPr/>
        </p:nvSpPr>
        <p:spPr>
          <a:xfrm>
            <a:off x="502920" y="4014216"/>
            <a:ext cx="1371600" cy="347472"/>
          </a:xfrm>
          <a:prstGeom prst="rect">
            <a:avLst/>
          </a:prstGeom>
          <a:noFill/>
          <a:ln/>
        </p:spPr>
        <p:txBody>
          <a:bodyPr wrap="square" lIns="0" tIns="0" rIns="0" bIns="0" rtlCol="0" anchor="ctr"/>
          <a:lstStyle/>
          <a:p>
            <a:pPr marL="0" indent="0">
              <a:buNone/>
            </a:pPr>
            <a:r>
              <a:rPr lang="en-US" sz="1400" b="1" dirty="0">
                <a:solidFill>
                  <a:srgbClr val="1C2A22"/>
                </a:solidFill>
                <a:latin typeface="Calibri" pitchFamily="34" charset="0"/>
                <a:ea typeface="Calibri" pitchFamily="34" charset="-122"/>
                <a:cs typeface="Calibri" pitchFamily="34" charset="-120"/>
              </a:rPr>
              <a:t>Kept</a:t>
            </a:r>
            <a:endParaRPr lang="en-US" sz="1400" dirty="0"/>
          </a:p>
        </p:txBody>
      </p:sp>
      <p:sp>
        <p:nvSpPr>
          <p:cNvPr id="13" name="Text 11"/>
          <p:cNvSpPr/>
          <p:nvPr/>
        </p:nvSpPr>
        <p:spPr>
          <a:xfrm>
            <a:off x="1965960" y="4014216"/>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A BMI slope only where it exists: smokers</a:t>
            </a:r>
            <a:endParaRPr lang="en-US" sz="1500" dirty="0"/>
          </a:p>
        </p:txBody>
      </p:sp>
      <p:sp>
        <p:nvSpPr>
          <p:cNvPr id="14" name="Text 12"/>
          <p:cNvSpPr/>
          <p:nvPr/>
        </p:nvSpPr>
        <p:spPr>
          <a:xfrm>
            <a:off x="502920" y="4398264"/>
            <a:ext cx="1371600" cy="347472"/>
          </a:xfrm>
          <a:prstGeom prst="rect">
            <a:avLst/>
          </a:prstGeom>
          <a:noFill/>
          <a:ln/>
        </p:spPr>
        <p:txBody>
          <a:bodyPr wrap="square" lIns="0" tIns="0" rIns="0" bIns="0" rtlCol="0" anchor="ctr"/>
          <a:lstStyle/>
          <a:p>
            <a:pPr marL="0" indent="0">
              <a:buNone/>
            </a:pPr>
            <a:r>
              <a:rPr lang="en-US" sz="1400" b="1" dirty="0">
                <a:solidFill>
                  <a:srgbClr val="1C2A22"/>
                </a:solidFill>
                <a:latin typeface="Calibri" pitchFamily="34" charset="0"/>
                <a:ea typeface="Calibri" pitchFamily="34" charset="-122"/>
                <a:cs typeface="Calibri" pitchFamily="34" charset="-120"/>
              </a:rPr>
              <a:t>Kept</a:t>
            </a:r>
            <a:endParaRPr lang="en-US" sz="1400" dirty="0"/>
          </a:p>
        </p:txBody>
      </p:sp>
      <p:sp>
        <p:nvSpPr>
          <p:cNvPr id="15" name="Text 13"/>
          <p:cNvSpPr/>
          <p:nvPr/>
        </p:nvSpPr>
        <p:spPr>
          <a:xfrm>
            <a:off x="1965960" y="4398264"/>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Region as a level shift</a:t>
            </a:r>
            <a:endParaRPr lang="en-US" sz="1500" dirty="0"/>
          </a:p>
        </p:txBody>
      </p:sp>
      <p:sp>
        <p:nvSpPr>
          <p:cNvPr id="16" name="Text 14"/>
          <p:cNvSpPr/>
          <p:nvPr/>
        </p:nvSpPr>
        <p:spPr>
          <a:xfrm>
            <a:off x="502920" y="4782312"/>
            <a:ext cx="1371600" cy="347472"/>
          </a:xfrm>
          <a:prstGeom prst="rect">
            <a:avLst/>
          </a:prstGeom>
          <a:noFill/>
          <a:ln/>
        </p:spPr>
        <p:txBody>
          <a:bodyPr wrap="square" lIns="0" tIns="0" rIns="0" bIns="0" rtlCol="0" anchor="ctr"/>
          <a:lstStyle/>
          <a:p>
            <a:pPr marL="0" indent="0">
              <a:buNone/>
            </a:pPr>
            <a:r>
              <a:rPr lang="en-US" sz="1400" b="1" dirty="0">
                <a:solidFill>
                  <a:srgbClr val="8B1E2C"/>
                </a:solidFill>
                <a:latin typeface="Calibri" pitchFamily="34" charset="0"/>
                <a:ea typeface="Calibri" pitchFamily="34" charset="-122"/>
                <a:cs typeface="Calibri" pitchFamily="34" charset="-120"/>
              </a:rPr>
              <a:t>Left out</a:t>
            </a:r>
            <a:endParaRPr lang="en-US" sz="1400" dirty="0"/>
          </a:p>
        </p:txBody>
      </p:sp>
      <p:sp>
        <p:nvSpPr>
          <p:cNvPr id="17" name="Text 15"/>
          <p:cNvSpPr/>
          <p:nvPr/>
        </p:nvSpPr>
        <p:spPr>
          <a:xfrm>
            <a:off x="1965960" y="4782312"/>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Sex. p = 0.062 after other facts</a:t>
            </a:r>
            <a:endParaRPr lang="en-US" sz="1500" dirty="0"/>
          </a:p>
        </p:txBody>
      </p:sp>
      <p:sp>
        <p:nvSpPr>
          <p:cNvPr id="18" name="Text 16"/>
          <p:cNvSpPr/>
          <p:nvPr/>
        </p:nvSpPr>
        <p:spPr>
          <a:xfrm>
            <a:off x="502920" y="5166360"/>
            <a:ext cx="1371600" cy="347472"/>
          </a:xfrm>
          <a:prstGeom prst="rect">
            <a:avLst/>
          </a:prstGeom>
          <a:noFill/>
          <a:ln/>
        </p:spPr>
        <p:txBody>
          <a:bodyPr wrap="square" lIns="0" tIns="0" rIns="0" bIns="0" rtlCol="0" anchor="ctr"/>
          <a:lstStyle/>
          <a:p>
            <a:pPr marL="0" indent="0">
              <a:buNone/>
            </a:pPr>
            <a:r>
              <a:rPr lang="en-US" sz="1400" b="1" dirty="0">
                <a:solidFill>
                  <a:srgbClr val="8B1E2C"/>
                </a:solidFill>
                <a:latin typeface="Calibri" pitchFamily="34" charset="0"/>
                <a:ea typeface="Calibri" pitchFamily="34" charset="-122"/>
                <a:cs typeface="Calibri" pitchFamily="34" charset="-120"/>
              </a:rPr>
              <a:t>Left out</a:t>
            </a:r>
            <a:endParaRPr lang="en-US" sz="1400" dirty="0"/>
          </a:p>
        </p:txBody>
      </p:sp>
      <p:sp>
        <p:nvSpPr>
          <p:cNvPr id="19" name="Text 17"/>
          <p:cNvSpPr/>
          <p:nvPr/>
        </p:nvSpPr>
        <p:spPr>
          <a:xfrm>
            <a:off x="1965960" y="5166360"/>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A different smoker gap by region. p = 0.31</a:t>
            </a:r>
            <a:endParaRPr lang="en-US" sz="1500" dirty="0"/>
          </a:p>
        </p:txBody>
      </p:sp>
      <p:sp>
        <p:nvSpPr>
          <p:cNvPr id="20" name="Text 18"/>
          <p:cNvSpPr/>
          <p:nvPr/>
        </p:nvSpPr>
        <p:spPr>
          <a:xfrm>
            <a:off x="502920" y="5550408"/>
            <a:ext cx="1371600" cy="347472"/>
          </a:xfrm>
          <a:prstGeom prst="rect">
            <a:avLst/>
          </a:prstGeom>
          <a:noFill/>
          <a:ln/>
        </p:spPr>
        <p:txBody>
          <a:bodyPr wrap="square" lIns="0" tIns="0" rIns="0" bIns="0" rtlCol="0" anchor="ctr"/>
          <a:lstStyle/>
          <a:p>
            <a:pPr marL="0" indent="0">
              <a:buNone/>
            </a:pPr>
            <a:r>
              <a:rPr lang="en-US" sz="1400" b="1" dirty="0">
                <a:solidFill>
                  <a:srgbClr val="8B1E2C"/>
                </a:solidFill>
                <a:latin typeface="Calibri" pitchFamily="34" charset="0"/>
                <a:ea typeface="Calibri" pitchFamily="34" charset="-122"/>
                <a:cs typeface="Calibri" pitchFamily="34" charset="-120"/>
              </a:rPr>
              <a:t>Left out</a:t>
            </a:r>
            <a:endParaRPr lang="en-US" sz="1400" dirty="0"/>
          </a:p>
        </p:txBody>
      </p:sp>
      <p:sp>
        <p:nvSpPr>
          <p:cNvPr id="21" name="Text 19"/>
          <p:cNvSpPr/>
          <p:nvPr/>
        </p:nvSpPr>
        <p:spPr>
          <a:xfrm>
            <a:off x="1965960" y="5550408"/>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A different age slope by region, or by smoker</a:t>
            </a:r>
            <a:endParaRPr lang="en-US" sz="1500" dirty="0"/>
          </a:p>
        </p:txBody>
      </p:sp>
      <p:sp>
        <p:nvSpPr>
          <p:cNvPr id="22" name="Text 20"/>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23" name="Text 21"/>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06  /  15</a:t>
            </a:r>
            <a:endParaRPr lang="en-US" sz="1000" dirty="0"/>
          </a:p>
        </p:txBody>
      </p:sp>
      <p:sp>
        <p:nvSpPr>
          <p:cNvPr id="27" name="Text 2">
            <a:extLst>
              <a:ext uri="{FF2B5EF4-FFF2-40B4-BE49-F238E27FC236}">
                <a16:creationId xmlns:a16="http://schemas.microsoft.com/office/drawing/2014/main" id="{2E943105-53DB-BC8A-BDD5-FFA5D6DABD6D}"/>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ea typeface="Georgia" pitchFamily="34" charset="-122"/>
                <a:cs typeface="Georgia" pitchFamily="34" charset="-120"/>
              </a:rPr>
              <a:t>The equation we would defend.</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THE EQUATION</a:t>
            </a:r>
            <a:endParaRPr lang="en-US" sz="1100" dirty="0"/>
          </a:p>
        </p:txBody>
      </p:sp>
      <p:pic>
        <p:nvPicPr>
          <p:cNvPr id="5" name="Image 0"/>
          <p:cNvPicPr>
            <a:picLocks noChangeAspect="1"/>
          </p:cNvPicPr>
          <p:nvPr/>
        </p:nvPicPr>
        <p:blipFill>
          <a:blip r:embed="rId3"/>
          <a:srcRect t="-1040" b="-655"/>
          <a:stretch>
            <a:fillRect/>
          </a:stretch>
        </p:blipFill>
        <p:spPr>
          <a:xfrm>
            <a:off x="365760" y="1325880"/>
            <a:ext cx="6537960" cy="3485963"/>
          </a:xfrm>
          <a:prstGeom prst="round2DiagRect">
            <a:avLst/>
          </a:prstGeom>
          <a:effectLst>
            <a:outerShdw blurRad="50800" dist="38100" dir="8100000" algn="tr" rotWithShape="0">
              <a:prstClr val="black">
                <a:alpha val="40000"/>
              </a:prstClr>
            </a:outerShdw>
          </a:effectLst>
        </p:spPr>
      </p:pic>
      <p:sp>
        <p:nvSpPr>
          <p:cNvPr id="6" name="Text 3"/>
          <p:cNvSpPr/>
          <p:nvPr/>
        </p:nvSpPr>
        <p:spPr>
          <a:xfrm>
            <a:off x="7132320" y="1325880"/>
            <a:ext cx="4572000" cy="411480"/>
          </a:xfrm>
          <a:prstGeom prst="rect">
            <a:avLst/>
          </a:prstGeom>
          <a:noFill/>
          <a:ln/>
        </p:spPr>
        <p:txBody>
          <a:bodyPr wrap="square" lIns="0" tIns="0" rIns="0" bIns="0" rtlCol="0" anchor="ctr"/>
          <a:lstStyle/>
          <a:p>
            <a:pPr marL="0" indent="0">
              <a:buNone/>
            </a:pPr>
            <a:r>
              <a:rPr lang="en-US" sz="2600" dirty="0">
                <a:solidFill>
                  <a:srgbClr val="1C2A22"/>
                </a:solidFill>
                <a:latin typeface="Georgia" pitchFamily="34" charset="0"/>
                <a:ea typeface="Georgia" pitchFamily="34" charset="-122"/>
                <a:cs typeface="Georgia" pitchFamily="34" charset="-120"/>
              </a:rPr>
              <a:t>$5,717</a:t>
            </a:r>
            <a:endParaRPr lang="en-US" sz="2600" dirty="0"/>
          </a:p>
        </p:txBody>
      </p:sp>
      <p:sp>
        <p:nvSpPr>
          <p:cNvPr id="7" name="Text 4"/>
          <p:cNvSpPr/>
          <p:nvPr/>
        </p:nvSpPr>
        <p:spPr>
          <a:xfrm>
            <a:off x="7132320" y="1764792"/>
            <a:ext cx="4572000" cy="77724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Smoker residual SD.</a:t>
            </a:r>
            <a:endParaRPr lang="en-US" sz="1500" dirty="0"/>
          </a:p>
        </p:txBody>
      </p:sp>
      <p:sp>
        <p:nvSpPr>
          <p:cNvPr id="8" name="Text 5"/>
          <p:cNvSpPr/>
          <p:nvPr/>
        </p:nvSpPr>
        <p:spPr>
          <a:xfrm>
            <a:off x="7132320" y="2743200"/>
            <a:ext cx="4572000" cy="411480"/>
          </a:xfrm>
          <a:prstGeom prst="rect">
            <a:avLst/>
          </a:prstGeom>
          <a:noFill/>
          <a:ln/>
        </p:spPr>
        <p:txBody>
          <a:bodyPr wrap="square" lIns="0" tIns="0" rIns="0" bIns="0" rtlCol="0" anchor="ctr"/>
          <a:lstStyle/>
          <a:p>
            <a:pPr marL="0" indent="0">
              <a:buNone/>
            </a:pPr>
            <a:r>
              <a:rPr lang="en-US" sz="2600" dirty="0">
                <a:solidFill>
                  <a:srgbClr val="1C2A22"/>
                </a:solidFill>
                <a:latin typeface="Georgia" pitchFamily="34" charset="0"/>
                <a:ea typeface="Georgia" pitchFamily="34" charset="-122"/>
                <a:cs typeface="Georgia" pitchFamily="34" charset="-120"/>
              </a:rPr>
              <a:t>$4,588</a:t>
            </a:r>
            <a:endParaRPr lang="en-US" sz="2600" dirty="0"/>
          </a:p>
        </p:txBody>
      </p:sp>
      <p:sp>
        <p:nvSpPr>
          <p:cNvPr id="9" name="Text 6"/>
          <p:cNvSpPr/>
          <p:nvPr/>
        </p:nvSpPr>
        <p:spPr>
          <a:xfrm>
            <a:off x="7132320" y="3182112"/>
            <a:ext cx="4572000" cy="77724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Non-smoker residual SD.</a:t>
            </a:r>
            <a:endParaRPr lang="en-US" sz="1500" dirty="0"/>
          </a:p>
        </p:txBody>
      </p:sp>
      <p:sp>
        <p:nvSpPr>
          <p:cNvPr id="10" name="Text 7"/>
          <p:cNvSpPr/>
          <p:nvPr/>
        </p:nvSpPr>
        <p:spPr>
          <a:xfrm>
            <a:off x="7132320" y="4160520"/>
            <a:ext cx="4572000" cy="411480"/>
          </a:xfrm>
          <a:prstGeom prst="rect">
            <a:avLst/>
          </a:prstGeom>
          <a:noFill/>
          <a:ln/>
        </p:spPr>
        <p:txBody>
          <a:bodyPr wrap="square" lIns="0" tIns="0" rIns="0" bIns="0" rtlCol="0" anchor="ctr"/>
          <a:lstStyle/>
          <a:p>
            <a:pPr marL="0" indent="0">
              <a:buNone/>
            </a:pPr>
            <a:r>
              <a:rPr lang="en-US" sz="2600" dirty="0">
                <a:solidFill>
                  <a:srgbClr val="1C2A22"/>
                </a:solidFill>
                <a:latin typeface="Georgia" pitchFamily="34" charset="0"/>
                <a:ea typeface="Georgia" pitchFamily="34" charset="-122"/>
                <a:cs typeface="Georgia" pitchFamily="34" charset="-120"/>
              </a:rPr>
              <a:t>48 people</a:t>
            </a:r>
            <a:endParaRPr lang="en-US" sz="2600" dirty="0"/>
          </a:p>
        </p:txBody>
      </p:sp>
      <p:sp>
        <p:nvSpPr>
          <p:cNvPr id="11" name="Text 8"/>
          <p:cNvSpPr/>
          <p:nvPr/>
        </p:nvSpPr>
        <p:spPr>
          <a:xfrm>
            <a:off x="7132320" y="4599432"/>
            <a:ext cx="4572000" cy="77724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Studentized residual beyond 3. Almost all are non-smokers. Nothing in the file explains them.</a:t>
            </a:r>
            <a:endParaRPr lang="en-US" sz="1500" dirty="0"/>
          </a:p>
        </p:txBody>
      </p:sp>
      <p:sp>
        <p:nvSpPr>
          <p:cNvPr id="12" name="Text 9"/>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13" name="Text 10"/>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08  /  15</a:t>
            </a:r>
            <a:endParaRPr lang="en-US" sz="1000" dirty="0"/>
          </a:p>
        </p:txBody>
      </p:sp>
      <p:sp>
        <p:nvSpPr>
          <p:cNvPr id="15" name="Text 2">
            <a:extLst>
              <a:ext uri="{FF2B5EF4-FFF2-40B4-BE49-F238E27FC236}">
                <a16:creationId xmlns:a16="http://schemas.microsoft.com/office/drawing/2014/main" id="{1D88A589-B9A2-72F3-153A-0D7E2667F59E}"/>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ea typeface="Georgia" pitchFamily="34" charset="-122"/>
                <a:cs typeface="Georgia" pitchFamily="34" charset="-120"/>
              </a:rPr>
              <a:t>Unique variation</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PRICING THE NEXT CUSTOMER</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83619015"/>
              </p:ext>
            </p:extLst>
          </p:nvPr>
        </p:nvGraphicFramePr>
        <p:xfrm>
          <a:off x="502920" y="1355463"/>
          <a:ext cx="11155680" cy="3794760"/>
        </p:xfrm>
        <a:graphic>
          <a:graphicData uri="http://schemas.openxmlformats.org/drawingml/2006/table">
            <a:tbl>
              <a:tblPr/>
              <a:tblGrid>
                <a:gridCol w="49377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474345">
                <a:tc>
                  <a:txBody>
                    <a:bodyPr/>
                    <a:lstStyle/>
                    <a:p>
                      <a:pPr marL="0" indent="0" algn="l">
                        <a:buNone/>
                      </a:pPr>
                      <a:r>
                        <a:rPr lang="en-US" sz="1400" b="1" dirty="0">
                          <a:solidFill>
                            <a:srgbClr val="F1EADA"/>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1C2A22"/>
                    </a:solidFill>
                  </a:tcPr>
                </a:tc>
                <a:tc>
                  <a:txBody>
                    <a:bodyPr/>
                    <a:lstStyle/>
                    <a:p>
                      <a:pPr marL="0" indent="0" algn="l">
                        <a:buNone/>
                      </a:pPr>
                      <a:r>
                        <a:rPr lang="en-US" sz="1400" b="1" dirty="0">
                          <a:solidFill>
                            <a:srgbClr val="F1EADA"/>
                          </a:solidFill>
                          <a:latin typeface="Calibri" pitchFamily="34" charset="0"/>
                          <a:ea typeface="Calibri" pitchFamily="34" charset="-122"/>
                          <a:cs typeface="Calibri" pitchFamily="34" charset="-120"/>
                        </a:rPr>
                        <a:t>10-fold CV RMSE</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1C2A22"/>
                    </a:solidFill>
                  </a:tcPr>
                </a:tc>
                <a:tc>
                  <a:txBody>
                    <a:bodyPr/>
                    <a:lstStyle/>
                    <a:p>
                      <a:pPr marL="0" indent="0" algn="l">
                        <a:buNone/>
                      </a:pPr>
                      <a:r>
                        <a:rPr lang="en-US" sz="1400" b="1" dirty="0">
                          <a:solidFill>
                            <a:srgbClr val="F1EADA"/>
                          </a:solidFill>
                          <a:latin typeface="Calibri" pitchFamily="34" charset="0"/>
                          <a:ea typeface="Calibri" pitchFamily="34" charset="-122"/>
                          <a:cs typeface="Calibri" pitchFamily="34" charset="-120"/>
                        </a:rPr>
                        <a:t>Holdout RMSE</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1C2A22"/>
                    </a:solidFill>
                  </a:tcPr>
                </a:tc>
                <a:extLst>
                  <a:ext uri="{0D108BD9-81ED-4DB2-BD59-A6C34878D82A}">
                    <a16:rowId xmlns:a16="http://schemas.microsoft.com/office/drawing/2014/main" val="10000"/>
                  </a:ext>
                </a:extLst>
              </a:tr>
              <a:tr h="474345">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Explanation equation</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$4,816</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$4,714</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extLst>
                  <a:ext uri="{0D108BD9-81ED-4DB2-BD59-A6C34878D82A}">
                    <a16:rowId xmlns:a16="http://schemas.microsoft.com/office/drawing/2014/main" val="10001"/>
                  </a:ext>
                </a:extLst>
              </a:tr>
              <a:tr h="474345">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All two-way products</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$4,842</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$4,761</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extLst>
                  <a:ext uri="{0D108BD9-81ED-4DB2-BD59-A6C34878D82A}">
                    <a16:rowId xmlns:a16="http://schemas.microsoft.com/office/drawing/2014/main" val="10002"/>
                  </a:ext>
                </a:extLst>
              </a:tr>
              <a:tr h="474345">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Term search</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$4,836</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$4,781</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extLst>
                  <a:ext uri="{0D108BD9-81ED-4DB2-BD59-A6C34878D82A}">
                    <a16:rowId xmlns:a16="http://schemas.microsoft.com/office/drawing/2014/main" val="10003"/>
                  </a:ext>
                </a:extLst>
              </a:tr>
              <a:tr h="474345">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Shrunk equation</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$5,050</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$4,842</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extLst>
                  <a:ext uri="{0D108BD9-81ED-4DB2-BD59-A6C34878D82A}">
                    <a16:rowId xmlns:a16="http://schemas.microsoft.com/office/drawing/2014/main" val="10004"/>
                  </a:ext>
                </a:extLst>
              </a:tr>
              <a:tr h="474345">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Nearest neighbors</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$5,384</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$5,165</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extLst>
                  <a:ext uri="{0D108BD9-81ED-4DB2-BD59-A6C34878D82A}">
                    <a16:rowId xmlns:a16="http://schemas.microsoft.com/office/drawing/2014/main" val="10005"/>
                  </a:ext>
                </a:extLst>
              </a:tr>
              <a:tr h="474345">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Averaged trees</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$4,867</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$4,448</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extLst>
                  <a:ext uri="{0D108BD9-81ED-4DB2-BD59-A6C34878D82A}">
                    <a16:rowId xmlns:a16="http://schemas.microsoft.com/office/drawing/2014/main" val="10006"/>
                  </a:ext>
                </a:extLst>
              </a:tr>
              <a:tr h="474345">
                <a:tc>
                  <a:txBody>
                    <a:bodyPr/>
                    <a:lstStyle/>
                    <a:p>
                      <a:pPr marL="0" indent="0" algn="l">
                        <a:buNone/>
                      </a:pPr>
                      <a:r>
                        <a:rPr lang="en-US" sz="1400" b="1" dirty="0">
                          <a:solidFill>
                            <a:srgbClr val="1C2A22"/>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E7D3C4"/>
                    </a:solidFill>
                  </a:tcPr>
                </a:tc>
                <a:tc>
                  <a:txBody>
                    <a:bodyPr/>
                    <a:lstStyle/>
                    <a:p>
                      <a:pPr marL="0" indent="0" algn="l">
                        <a:buNone/>
                      </a:pPr>
                      <a:r>
                        <a:rPr lang="en-US" sz="1400" b="1" dirty="0">
                          <a:solidFill>
                            <a:srgbClr val="1C2A22"/>
                          </a:solidFill>
                          <a:latin typeface="Calibri" pitchFamily="34" charset="0"/>
                          <a:ea typeface="Calibri" pitchFamily="34" charset="-122"/>
                          <a:cs typeface="Calibri" pitchFamily="34" charset="-120"/>
                        </a:rPr>
                        <a:t>$4,624</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E7D3C4"/>
                    </a:solidFill>
                  </a:tcPr>
                </a:tc>
                <a:tc>
                  <a:txBody>
                    <a:bodyPr/>
                    <a:lstStyle/>
                    <a:p>
                      <a:pPr marL="0" indent="0" algn="l">
                        <a:buNone/>
                      </a:pPr>
                      <a:r>
                        <a:rPr lang="en-US" sz="1400" b="1" dirty="0">
                          <a:solidFill>
                            <a:srgbClr val="1C2A22"/>
                          </a:solidFill>
                          <a:latin typeface="Calibri" pitchFamily="34" charset="0"/>
                          <a:ea typeface="Calibri" pitchFamily="34" charset="-122"/>
                          <a:cs typeface="Calibri" pitchFamily="34" charset="-120"/>
                        </a:rPr>
                        <a:t>$4,366</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E7D3C4"/>
                    </a:solidFill>
                  </a:tcPr>
                </a:tc>
                <a:extLst>
                  <a:ext uri="{0D108BD9-81ED-4DB2-BD59-A6C34878D82A}">
                    <a16:rowId xmlns:a16="http://schemas.microsoft.com/office/drawing/2014/main" val="10007"/>
                  </a:ext>
                </a:extLst>
              </a:tr>
            </a:tbl>
          </a:graphicData>
        </a:graphic>
      </p:graphicFrame>
      <p:sp>
        <p:nvSpPr>
          <p:cNvPr id="6" name="Text 3"/>
          <p:cNvSpPr/>
          <p:nvPr/>
        </p:nvSpPr>
        <p:spPr>
          <a:xfrm>
            <a:off x="502920" y="5166360"/>
            <a:ext cx="11155680" cy="64008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Term search wins on AIC and loses on RMSE. Averaged trees win the holdout and lose the CV. The forest wins both. </a:t>
            </a:r>
            <a:endParaRPr lang="en-US" sz="1500" dirty="0"/>
          </a:p>
        </p:txBody>
      </p:sp>
      <p:sp>
        <p:nvSpPr>
          <p:cNvPr id="7" name="Text 4"/>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8" name="Text 5"/>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09  /  15</a:t>
            </a:r>
            <a:endParaRPr lang="en-US" sz="1000" dirty="0"/>
          </a:p>
        </p:txBody>
      </p:sp>
      <p:pic>
        <p:nvPicPr>
          <p:cNvPr id="5" name="Picture 4">
            <a:extLst>
              <a:ext uri="{FF2B5EF4-FFF2-40B4-BE49-F238E27FC236}">
                <a16:creationId xmlns:a16="http://schemas.microsoft.com/office/drawing/2014/main" id="{E23DFEB4-6938-A701-DCD7-F7A4F5024BFA}"/>
              </a:ext>
            </a:extLst>
          </p:cNvPr>
          <p:cNvPicPr>
            <a:picLocks noChangeAspect="1"/>
          </p:cNvPicPr>
          <p:nvPr/>
        </p:nvPicPr>
        <p:blipFill>
          <a:blip r:embed="rId3">
            <a:duotone>
              <a:prstClr val="black"/>
              <a:srgbClr val="314A3D">
                <a:alpha val="1176"/>
                <a:tint val="45000"/>
                <a:satMod val="400000"/>
              </a:srgbClr>
            </a:duotone>
            <a:alphaModFix amt="11000"/>
          </a:blip>
          <a:srcRect r="10299" b="23389"/>
          <a:stretch>
            <a:fillRect/>
          </a:stretch>
        </p:blipFill>
        <p:spPr>
          <a:xfrm>
            <a:off x="3989741" y="512064"/>
            <a:ext cx="8202259" cy="6345936"/>
          </a:xfrm>
          <a:prstGeom prst="rect">
            <a:avLst/>
          </a:prstGeom>
        </p:spPr>
      </p:pic>
      <p:sp>
        <p:nvSpPr>
          <p:cNvPr id="12" name="Text 2">
            <a:extLst>
              <a:ext uri="{FF2B5EF4-FFF2-40B4-BE49-F238E27FC236}">
                <a16:creationId xmlns:a16="http://schemas.microsoft.com/office/drawing/2014/main" id="{A0470303-7E29-D208-48F0-F0788C1F891E}"/>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ea typeface="Georgia" pitchFamily="34" charset="-122"/>
                <a:cs typeface="Georgia" pitchFamily="34" charset="-120"/>
              </a:rPr>
              <a:t>Prediction models</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PRICING THE NEXT CUSTOMER</a:t>
            </a:r>
            <a:endParaRPr lang="en-US" sz="1100" dirty="0"/>
          </a:p>
        </p:txBody>
      </p:sp>
      <p:pic>
        <p:nvPicPr>
          <p:cNvPr id="5" name="Image 0" descr="figures/bias_variance.png"/>
          <p:cNvPicPr>
            <a:picLocks noChangeAspect="1"/>
          </p:cNvPicPr>
          <p:nvPr/>
        </p:nvPicPr>
        <p:blipFill>
          <a:blip r:embed="rId3"/>
          <a:stretch>
            <a:fillRect/>
          </a:stretch>
        </p:blipFill>
        <p:spPr>
          <a:xfrm>
            <a:off x="1844040" y="1437437"/>
            <a:ext cx="8503920" cy="4762195"/>
          </a:xfrm>
          <a:prstGeom prst="round2DiagRect">
            <a:avLst/>
          </a:prstGeom>
          <a:effectLst>
            <a:outerShdw blurRad="50800" dist="38100" dir="8100000" algn="tr" rotWithShape="0">
              <a:prstClr val="black">
                <a:alpha val="40000"/>
              </a:prstClr>
            </a:outerShdw>
          </a:effectLst>
        </p:spPr>
      </p:pic>
      <p:sp>
        <p:nvSpPr>
          <p:cNvPr id="6" name="Text 3"/>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7" name="Text 4"/>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10  /  15</a:t>
            </a:r>
            <a:endParaRPr lang="en-US" sz="1000" dirty="0"/>
          </a:p>
        </p:txBody>
      </p:sp>
      <p:sp>
        <p:nvSpPr>
          <p:cNvPr id="11" name="Text 2">
            <a:extLst>
              <a:ext uri="{FF2B5EF4-FFF2-40B4-BE49-F238E27FC236}">
                <a16:creationId xmlns:a16="http://schemas.microsoft.com/office/drawing/2014/main" id="{F9F9AC1C-5789-18EA-3A51-F0FBF0C7D693}"/>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ea typeface="Georgia" pitchFamily="34" charset="-122"/>
                <a:cs typeface="Georgia" pitchFamily="34" charset="-120"/>
              </a:rPr>
              <a:t>Regression overfits – Trees split</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6" name="Text 3"/>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7" name="Text 4"/>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11  /  15</a:t>
            </a:r>
            <a:endParaRPr lang="en-US" sz="1000" dirty="0"/>
          </a:p>
        </p:txBody>
      </p:sp>
      <p:pic>
        <p:nvPicPr>
          <p:cNvPr id="12" name="Image 0">
            <a:extLst>
              <a:ext uri="{FF2B5EF4-FFF2-40B4-BE49-F238E27FC236}">
                <a16:creationId xmlns:a16="http://schemas.microsoft.com/office/drawing/2014/main" id="{CA0BAFFB-C626-E70E-41BA-695AFDE45C96}"/>
              </a:ext>
            </a:extLst>
          </p:cNvPr>
          <p:cNvPicPr>
            <a:picLocks noChangeAspect="1"/>
          </p:cNvPicPr>
          <p:nvPr/>
        </p:nvPicPr>
        <p:blipFill>
          <a:blip r:embed="rId3"/>
          <a:srcRect l="-40" r="57"/>
          <a:stretch>
            <a:fillRect/>
          </a:stretch>
        </p:blipFill>
        <p:spPr>
          <a:xfrm>
            <a:off x="1506071" y="1437437"/>
            <a:ext cx="9170893" cy="4762195"/>
          </a:xfrm>
          <a:prstGeom prst="round2DiagRect">
            <a:avLst/>
          </a:prstGeom>
          <a:effectLst>
            <a:outerShdw blurRad="50800" dist="38100" dir="8100000" algn="tr" rotWithShape="0">
              <a:prstClr val="black">
                <a:alpha val="40000"/>
              </a:prstClr>
            </a:outerShdw>
          </a:effectLst>
        </p:spPr>
      </p:pic>
      <p:sp>
        <p:nvSpPr>
          <p:cNvPr id="13" name="Text 1">
            <a:extLst>
              <a:ext uri="{FF2B5EF4-FFF2-40B4-BE49-F238E27FC236}">
                <a16:creationId xmlns:a16="http://schemas.microsoft.com/office/drawing/2014/main" id="{ED450E6A-86D6-D43D-AE37-989E86C5D299}"/>
              </a:ext>
            </a:extLst>
          </p:cNvPr>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PRICING THE NEXT CUSTOMER</a:t>
            </a:r>
            <a:endParaRPr lang="en-US" sz="1100" dirty="0"/>
          </a:p>
        </p:txBody>
      </p:sp>
      <p:sp>
        <p:nvSpPr>
          <p:cNvPr id="15" name="Text 2">
            <a:extLst>
              <a:ext uri="{FF2B5EF4-FFF2-40B4-BE49-F238E27FC236}">
                <a16:creationId xmlns:a16="http://schemas.microsoft.com/office/drawing/2014/main" id="{7A200092-918D-6003-3C6E-B7C7BF90B98A}"/>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rPr>
              <a:t>Average vs typical error</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EADA"/>
        </a:solidFill>
        <a:effectLst/>
      </p:bgPr>
    </p:bg>
    <p:spTree>
      <p:nvGrpSpPr>
        <p:cNvPr id="1" name="">
          <a:extLst>
            <a:ext uri="{FF2B5EF4-FFF2-40B4-BE49-F238E27FC236}">
              <a16:creationId xmlns:a16="http://schemas.microsoft.com/office/drawing/2014/main" id="{90C82EA1-9DD0-D02F-2974-C6DD1EB0B84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B741953-B1F0-8167-B25E-6E2E6D8D982C}"/>
              </a:ext>
            </a:extLst>
          </p:cNvPr>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6" name="Text 3">
            <a:extLst>
              <a:ext uri="{FF2B5EF4-FFF2-40B4-BE49-F238E27FC236}">
                <a16:creationId xmlns:a16="http://schemas.microsoft.com/office/drawing/2014/main" id="{5F317015-E7C0-7109-6649-E38E7BDA8174}"/>
              </a:ext>
            </a:extLst>
          </p:cNvPr>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7" name="Text 4">
            <a:extLst>
              <a:ext uri="{FF2B5EF4-FFF2-40B4-BE49-F238E27FC236}">
                <a16:creationId xmlns:a16="http://schemas.microsoft.com/office/drawing/2014/main" id="{F89FA57C-9A44-A16D-111B-10AFF14779F5}"/>
              </a:ext>
            </a:extLst>
          </p:cNvPr>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11  /  15</a:t>
            </a:r>
            <a:endParaRPr lang="en-US" sz="1000" dirty="0"/>
          </a:p>
        </p:txBody>
      </p:sp>
      <p:pic>
        <p:nvPicPr>
          <p:cNvPr id="12" name="Image 0">
            <a:extLst>
              <a:ext uri="{FF2B5EF4-FFF2-40B4-BE49-F238E27FC236}">
                <a16:creationId xmlns:a16="http://schemas.microsoft.com/office/drawing/2014/main" id="{1BF0FC94-59F9-EFC9-784C-D6F594A112B1}"/>
              </a:ext>
            </a:extLst>
          </p:cNvPr>
          <p:cNvPicPr>
            <a:picLocks noChangeAspect="1"/>
          </p:cNvPicPr>
          <p:nvPr/>
        </p:nvPicPr>
        <p:blipFill>
          <a:blip r:embed="rId3"/>
          <a:srcRect t="86" b="86"/>
          <a:stretch/>
        </p:blipFill>
        <p:spPr>
          <a:xfrm>
            <a:off x="1506071" y="1437437"/>
            <a:ext cx="9170893" cy="4762195"/>
          </a:xfrm>
          <a:prstGeom prst="round2DiagRect">
            <a:avLst/>
          </a:prstGeom>
          <a:effectLst>
            <a:outerShdw blurRad="50800" dist="38100" dir="8100000" algn="tr" rotWithShape="0">
              <a:prstClr val="black">
                <a:alpha val="40000"/>
              </a:prstClr>
            </a:outerShdw>
          </a:effectLst>
        </p:spPr>
      </p:pic>
      <p:sp>
        <p:nvSpPr>
          <p:cNvPr id="13" name="Text 1">
            <a:extLst>
              <a:ext uri="{FF2B5EF4-FFF2-40B4-BE49-F238E27FC236}">
                <a16:creationId xmlns:a16="http://schemas.microsoft.com/office/drawing/2014/main" id="{A8DC0CEA-1D66-2DEB-6C1A-53072F367250}"/>
              </a:ext>
            </a:extLst>
          </p:cNvPr>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PRICING THE NEXT CUSTOMER</a:t>
            </a:r>
            <a:endParaRPr lang="en-US" sz="1100" dirty="0"/>
          </a:p>
        </p:txBody>
      </p:sp>
      <p:sp>
        <p:nvSpPr>
          <p:cNvPr id="15" name="Text 2">
            <a:extLst>
              <a:ext uri="{FF2B5EF4-FFF2-40B4-BE49-F238E27FC236}">
                <a16:creationId xmlns:a16="http://schemas.microsoft.com/office/drawing/2014/main" id="{2F919E49-B43A-5D05-9B73-456CBBB2A804}"/>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rPr>
              <a:t>Median &amp; mean point to Random forest</a:t>
            </a:r>
            <a:endParaRPr lang="en-US" sz="2800" dirty="0"/>
          </a:p>
        </p:txBody>
      </p:sp>
    </p:spTree>
    <p:extLst>
      <p:ext uri="{BB962C8B-B14F-4D97-AF65-F5344CB8AC3E}">
        <p14:creationId xmlns:p14="http://schemas.microsoft.com/office/powerpoint/2010/main" val="4100175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THE DECISION</a:t>
            </a:r>
            <a:endParaRPr lang="en-US" sz="1100" dirty="0"/>
          </a:p>
        </p:txBody>
      </p:sp>
      <p:sp>
        <p:nvSpPr>
          <p:cNvPr id="4" name="Text 2"/>
          <p:cNvSpPr/>
          <p:nvPr/>
        </p:nvSpPr>
        <p:spPr>
          <a:xfrm>
            <a:off x="502920" y="685800"/>
            <a:ext cx="10972800" cy="438912"/>
          </a:xfrm>
          <a:prstGeom prst="rect">
            <a:avLst/>
          </a:prstGeom>
          <a:noFill/>
          <a:ln/>
        </p:spPr>
        <p:txBody>
          <a:bodyPr wrap="square" lIns="0" tIns="0" rIns="0" bIns="0" rtlCol="0" anchor="ctr"/>
          <a:lstStyle/>
          <a:p>
            <a:pPr marL="0" indent="0">
              <a:buNone/>
            </a:pPr>
            <a:r>
              <a:rPr lang="en-US" sz="3000" dirty="0">
                <a:solidFill>
                  <a:srgbClr val="1C2A22"/>
                </a:solidFill>
                <a:latin typeface="Georgia" pitchFamily="34" charset="0"/>
                <a:ea typeface="Georgia" pitchFamily="34" charset="-122"/>
                <a:cs typeface="Georgia" pitchFamily="34" charset="-120"/>
              </a:rPr>
              <a:t>Two jobs. Two tools.</a:t>
            </a:r>
            <a:endParaRPr lang="en-US" sz="3000" dirty="0"/>
          </a:p>
        </p:txBody>
      </p:sp>
      <p:sp>
        <p:nvSpPr>
          <p:cNvPr id="5" name="Shape 3"/>
          <p:cNvSpPr/>
          <p:nvPr/>
        </p:nvSpPr>
        <p:spPr>
          <a:xfrm>
            <a:off x="502920" y="1371600"/>
            <a:ext cx="5486400" cy="4434840"/>
          </a:xfrm>
          <a:prstGeom prst="rect">
            <a:avLst/>
          </a:prstGeom>
          <a:solidFill>
            <a:srgbClr val="F7F1E2"/>
          </a:solidFill>
          <a:ln/>
          <a:effectLst>
            <a:outerShdw blurRad="50800" dist="38100" dir="8100000" algn="tr" rotWithShape="0">
              <a:prstClr val="black">
                <a:alpha val="40000"/>
              </a:prstClr>
            </a:outerShdw>
          </a:effectLst>
        </p:spPr>
        <p:txBody>
          <a:bodyPr/>
          <a:lstStyle/>
          <a:p>
            <a:endParaRPr lang="en-US"/>
          </a:p>
        </p:txBody>
      </p:sp>
      <p:sp>
        <p:nvSpPr>
          <p:cNvPr id="6" name="Text 4"/>
          <p:cNvSpPr/>
          <p:nvPr/>
        </p:nvSpPr>
        <p:spPr>
          <a:xfrm>
            <a:off x="731520" y="1554480"/>
            <a:ext cx="5029200" cy="256032"/>
          </a:xfrm>
          <a:prstGeom prst="rect">
            <a:avLst/>
          </a:prstGeom>
          <a:noFill/>
          <a:ln/>
        </p:spPr>
        <p:txBody>
          <a:bodyPr wrap="square" lIns="0" tIns="0" rIns="0" bIns="0" rtlCol="0" anchor="ctr"/>
          <a:lstStyle/>
          <a:p>
            <a:pPr marL="0" indent="0">
              <a:buNone/>
            </a:pPr>
            <a:r>
              <a:rPr lang="en-US" sz="1300" b="1" kern="0" spc="150" dirty="0">
                <a:solidFill>
                  <a:srgbClr val="9D7D3B"/>
                </a:solidFill>
                <a:latin typeface="Calibri" pitchFamily="34" charset="0"/>
                <a:ea typeface="Calibri" pitchFamily="34" charset="-122"/>
                <a:cs typeface="Calibri" pitchFamily="34" charset="-120"/>
              </a:rPr>
              <a:t>EXPLAIN</a:t>
            </a:r>
            <a:endParaRPr lang="en-US" sz="1300" dirty="0"/>
          </a:p>
        </p:txBody>
      </p:sp>
      <p:sp>
        <p:nvSpPr>
          <p:cNvPr id="7" name="Text 5"/>
          <p:cNvSpPr/>
          <p:nvPr/>
        </p:nvSpPr>
        <p:spPr>
          <a:xfrm>
            <a:off x="731520" y="1920240"/>
            <a:ext cx="5029200" cy="411480"/>
          </a:xfrm>
          <a:prstGeom prst="rect">
            <a:avLst/>
          </a:prstGeom>
          <a:noFill/>
          <a:ln/>
        </p:spPr>
        <p:txBody>
          <a:bodyPr wrap="square" lIns="0" tIns="0" rIns="0" bIns="0" rtlCol="0" anchor="ctr"/>
          <a:lstStyle/>
          <a:p>
            <a:pPr marL="0" indent="0">
              <a:buNone/>
            </a:pPr>
            <a:r>
              <a:rPr lang="en-US" sz="2400" dirty="0">
                <a:solidFill>
                  <a:srgbClr val="1C2A22"/>
                </a:solidFill>
                <a:latin typeface="Georgia" pitchFamily="34" charset="0"/>
                <a:ea typeface="Georgia" pitchFamily="34" charset="-122"/>
                <a:cs typeface="Georgia" pitchFamily="34" charset="-120"/>
              </a:rPr>
              <a:t>The equation.</a:t>
            </a:r>
            <a:endParaRPr lang="en-US" sz="2400" dirty="0"/>
          </a:p>
        </p:txBody>
      </p:sp>
      <p:sp>
        <p:nvSpPr>
          <p:cNvPr id="9" name="Shape 7"/>
          <p:cNvSpPr/>
          <p:nvPr/>
        </p:nvSpPr>
        <p:spPr>
          <a:xfrm>
            <a:off x="6217920" y="1371600"/>
            <a:ext cx="5486400" cy="4434840"/>
          </a:xfrm>
          <a:prstGeom prst="rect">
            <a:avLst/>
          </a:prstGeom>
          <a:solidFill>
            <a:srgbClr val="1C2A22"/>
          </a:solidFill>
          <a:ln/>
          <a:effectLst>
            <a:outerShdw blurRad="50800" dist="38100" dir="8100000" algn="tr" rotWithShape="0">
              <a:prstClr val="black">
                <a:alpha val="40000"/>
              </a:prstClr>
            </a:outerShdw>
          </a:effectLst>
        </p:spPr>
        <p:txBody>
          <a:bodyPr/>
          <a:lstStyle/>
          <a:p>
            <a:endParaRPr lang="en-US"/>
          </a:p>
        </p:txBody>
      </p:sp>
      <p:sp>
        <p:nvSpPr>
          <p:cNvPr id="13" name="Text 11"/>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14" name="Text 12"/>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13  /  15</a:t>
            </a:r>
            <a:endParaRPr lang="en-US" sz="1000" dirty="0"/>
          </a:p>
        </p:txBody>
      </p:sp>
      <p:pic>
        <p:nvPicPr>
          <p:cNvPr id="15" name="Picture 14">
            <a:extLst>
              <a:ext uri="{FF2B5EF4-FFF2-40B4-BE49-F238E27FC236}">
                <a16:creationId xmlns:a16="http://schemas.microsoft.com/office/drawing/2014/main" id="{9863A973-5FCE-A127-5AB1-FFC99ABB0519}"/>
              </a:ext>
            </a:extLst>
          </p:cNvPr>
          <p:cNvPicPr>
            <a:picLocks noChangeAspect="1"/>
          </p:cNvPicPr>
          <p:nvPr/>
        </p:nvPicPr>
        <p:blipFill>
          <a:blip r:embed="rId3">
            <a:duotone>
              <a:prstClr val="black"/>
              <a:srgbClr val="314A3D">
                <a:alpha val="1176"/>
                <a:tint val="45000"/>
                <a:satMod val="400000"/>
              </a:srgbClr>
            </a:duotone>
            <a:alphaModFix amt="18000"/>
          </a:blip>
          <a:srcRect r="10299" b="23389"/>
          <a:stretch>
            <a:fillRect/>
          </a:stretch>
        </p:blipFill>
        <p:spPr>
          <a:xfrm>
            <a:off x="3989741" y="512064"/>
            <a:ext cx="8202259" cy="6345936"/>
          </a:xfrm>
          <a:prstGeom prst="rect">
            <a:avLst/>
          </a:prstGeom>
        </p:spPr>
      </p:pic>
      <p:sp>
        <p:nvSpPr>
          <p:cNvPr id="12" name="Text 10"/>
          <p:cNvSpPr/>
          <p:nvPr/>
        </p:nvSpPr>
        <p:spPr>
          <a:xfrm>
            <a:off x="6446520" y="2468880"/>
            <a:ext cx="5029200" cy="1828800"/>
          </a:xfrm>
          <a:prstGeom prst="rect">
            <a:avLst/>
          </a:prstGeom>
          <a:noFill/>
          <a:ln/>
        </p:spPr>
        <p:txBody>
          <a:bodyPr wrap="square" lIns="0" tIns="0" rIns="0" bIns="0" rtlCol="0" anchor="ctr"/>
          <a:lstStyle/>
          <a:p>
            <a:pPr marL="0" indent="0">
              <a:buNone/>
            </a:pPr>
            <a:r>
              <a:rPr lang="en-US" sz="1600" dirty="0">
                <a:solidFill>
                  <a:srgbClr val="F1EADA"/>
                </a:solidFill>
                <a:latin typeface="Calibri" pitchFamily="34" charset="0"/>
                <a:ea typeface="Calibri" pitchFamily="34" charset="-122"/>
                <a:cs typeface="Calibri" pitchFamily="34" charset="-120"/>
              </a:rPr>
              <a:t>Lowest RMSE on the 10-fold CV and the holdout. The CV edge is $192, inside a $763 fold SD. The gain is the typical smoker, about $1,111 versus $4,035. </a:t>
            </a:r>
            <a:endParaRPr lang="en-US" sz="1600" dirty="0"/>
          </a:p>
        </p:txBody>
      </p:sp>
      <p:sp>
        <p:nvSpPr>
          <p:cNvPr id="11" name="Text 9"/>
          <p:cNvSpPr/>
          <p:nvPr/>
        </p:nvSpPr>
        <p:spPr>
          <a:xfrm>
            <a:off x="6446520" y="1920240"/>
            <a:ext cx="5029200" cy="411480"/>
          </a:xfrm>
          <a:prstGeom prst="rect">
            <a:avLst/>
          </a:prstGeom>
          <a:noFill/>
          <a:ln/>
        </p:spPr>
        <p:txBody>
          <a:bodyPr wrap="square" lIns="0" tIns="0" rIns="0" bIns="0" rtlCol="0" anchor="ctr"/>
          <a:lstStyle/>
          <a:p>
            <a:pPr marL="0" indent="0">
              <a:buNone/>
            </a:pPr>
            <a:r>
              <a:rPr lang="en-US" sz="2400" dirty="0">
                <a:solidFill>
                  <a:srgbClr val="F1EADA"/>
                </a:solidFill>
                <a:latin typeface="Georgia" pitchFamily="34" charset="0"/>
                <a:ea typeface="Georgia" pitchFamily="34" charset="-122"/>
                <a:cs typeface="Georgia" pitchFamily="34" charset="-120"/>
              </a:rPr>
              <a:t>The random forest.</a:t>
            </a:r>
            <a:endParaRPr lang="en-US" sz="2400" dirty="0"/>
          </a:p>
        </p:txBody>
      </p:sp>
      <p:sp>
        <p:nvSpPr>
          <p:cNvPr id="10" name="Text 8"/>
          <p:cNvSpPr/>
          <p:nvPr/>
        </p:nvSpPr>
        <p:spPr>
          <a:xfrm>
            <a:off x="6446520" y="1554480"/>
            <a:ext cx="5029200" cy="256032"/>
          </a:xfrm>
          <a:prstGeom prst="rect">
            <a:avLst/>
          </a:prstGeom>
          <a:noFill/>
          <a:ln/>
        </p:spPr>
        <p:txBody>
          <a:bodyPr wrap="square" lIns="0" tIns="0" rIns="0" bIns="0" rtlCol="0" anchor="ctr"/>
          <a:lstStyle/>
          <a:p>
            <a:pPr marL="0" indent="0">
              <a:buNone/>
            </a:pPr>
            <a:r>
              <a:rPr lang="en-US" sz="1300" b="1" kern="0" spc="150" dirty="0">
                <a:solidFill>
                  <a:srgbClr val="B79A68"/>
                </a:solidFill>
                <a:latin typeface="Calibri" pitchFamily="34" charset="0"/>
                <a:ea typeface="Calibri" pitchFamily="34" charset="-122"/>
                <a:cs typeface="Calibri" pitchFamily="34" charset="-120"/>
              </a:rPr>
              <a:t>PRICE</a:t>
            </a:r>
            <a:endParaRPr lang="en-US" sz="1300" dirty="0"/>
          </a:p>
        </p:txBody>
      </p:sp>
      <p:sp>
        <p:nvSpPr>
          <p:cNvPr id="8" name="Text 6"/>
          <p:cNvSpPr/>
          <p:nvPr/>
        </p:nvSpPr>
        <p:spPr>
          <a:xfrm>
            <a:off x="731520" y="2468880"/>
            <a:ext cx="5029200" cy="2011680"/>
          </a:xfrm>
          <a:prstGeom prst="rect">
            <a:avLst/>
          </a:prstGeom>
          <a:noFill/>
          <a:ln/>
        </p:spPr>
        <p:txBody>
          <a:bodyPr wrap="square" lIns="0" tIns="0" rIns="0" bIns="0" rtlCol="0" anchor="ctr"/>
          <a:lstStyle/>
          <a:p>
            <a:pPr marL="0" indent="0">
              <a:buNone/>
            </a:pPr>
            <a:r>
              <a:rPr lang="en-US" sz="1600" dirty="0">
                <a:solidFill>
                  <a:srgbClr val="4E463C"/>
                </a:solidFill>
                <a:latin typeface="Calibri" pitchFamily="34" charset="0"/>
                <a:ea typeface="Calibri" pitchFamily="34" charset="-122"/>
                <a:cs typeface="Calibri" pitchFamily="34" charset="-120"/>
              </a:rPr>
              <a:t>Age, children, a smoker gap that depends on BMI, and a regional level shift. Quote at BMI 30. Do not quote the smoker coefficient at BMI 0. Do not call the southeast expensive.</a:t>
            </a:r>
            <a:endParaRPr lang="en-US" sz="16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1C2A22"/>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F1EADA"/>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A8A08E"/>
                </a:solidFill>
                <a:latin typeface="Calibri" pitchFamily="34" charset="0"/>
                <a:ea typeface="Calibri" pitchFamily="34" charset="-122"/>
                <a:cs typeface="Calibri" pitchFamily="34" charset="-120"/>
              </a:rPr>
              <a:t>WHAT WE WILL NOT CLAIM</a:t>
            </a:r>
            <a:endParaRPr lang="en-US" sz="1100" dirty="0"/>
          </a:p>
        </p:txBody>
      </p:sp>
      <p:sp>
        <p:nvSpPr>
          <p:cNvPr id="4" name="Text 2"/>
          <p:cNvSpPr/>
          <p:nvPr/>
        </p:nvSpPr>
        <p:spPr>
          <a:xfrm>
            <a:off x="502920" y="731520"/>
            <a:ext cx="10972800" cy="1051560"/>
          </a:xfrm>
          <a:prstGeom prst="rect">
            <a:avLst/>
          </a:prstGeom>
          <a:noFill/>
          <a:ln/>
        </p:spPr>
        <p:txBody>
          <a:bodyPr wrap="square" lIns="0" tIns="0" rIns="0" bIns="0" rtlCol="0" anchor="ctr"/>
          <a:lstStyle/>
          <a:p>
            <a:pPr marL="0" indent="0">
              <a:buNone/>
            </a:pPr>
            <a:r>
              <a:rPr lang="en-US" sz="2800" dirty="0">
                <a:solidFill>
                  <a:srgbClr val="F1EADA"/>
                </a:solidFill>
                <a:latin typeface="Georgia" pitchFamily="34" charset="0"/>
                <a:ea typeface="Georgia" pitchFamily="34" charset="-122"/>
                <a:cs typeface="Georgia" pitchFamily="34" charset="-120"/>
              </a:rPr>
              <a:t>The sample supports an association.</a:t>
            </a:r>
            <a:endParaRPr lang="en-US" sz="2800" dirty="0"/>
          </a:p>
          <a:p>
            <a:pPr marL="0" indent="0">
              <a:buNone/>
            </a:pPr>
            <a:r>
              <a:rPr lang="en-US" sz="2800" dirty="0">
                <a:solidFill>
                  <a:srgbClr val="F1EADA"/>
                </a:solidFill>
                <a:latin typeface="Georgia" pitchFamily="34" charset="0"/>
                <a:ea typeface="Georgia" pitchFamily="34" charset="-122"/>
                <a:cs typeface="Georgia" pitchFamily="34" charset="-120"/>
              </a:rPr>
              <a:t>Not a national rate, and not a cause.</a:t>
            </a:r>
            <a:endParaRPr lang="en-US" sz="2800" dirty="0"/>
          </a:p>
        </p:txBody>
      </p:sp>
      <p:sp>
        <p:nvSpPr>
          <p:cNvPr id="5" name="Text 3"/>
          <p:cNvSpPr/>
          <p:nvPr/>
        </p:nvSpPr>
        <p:spPr>
          <a:xfrm>
            <a:off x="502920" y="2103120"/>
            <a:ext cx="5486400" cy="320040"/>
          </a:xfrm>
          <a:prstGeom prst="rect">
            <a:avLst/>
          </a:prstGeom>
          <a:noFill/>
          <a:ln/>
        </p:spPr>
        <p:txBody>
          <a:bodyPr wrap="square" lIns="0" tIns="0" rIns="0" bIns="0" rtlCol="0" anchor="ctr"/>
          <a:lstStyle/>
          <a:p>
            <a:pPr marL="0" indent="0">
              <a:buNone/>
            </a:pPr>
            <a:r>
              <a:rPr lang="en-US" sz="1400" b="1" dirty="0">
                <a:solidFill>
                  <a:srgbClr val="B79A68"/>
                </a:solidFill>
                <a:latin typeface="Calibri" pitchFamily="34" charset="0"/>
                <a:ea typeface="Calibri" pitchFamily="34" charset="-122"/>
                <a:cs typeface="Calibri" pitchFamily="34" charset="-120"/>
              </a:rPr>
              <a:t>Scope</a:t>
            </a:r>
            <a:endParaRPr lang="en-US" sz="1400" dirty="0"/>
          </a:p>
        </p:txBody>
      </p:sp>
      <p:sp>
        <p:nvSpPr>
          <p:cNvPr id="6" name="Text 4"/>
          <p:cNvSpPr/>
          <p:nvPr/>
        </p:nvSpPr>
        <p:spPr>
          <a:xfrm>
            <a:off x="502920" y="2468880"/>
            <a:ext cx="5486400" cy="1325880"/>
          </a:xfrm>
          <a:prstGeom prst="rect">
            <a:avLst/>
          </a:prstGeom>
          <a:noFill/>
          <a:ln/>
        </p:spPr>
        <p:txBody>
          <a:bodyPr wrap="square" lIns="0" tIns="0" rIns="0" bIns="0" rtlCol="0" anchor="ctr"/>
          <a:lstStyle/>
          <a:p>
            <a:pPr marL="0" indent="0">
              <a:buNone/>
            </a:pPr>
            <a:r>
              <a:rPr lang="en-US" sz="1500" dirty="0">
                <a:solidFill>
                  <a:srgbClr val="F1EADA"/>
                </a:solidFill>
                <a:latin typeface="Calibri" pitchFamily="34" charset="0"/>
                <a:ea typeface="Calibri" pitchFamily="34" charset="-122"/>
                <a:cs typeface="Calibri" pitchFamily="34" charset="-120"/>
              </a:rPr>
              <a:t>Four region labels in this file. No household, plan, or year. Independence is an assumption, not a result.</a:t>
            </a:r>
            <a:endParaRPr lang="en-US" sz="1500" dirty="0"/>
          </a:p>
        </p:txBody>
      </p:sp>
      <p:pic>
        <p:nvPicPr>
          <p:cNvPr id="15" name="Picture 14">
            <a:extLst>
              <a:ext uri="{FF2B5EF4-FFF2-40B4-BE49-F238E27FC236}">
                <a16:creationId xmlns:a16="http://schemas.microsoft.com/office/drawing/2014/main" id="{03EF6343-7773-7789-BF91-34310C225476}"/>
              </a:ext>
            </a:extLst>
          </p:cNvPr>
          <p:cNvPicPr>
            <a:picLocks noChangeAspect="1"/>
          </p:cNvPicPr>
          <p:nvPr/>
        </p:nvPicPr>
        <p:blipFill>
          <a:blip r:embed="rId3">
            <a:duotone>
              <a:prstClr val="black"/>
              <a:srgbClr val="314A3D">
                <a:alpha val="1176"/>
                <a:tint val="45000"/>
                <a:satMod val="400000"/>
              </a:srgbClr>
            </a:duotone>
            <a:alphaModFix amt="35000"/>
          </a:blip>
          <a:srcRect r="10299" b="23389"/>
          <a:stretch>
            <a:fillRect/>
          </a:stretch>
        </p:blipFill>
        <p:spPr>
          <a:xfrm>
            <a:off x="3989741" y="512064"/>
            <a:ext cx="8202259" cy="6345936"/>
          </a:xfrm>
          <a:prstGeom prst="rect">
            <a:avLst/>
          </a:prstGeom>
        </p:spPr>
      </p:pic>
      <p:sp>
        <p:nvSpPr>
          <p:cNvPr id="7" name="Text 5"/>
          <p:cNvSpPr/>
          <p:nvPr/>
        </p:nvSpPr>
        <p:spPr>
          <a:xfrm>
            <a:off x="6309360" y="2103120"/>
            <a:ext cx="5486400" cy="320040"/>
          </a:xfrm>
          <a:prstGeom prst="rect">
            <a:avLst/>
          </a:prstGeom>
          <a:noFill/>
          <a:ln/>
        </p:spPr>
        <p:txBody>
          <a:bodyPr wrap="square" lIns="0" tIns="0" rIns="0" bIns="0" rtlCol="0" anchor="ctr"/>
          <a:lstStyle/>
          <a:p>
            <a:pPr marL="0" indent="0">
              <a:buNone/>
            </a:pPr>
            <a:r>
              <a:rPr lang="en-US" sz="1400" b="1" dirty="0">
                <a:solidFill>
                  <a:srgbClr val="B79A68"/>
                </a:solidFill>
                <a:latin typeface="Calibri" pitchFamily="34" charset="0"/>
                <a:ea typeface="Calibri" pitchFamily="34" charset="-122"/>
                <a:cs typeface="Calibri" pitchFamily="34" charset="-120"/>
              </a:rPr>
              <a:t>Cause</a:t>
            </a:r>
            <a:endParaRPr lang="en-US" sz="1400" dirty="0"/>
          </a:p>
        </p:txBody>
      </p:sp>
      <p:sp>
        <p:nvSpPr>
          <p:cNvPr id="8" name="Text 6"/>
          <p:cNvSpPr/>
          <p:nvPr/>
        </p:nvSpPr>
        <p:spPr>
          <a:xfrm>
            <a:off x="6309360" y="2468880"/>
            <a:ext cx="5486400" cy="1325880"/>
          </a:xfrm>
          <a:prstGeom prst="rect">
            <a:avLst/>
          </a:prstGeom>
          <a:noFill/>
          <a:ln/>
        </p:spPr>
        <p:txBody>
          <a:bodyPr wrap="square" lIns="0" tIns="0" rIns="0" bIns="0" rtlCol="0" anchor="ctr"/>
          <a:lstStyle/>
          <a:p>
            <a:pPr marL="0" indent="0">
              <a:buNone/>
            </a:pPr>
            <a:r>
              <a:rPr lang="en-US" sz="1500" dirty="0">
                <a:solidFill>
                  <a:srgbClr val="F1EADA"/>
                </a:solidFill>
                <a:latin typeface="Calibri" pitchFamily="34" charset="0"/>
                <a:ea typeface="Calibri" pitchFamily="34" charset="-122"/>
                <a:cs typeface="Calibri" pitchFamily="34" charset="-120"/>
              </a:rPr>
              <a:t>Smoking was not assigned. $22,833 is a contrast in this file, not the effect of someone quitting.</a:t>
            </a:r>
            <a:endParaRPr lang="en-US" sz="1500" dirty="0"/>
          </a:p>
        </p:txBody>
      </p:sp>
      <p:sp>
        <p:nvSpPr>
          <p:cNvPr id="9" name="Text 7"/>
          <p:cNvSpPr/>
          <p:nvPr/>
        </p:nvSpPr>
        <p:spPr>
          <a:xfrm>
            <a:off x="502920" y="4069080"/>
            <a:ext cx="5486400" cy="320040"/>
          </a:xfrm>
          <a:prstGeom prst="rect">
            <a:avLst/>
          </a:prstGeom>
          <a:noFill/>
          <a:ln/>
        </p:spPr>
        <p:txBody>
          <a:bodyPr wrap="square" lIns="0" tIns="0" rIns="0" bIns="0" rtlCol="0" anchor="ctr"/>
          <a:lstStyle/>
          <a:p>
            <a:pPr marL="0" indent="0">
              <a:buNone/>
            </a:pPr>
            <a:r>
              <a:rPr lang="en-US" sz="1400" b="1" dirty="0">
                <a:solidFill>
                  <a:srgbClr val="B79A68"/>
                </a:solidFill>
                <a:latin typeface="Calibri" pitchFamily="34" charset="0"/>
                <a:ea typeface="Calibri" pitchFamily="34" charset="-122"/>
                <a:cs typeface="Calibri" pitchFamily="34" charset="-120"/>
              </a:rPr>
              <a:t>A tight quote</a:t>
            </a:r>
            <a:endParaRPr lang="en-US" sz="1400" dirty="0"/>
          </a:p>
        </p:txBody>
      </p:sp>
      <p:sp>
        <p:nvSpPr>
          <p:cNvPr id="10" name="Text 8"/>
          <p:cNvSpPr/>
          <p:nvPr/>
        </p:nvSpPr>
        <p:spPr>
          <a:xfrm>
            <a:off x="502920" y="4434840"/>
            <a:ext cx="5486400" cy="1325880"/>
          </a:xfrm>
          <a:prstGeom prst="rect">
            <a:avLst/>
          </a:prstGeom>
          <a:noFill/>
          <a:ln/>
        </p:spPr>
        <p:txBody>
          <a:bodyPr wrap="square" lIns="0" tIns="0" rIns="0" bIns="0" rtlCol="0" anchor="ctr"/>
          <a:lstStyle/>
          <a:p>
            <a:pPr marL="0" indent="0">
              <a:buNone/>
            </a:pPr>
            <a:r>
              <a:rPr lang="en-US" sz="1500" dirty="0">
                <a:solidFill>
                  <a:srgbClr val="F1EADA"/>
                </a:solidFill>
                <a:latin typeface="Calibri" pitchFamily="34" charset="0"/>
                <a:ea typeface="Calibri" pitchFamily="34" charset="-122"/>
                <a:cs typeface="Calibri" pitchFamily="34" charset="-120"/>
              </a:rPr>
              <a:t>95% of left-out smoker bills fell within $9,800 of the forest quote. Non-smokers, within $12,486. The equation is $9,489 and $13,031 on that cut. Not a tighter smoker margin, and not a percent of the average bill.</a:t>
            </a:r>
            <a:endParaRPr lang="en-US" sz="1500" dirty="0"/>
          </a:p>
        </p:txBody>
      </p:sp>
      <p:sp>
        <p:nvSpPr>
          <p:cNvPr id="11" name="Text 9"/>
          <p:cNvSpPr/>
          <p:nvPr/>
        </p:nvSpPr>
        <p:spPr>
          <a:xfrm>
            <a:off x="6309360" y="4069080"/>
            <a:ext cx="5486400" cy="320040"/>
          </a:xfrm>
          <a:prstGeom prst="rect">
            <a:avLst/>
          </a:prstGeom>
          <a:noFill/>
          <a:ln/>
        </p:spPr>
        <p:txBody>
          <a:bodyPr wrap="square" lIns="0" tIns="0" rIns="0" bIns="0" rtlCol="0" anchor="ctr"/>
          <a:lstStyle/>
          <a:p>
            <a:pPr marL="0" indent="0">
              <a:buNone/>
            </a:pPr>
            <a:r>
              <a:rPr lang="en-US" sz="1400" b="1" dirty="0">
                <a:solidFill>
                  <a:srgbClr val="B79A68"/>
                </a:solidFill>
                <a:latin typeface="Calibri" pitchFamily="34" charset="0"/>
                <a:ea typeface="Calibri" pitchFamily="34" charset="-122"/>
                <a:cs typeface="Calibri" pitchFamily="34" charset="-120"/>
              </a:rPr>
              <a:t>More time</a:t>
            </a:r>
            <a:endParaRPr lang="en-US" sz="1400" dirty="0"/>
          </a:p>
        </p:txBody>
      </p:sp>
      <p:sp>
        <p:nvSpPr>
          <p:cNvPr id="12" name="Text 10"/>
          <p:cNvSpPr/>
          <p:nvPr/>
        </p:nvSpPr>
        <p:spPr>
          <a:xfrm>
            <a:off x="6309360" y="4434840"/>
            <a:ext cx="5486400" cy="1325880"/>
          </a:xfrm>
          <a:prstGeom prst="rect">
            <a:avLst/>
          </a:prstGeom>
          <a:noFill/>
          <a:ln/>
        </p:spPr>
        <p:txBody>
          <a:bodyPr wrap="square" lIns="0" tIns="0" rIns="0" bIns="0" rtlCol="0" anchor="ctr"/>
          <a:lstStyle/>
          <a:p>
            <a:pPr marL="0" indent="0">
              <a:buNone/>
            </a:pPr>
            <a:r>
              <a:rPr lang="en-US" sz="1500" dirty="0">
                <a:solidFill>
                  <a:srgbClr val="F1EADA"/>
                </a:solidFill>
                <a:latin typeface="Calibri" pitchFamily="34" charset="0"/>
                <a:ea typeface="Calibri" pitchFamily="34" charset="-122"/>
                <a:cs typeface="Calibri" pitchFamily="34" charset="-120"/>
              </a:rPr>
              <a:t>What the sample does not contain: diagnosis, plan design, deductible, and whether the charge is one year. </a:t>
            </a:r>
            <a:endParaRPr lang="en-US" sz="1500" dirty="0"/>
          </a:p>
        </p:txBody>
      </p:sp>
      <p:sp>
        <p:nvSpPr>
          <p:cNvPr id="13" name="Text 11"/>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A8A08E"/>
                </a:solidFill>
                <a:latin typeface="Calibri" pitchFamily="34" charset="0"/>
                <a:ea typeface="Calibri" pitchFamily="34" charset="-122"/>
                <a:cs typeface="Calibri" pitchFamily="34" charset="-120"/>
              </a:rPr>
              <a:t>HEALTH-ACCOUNT CHARGES</a:t>
            </a:r>
            <a:endParaRPr lang="en-US" sz="1000" dirty="0"/>
          </a:p>
        </p:txBody>
      </p:sp>
      <p:sp>
        <p:nvSpPr>
          <p:cNvPr id="14" name="Text 12"/>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A8A08E"/>
                </a:solidFill>
                <a:latin typeface="Calibri" pitchFamily="34" charset="0"/>
                <a:ea typeface="Calibri" pitchFamily="34" charset="-122"/>
                <a:cs typeface="Calibri" pitchFamily="34" charset="-120"/>
              </a:rPr>
              <a:t>14  /  15</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name="Slide 8">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THE EQUATION</a:t>
            </a:r>
            <a:endParaRPr lang="en-US" sz="1100" dirty="0"/>
          </a:p>
        </p:txBody>
      </p:sp>
      <p:sp>
        <p:nvSpPr>
          <p:cNvPr id="4" name="Text 2"/>
          <p:cNvSpPr/>
          <p:nvPr/>
        </p:nvSpPr>
        <p:spPr>
          <a:xfrm>
            <a:off x="502920" y="685800"/>
            <a:ext cx="10972800" cy="411480"/>
          </a:xfrm>
          <a:prstGeom prst="rect">
            <a:avLst/>
          </a:prstGeom>
          <a:noFill/>
          <a:ln/>
        </p:spPr>
        <p:txBody>
          <a:bodyPr wrap="square" lIns="0" tIns="0" rIns="0" bIns="0" rtlCol="0" anchor="ctr"/>
          <a:lstStyle/>
          <a:p>
            <a:pPr marL="0" indent="0">
              <a:buNone/>
            </a:pPr>
            <a:r>
              <a:rPr lang="en-US" sz="2800" dirty="0">
                <a:solidFill>
                  <a:srgbClr val="1C2A22"/>
                </a:solidFill>
                <a:latin typeface="Georgia" pitchFamily="34" charset="0"/>
                <a:ea typeface="Georgia" pitchFamily="34" charset="-122"/>
                <a:cs typeface="Georgia" pitchFamily="34" charset="-120"/>
              </a:rPr>
              <a:t>Detailed Insights</a:t>
            </a:r>
            <a:endParaRPr lang="en-US" sz="2800" dirty="0"/>
          </a:p>
        </p:txBody>
      </p:sp>
      <p:sp>
        <p:nvSpPr>
          <p:cNvPr id="5" name="Shape 3"/>
          <p:cNvSpPr/>
          <p:nvPr/>
        </p:nvSpPr>
        <p:spPr>
          <a:xfrm>
            <a:off x="502920" y="1325880"/>
            <a:ext cx="11155680" cy="1965960"/>
          </a:xfrm>
          <a:prstGeom prst="rect">
            <a:avLst/>
          </a:prstGeom>
          <a:solidFill>
            <a:srgbClr val="F7F1E2"/>
          </a:solidFill>
          <a:ln/>
          <a:effectLst>
            <a:outerShdw blurRad="50800" dist="38100" dir="8100000" algn="tr" rotWithShape="0">
              <a:prstClr val="black">
                <a:alpha val="40000"/>
              </a:prstClr>
            </a:outerShdw>
          </a:effectLst>
        </p:spPr>
        <p:txBody>
          <a:bodyPr/>
          <a:lstStyle/>
          <a:p>
            <a:endParaRPr lang="en-US"/>
          </a:p>
        </p:txBody>
      </p:sp>
      <p:sp>
        <p:nvSpPr>
          <p:cNvPr id="6" name="Text 4"/>
          <p:cNvSpPr/>
          <p:nvPr/>
        </p:nvSpPr>
        <p:spPr>
          <a:xfrm>
            <a:off x="731520" y="1463040"/>
            <a:ext cx="1828800" cy="256032"/>
          </a:xfrm>
          <a:prstGeom prst="rect">
            <a:avLst/>
          </a:prstGeom>
          <a:noFill/>
          <a:ln/>
        </p:spPr>
        <p:txBody>
          <a:bodyPr wrap="square" lIns="0" tIns="0" rIns="0" bIns="0" rtlCol="0" anchor="ctr"/>
          <a:lstStyle/>
          <a:p>
            <a:pPr marL="0" indent="0">
              <a:buNone/>
            </a:pPr>
            <a:r>
              <a:rPr lang="en-US" sz="1200" b="1" kern="0" spc="140" dirty="0">
                <a:solidFill>
                  <a:srgbClr val="9D7D3B"/>
                </a:solidFill>
                <a:latin typeface="Calibri" pitchFamily="34" charset="0"/>
                <a:ea typeface="Calibri" pitchFamily="34" charset="-122"/>
                <a:cs typeface="Calibri" pitchFamily="34" charset="-120"/>
              </a:rPr>
              <a:t>AGE</a:t>
            </a:r>
            <a:endParaRPr lang="en-US" sz="1200" dirty="0"/>
          </a:p>
        </p:txBody>
      </p:sp>
      <p:sp>
        <p:nvSpPr>
          <p:cNvPr id="7" name="Text 5"/>
          <p:cNvSpPr/>
          <p:nvPr/>
        </p:nvSpPr>
        <p:spPr>
          <a:xfrm>
            <a:off x="731520" y="1783080"/>
            <a:ext cx="10607040" cy="1280160"/>
          </a:xfrm>
          <a:prstGeom prst="rect">
            <a:avLst/>
          </a:prstGeom>
          <a:noFill/>
          <a:ln/>
        </p:spPr>
        <p:txBody>
          <a:bodyPr wrap="square" lIns="0" tIns="0" rIns="0" bIns="0" rtlCol="0" anchor="ctr"/>
          <a:lstStyle/>
          <a:p>
            <a:pPr marL="0" indent="0">
              <a:buNone/>
            </a:pPr>
            <a:r>
              <a:rPr lang="en-US" sz="1600" dirty="0">
                <a:solidFill>
                  <a:srgbClr val="1C2A22"/>
                </a:solidFill>
                <a:latin typeface="Calibri" pitchFamily="34" charset="0"/>
                <a:ea typeface="Calibri" pitchFamily="34" charset="-122"/>
                <a:cs typeface="Calibri" pitchFamily="34" charset="-120"/>
              </a:rPr>
              <a:t>Holding BMI, smoking, children, and region fixed, one more year of age is associated with $264 higher mean charges. Ordinary 95% interval $245 to $283. The paired bootstrap interval is the same. About 2% of the average bill. Same slope in both groups.</a:t>
            </a:r>
            <a:endParaRPr lang="en-US" sz="1600" dirty="0"/>
          </a:p>
        </p:txBody>
      </p:sp>
      <p:sp>
        <p:nvSpPr>
          <p:cNvPr id="8" name="Shape 6"/>
          <p:cNvSpPr/>
          <p:nvPr/>
        </p:nvSpPr>
        <p:spPr>
          <a:xfrm>
            <a:off x="502920" y="3474720"/>
            <a:ext cx="11155680" cy="2148840"/>
          </a:xfrm>
          <a:prstGeom prst="rect">
            <a:avLst/>
          </a:prstGeom>
          <a:solidFill>
            <a:srgbClr val="1C2A22"/>
          </a:solidFill>
          <a:ln/>
          <a:effectLst>
            <a:outerShdw blurRad="50800" dist="38100" dir="8100000" algn="tr" rotWithShape="0">
              <a:prstClr val="black">
                <a:alpha val="40000"/>
              </a:prstClr>
            </a:outerShdw>
          </a:effectLst>
        </p:spPr>
        <p:txBody>
          <a:bodyPr/>
          <a:lstStyle/>
          <a:p>
            <a:endParaRPr lang="en-US"/>
          </a:p>
        </p:txBody>
      </p:sp>
      <p:sp>
        <p:nvSpPr>
          <p:cNvPr id="9" name="Text 7"/>
          <p:cNvSpPr/>
          <p:nvPr/>
        </p:nvSpPr>
        <p:spPr>
          <a:xfrm>
            <a:off x="731520" y="3611880"/>
            <a:ext cx="5486400" cy="256032"/>
          </a:xfrm>
          <a:prstGeom prst="rect">
            <a:avLst/>
          </a:prstGeom>
          <a:noFill/>
          <a:ln/>
        </p:spPr>
        <p:txBody>
          <a:bodyPr wrap="square" lIns="0" tIns="0" rIns="0" bIns="0" rtlCol="0" anchor="ctr"/>
          <a:lstStyle/>
          <a:p>
            <a:pPr marL="0" indent="0">
              <a:buNone/>
            </a:pPr>
            <a:r>
              <a:rPr lang="en-US" sz="1200" b="1" kern="0" spc="140" dirty="0">
                <a:solidFill>
                  <a:srgbClr val="B79A68"/>
                </a:solidFill>
                <a:latin typeface="Calibri" pitchFamily="34" charset="0"/>
                <a:ea typeface="Calibri" pitchFamily="34" charset="-122"/>
                <a:cs typeface="Calibri" pitchFamily="34" charset="-120"/>
              </a:rPr>
              <a:t>SMOKER, AT BMI 30</a:t>
            </a:r>
            <a:endParaRPr lang="en-US" sz="1200" dirty="0"/>
          </a:p>
        </p:txBody>
      </p:sp>
      <p:sp>
        <p:nvSpPr>
          <p:cNvPr id="10" name="Text 8"/>
          <p:cNvSpPr/>
          <p:nvPr/>
        </p:nvSpPr>
        <p:spPr>
          <a:xfrm>
            <a:off x="731520" y="3950208"/>
            <a:ext cx="10607040" cy="1463040"/>
          </a:xfrm>
          <a:prstGeom prst="rect">
            <a:avLst/>
          </a:prstGeom>
          <a:noFill/>
          <a:ln/>
        </p:spPr>
        <p:txBody>
          <a:bodyPr wrap="square" lIns="0" tIns="0" rIns="0" bIns="0" rtlCol="0" anchor="ctr"/>
          <a:lstStyle/>
          <a:p>
            <a:pPr marL="0" indent="0">
              <a:buNone/>
            </a:pPr>
            <a:r>
              <a:rPr lang="en-US" sz="1600" dirty="0">
                <a:solidFill>
                  <a:srgbClr val="F1EADA"/>
                </a:solidFill>
                <a:latin typeface="Calibri" pitchFamily="34" charset="0"/>
                <a:ea typeface="Calibri" pitchFamily="34" charset="-122"/>
                <a:cs typeface="Calibri" pitchFamily="34" charset="-120"/>
              </a:rPr>
              <a:t>Holding age, children, and region fixed, a smoker at BMI 30 has mean charges $22,833 higher than a non-smoker at the same BMI. The paired bootstrap interval is $22,045 to $23,566. At BMI 25 the gap is $15,643. At BMI 35 it is $30,024. This describes the file. It is not what the bill would do if a particular person stopped smoking.</a:t>
            </a:r>
            <a:endParaRPr lang="en-US" sz="1600" dirty="0"/>
          </a:p>
        </p:txBody>
      </p:sp>
      <p:sp>
        <p:nvSpPr>
          <p:cNvPr id="11" name="Text 9"/>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12" name="Text 10"/>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07  /  15</a:t>
            </a:r>
            <a:endParaRPr lang="en-US" sz="1000" dirty="0"/>
          </a:p>
        </p:txBody>
      </p:sp>
      <p:pic>
        <p:nvPicPr>
          <p:cNvPr id="13" name="Picture 12">
            <a:extLst>
              <a:ext uri="{FF2B5EF4-FFF2-40B4-BE49-F238E27FC236}">
                <a16:creationId xmlns:a16="http://schemas.microsoft.com/office/drawing/2014/main" id="{C19FC6FD-9275-B08D-F67F-BC8ECF21BB62}"/>
              </a:ext>
            </a:extLst>
          </p:cNvPr>
          <p:cNvPicPr>
            <a:picLocks noChangeAspect="1"/>
          </p:cNvPicPr>
          <p:nvPr/>
        </p:nvPicPr>
        <p:blipFill>
          <a:blip r:embed="rId3">
            <a:duotone>
              <a:prstClr val="black"/>
              <a:srgbClr val="314A3D">
                <a:alpha val="1176"/>
                <a:tint val="45000"/>
                <a:satMod val="400000"/>
              </a:srgbClr>
            </a:duotone>
            <a:alphaModFix amt="18000"/>
          </a:blip>
          <a:srcRect r="10299" b="23389"/>
          <a:stretch>
            <a:fillRect/>
          </a:stretch>
        </p:blipFill>
        <p:spPr>
          <a:xfrm>
            <a:off x="3989741" y="512064"/>
            <a:ext cx="8202259" cy="634593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name="Slide 16">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IF ASKED</a:t>
            </a:r>
            <a:endParaRPr lang="en-US" sz="1100" dirty="0"/>
          </a:p>
        </p:txBody>
      </p:sp>
      <p:sp>
        <p:nvSpPr>
          <p:cNvPr id="4" name="Text 2"/>
          <p:cNvSpPr/>
          <p:nvPr/>
        </p:nvSpPr>
        <p:spPr>
          <a:xfrm>
            <a:off x="502920" y="640080"/>
            <a:ext cx="10972800" cy="365760"/>
          </a:xfrm>
          <a:prstGeom prst="rect">
            <a:avLst/>
          </a:prstGeom>
          <a:noFill/>
          <a:ln/>
        </p:spPr>
        <p:txBody>
          <a:bodyPr wrap="square" lIns="0" tIns="0" rIns="0" bIns="0" rtlCol="0" anchor="ctr"/>
          <a:lstStyle/>
          <a:p>
            <a:pPr marL="0" indent="0">
              <a:buNone/>
            </a:pPr>
            <a:r>
              <a:rPr lang="en-US" sz="2600" dirty="0">
                <a:solidFill>
                  <a:srgbClr val="1C2A22"/>
                </a:solidFill>
                <a:latin typeface="Georgia" pitchFamily="34" charset="0"/>
                <a:ea typeface="Georgia" pitchFamily="34" charset="-122"/>
                <a:cs typeface="Georgia" pitchFamily="34" charset="-120"/>
              </a:rPr>
              <a:t>The penalty, and the neighborhood.</a:t>
            </a:r>
            <a:endParaRPr lang="en-US" sz="2600" dirty="0"/>
          </a:p>
        </p:txBody>
      </p:sp>
      <p:pic>
        <p:nvPicPr>
          <p:cNvPr id="5" name="Image 0" descr="figures/penalty.png"/>
          <p:cNvPicPr>
            <a:picLocks noChangeAspect="1"/>
          </p:cNvPicPr>
          <p:nvPr/>
        </p:nvPicPr>
        <p:blipFill>
          <a:blip r:embed="rId3"/>
          <a:stretch>
            <a:fillRect/>
          </a:stretch>
        </p:blipFill>
        <p:spPr>
          <a:xfrm>
            <a:off x="320040" y="1143000"/>
            <a:ext cx="5532120" cy="3042666"/>
          </a:xfrm>
          <a:prstGeom prst="rect">
            <a:avLst/>
          </a:prstGeom>
        </p:spPr>
      </p:pic>
      <p:pic>
        <p:nvPicPr>
          <p:cNvPr id="6" name="Image 1" descr="figures/knn_k.png"/>
          <p:cNvPicPr>
            <a:picLocks noChangeAspect="1"/>
          </p:cNvPicPr>
          <p:nvPr/>
        </p:nvPicPr>
        <p:blipFill>
          <a:blip r:embed="rId4"/>
          <a:stretch>
            <a:fillRect/>
          </a:stretch>
        </p:blipFill>
        <p:spPr>
          <a:xfrm>
            <a:off x="6309360" y="1234440"/>
            <a:ext cx="5532120" cy="2766060"/>
          </a:xfrm>
          <a:prstGeom prst="rect">
            <a:avLst/>
          </a:prstGeom>
        </p:spPr>
      </p:pic>
      <p:sp>
        <p:nvSpPr>
          <p:cNvPr id="7" name="Text 3"/>
          <p:cNvSpPr/>
          <p:nvPr/>
        </p:nvSpPr>
        <p:spPr>
          <a:xfrm>
            <a:off x="502920" y="4709160"/>
            <a:ext cx="11155680" cy="8229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Between the smallest squared error and the penalty we keep, the error barely moves. Farther right, signal starts coming out. Neighbors of 1 and of 30 are both worse than 7, and 7 does not beat the equation.</a:t>
            </a:r>
            <a:endParaRPr lang="en-US" sz="1500" dirty="0"/>
          </a:p>
        </p:txBody>
      </p:sp>
      <p:sp>
        <p:nvSpPr>
          <p:cNvPr id="8" name="Text 4"/>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9" name="Text 5"/>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15  /  15</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856</TotalTime>
  <Words>3599</Words>
  <Application>Microsoft Macintosh PowerPoint</Application>
  <PresentationFormat>Widescreen</PresentationFormat>
  <Paragraphs>339</Paragraphs>
  <Slides>15</Slides>
  <Notes>15</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Georgia</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Health-account charges</dc:title>
  <dc:subject>What is associated with the bill, and how we would price the next customer</dc:subject>
  <dc:creator>Aaron Powell and Thuan-Andy Bui</dc:creator>
  <cp:lastModifiedBy>Aaron Powell</cp:lastModifiedBy>
  <cp:revision>33</cp:revision>
  <dcterms:created xsi:type="dcterms:W3CDTF">2026-09-25T14:41:18Z</dcterms:created>
  <dcterms:modified xsi:type="dcterms:W3CDTF">2026-09-27T20:45:15Z</dcterms:modified>
</cp:coreProperties>
</file>
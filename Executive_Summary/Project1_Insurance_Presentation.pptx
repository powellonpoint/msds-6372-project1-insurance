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14A3D"/>
    <a:srgbClr val="F0FAF5"/>
    <a:srgbClr val="E4EAE7"/>
    <a:srgbClr val="C3C7C5"/>
    <a:srgbClr val="1C2A22"/>
    <a:srgbClr val="C4C4C4"/>
    <a:srgbClr val="000000"/>
    <a:srgbClr val="2D4437"/>
    <a:srgbClr val="2B41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00"/>
    <p:restoredTop sz="80010"/>
  </p:normalViewPr>
  <p:slideViewPr>
    <p:cSldViewPr snapToGrid="0" snapToObjects="1">
      <p:cViewPr>
        <p:scale>
          <a:sx n="83" d="100"/>
          <a:sy n="83" d="100"/>
        </p:scale>
        <p:origin x="824" y="1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790621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0:00 to 0:45. Both of us are on this slide.
Open with the two questions, in plain language. Are customer facts associated with health-account charges, and does that association depend on region? Separately, if the job is to price the next customer, which method misses by the least, in dollars?
Say that every number in the deck is computed in the knitted note, not typed in by hand. Suggested split: one of us takes the book and the associations, through the residual plot. The other takes pricing and the limits. Do not say objective, cross-validation, or caret out loud. Say repeated check, held-out fifth, and typical miss.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0:45 to 3:00. This is the slide to land. Do not walk through methods yet.
Smoking dominates. At BMI 30, holding age, children, and region fixed, a smoker's mean bill is $22,833 higher. That is not one smoker number: $15,643 at BMI 25 and $30,024 at BMI 35.
Age is $264 a year in both groups, about 2% of the average bill. Each child is about $512. Sex is not clearly associated once the other facts are held fixed.
Region shifts the level. After adjustment the southeast is $1,207 lower than the northeast, and the southwest is $1,228 lower. Do not tell the southeast it is the expensive region.
For pricing, do not say the error is 35% of the average bill. Say the typical customer first. Half of smoker bills landed within $1,111 of the forest's quote. The average absolute miss for those smokers is $2,198, because of the tail. The equation's typical smoker is off by $4,035. Half of non-smoker bills are within $1,428 of the forest and $1,402 of the nearest neighbors. That $26 is not a reason to keep a second scorer. The outer margin is still real: 95% of smoker bills were within $9,800, and the misses past the middle are mostly bills above the quote. We explain with the equation.
These are 1,337 customers in four regions in this file. Not a national sample. Not a causal effect of smoking.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3:00 to 4:15. Keep this short.
State the cleaning in one sentence: no missing values, one exact duplicate dropped, 1,337 customers left. The median sits 29% below the average, so a single average is the wrong picture of a typical bill.
Point at the right-hand list only to name the facts. Do not define BMI. Say we will show which of these facts actually move the bill.
If the clock is behind, this slide can be two sentences and you move 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4:15 to 5:45.
Read the multiple, then the two averages, then the two medians. Gesture at the plot only after you have said the dollars. The plot is the same sentence: two bands, almost no overlap.
20.5% of the book, 274 people. Do not linger on the chart scale.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5:45 to 8:00. This is the slide that justifies the equation.
Left: age. Say the two correlations and that the slopes look parallel. We tested a different age slope for smokers. On the dollar scale it does not help.
Right: BMI. Say 0.81 versus 0.08 before you point. Among smokers, each BMI point is about $1,461 on the bill. Among non-smokers the slope is about $23 and the range includes zero.
The smoker gap therefore has to be stated at a BMI we actually see. BMI 0 is not a customer. We will quote BMI 25, 30, and 35.
Children are smaller. Correlation with the bill is 0.07. We keep a per-child amount because the comparison supports it, and we do not pretend it is well seen past three children.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8:00 to 9:45.
Say the two unadjusted smoker averages first: southeast $34,845, northeast $29,674. Then the composition point: that region has more smokers and a higher BMI. The adjusted contrast comes on the next slides, but plant it now: after adjustment, southeast and southwest are about $1,200 lower than the northeast.
The test of a different smoker gap by region does not clearly improve the fit. p = 0.31. Do not read the p-value unless someone asks. Say 'the data do not show a different smoking rule by region.'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9:45 to 11:15.
Read the equation once, slowly. Then the two things we refused to put in it.
Sex stays out. The p-value is 0.062, which is close to the 5% line we used and not a clear association. If someone pushes, say that. Do not pretend it was obvious.
A different smoker gap by region stays out. p = 0.31.
Letting BMI differ by region does improve the fit, p = 0.011, and we still leave it out of the equation we would say out loud. That slope is the small non-smoker slope, and a region-specific BMI slope turns each region number into a difference at BMI 0, which is outside the data. The smoker BMI slope does not clearly differ by region.
Adjusted R-squared on this dollar equation is 0.84. That is how much of this file the line tracks. It is not the dollar miss on a new customer.
We fit a log of charges. We did not adopt it. A common percent-per-year is too steep for smokers, and fixing that undoes the calmer residuals. Say that only if asked, or on the residual slide.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11:15 to 13:45. Read both paragraphs almost as written. This is the formal interpretation the brief has to contain. Do not paraphrase the 'holding fixed' clause away.
The ordinary range and the paired resample agree because the gap is many standard errors from zero. The association is not an artifact of the last decimal. Smoker residual spread is still wider, so the ordinary interval is approximate. The paired range is the one that matches the residual plot, and it tells the same story.
Children, if asked: $512 per child, ordinary range $296 to $729, holding the other facts fixed.
Northwest versus northeast is -$578 and that range includes zero, -$1,327 to $170. Southeast -$1,207, range -$1,959 to -$455. Southwest -$1,228, range -$1,978 to -$477.</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13:45 to 15:15.
The picture has three clouds: the main non-smoker band near zero, a wider smoker cloud at higher fitted bills, and non-smokers whose bills land in the smoker range. We did not delete that upper band. The largest Cook's distance is 0.06. Nothing dominates the fit.
A log scale looks calmer and we refused it. On the log, a common age slope is rejected. Putting in a different age slope for smokers makes the spreads unequal again. The dollar equation is the one whose mean structure the tests support.
This is why we will not publish one linear error bar for every customer, even though the equation is what we would explain.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15:15 to 17:00. This is the picture. Do not read the legend item by item.
Left panel, non-smokers. Age is held at 39, one child, female, northeast. The gray points are real customers within five years of 39. Every method sits in the lower cloud. None of them climbs to the customers whose bills are far above that band. Nearest neighbors, the orange line, wiggle toward a few of those points and fall back. That wiggle is variance. It does not explain the band.
Right panel, smokers. The straight lines keep climbing and pass $60,000. The cloud flattens. The forest, the neighbors, and the averaged trees step up around a BMI of 30 and then level off near the cloud. The straight line is biased high once BMI is high. The forest is the calmest line that is allowed to bend. The neighbors still jump.
Then the margin, in one sentence: 95% of smoker bills landed within $9,800 of the forest's quote, and 95% of non-smoker bills within $12,486. Say that the tail is a bill above the quote. Do not convert it to a percent of the average.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say this before the root-mean-square ranking.
Blue is the median. Half of customers are closer to the quote than that dot. Red is the average of the same absolute misses. The red dot sits to the right because a minority of bills, mostly above the quote, pull the average.
Smokers, right panel. The forest's blue dot is near $1,111. Every straight-line method is near $4,000. Averaged trees are near $3,011. That is the confidence in the recommendation: for the typical smoker, the forest is about $2,900 closer than the equation.
Non-smokers, left panel. The blue dots sit together, about $1,400 to $1,900. Nearest neighbors are $1,402 and the forest is $1,428. Do not propose two scorers over $26.
The 95% margin has not gone away. It is the tail, not the typical customer. 95% of smoker bills were still within $9,800, and the far misses are bills that came in higher than the quote.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15:15 to 17:15.
Left is a smaller typical miss. The explanation is at the top. The forest is at the bottom. Navy is the repeated check: leave out a different tenth, ten times, same groups for every method. Red is one held-out fifth, 1,072 to fit and 265 to score. Both checks pick the forest.
Say the metric once: root-mean-square error, in dollars. Then stop saying the name.
The $192 gap is inside $763 of fold-to-fold variation. Do not sell a transformation in accuracy. Sell a scorer that does not assume one spread, and an equation that a person can read.
Averaged trees are the cautionary split: they beat the equation on the one fifth, at $4,448, and lose the repeated check, at $4,867. One split is not enough. If the clock is behind, skip the next slide's rows and say that one sentence here.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17:15 to 18:30. Do not read every row. Point at three.
All two-way products, 33 terms, miss $4,842. Adding every product does not help.
The term search keeps 15 terms, including sex and the BMI-by-smoker product. Its in-sample score, AIC, is better than the explanation equation, 21,258 versus 21,267, because that is what the search was asked to optimize. The repeated-check miss is $4,836, slightly worse. AIC does not price a new customer.
The shrunk equation keeps 14 of 33 terms and misses by $5,050. A stronger penalty does not buy a smaller miss. The picture is in the backup.
Neighbors: 1 neighbor misses by $6,460, 30 neighbors by $5,879, and the chosen 7 by $5,384. Too small is noisy. Too large averages people who are not alike. Neither beats the equation.
The forest uses 500 trees and 5 fields at a split. It does not need the BMI-by-smoker product written down.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18:30 to 19:15.
This is the close of the pricing half. Explain with the equation. Price with the forest. Say the $192 edge out loud so nobody leaves thinking the forest is a different business.
On the held-out fifth, 16 non-smokers have bills above $15,000. The equation misses that group by about $14,036 on average. The forest misses them by about $13,554. A more flexible scorer does not explain those customers. They are a limit of every method we tried.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19:15 to 20:00. End here. Do not add a method we did not run.
Four sentences. Scope. Cause. The miss is large relative to the bill. If we had more time we would want fields this file does not have, and a later book of customers, before treating a $192 edge as stable.
Stop. The backup slide stays down unless someone asks how the penalty or the neighbor size behaved.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this unless asked. It is the backup for two pictures in the note.
Left: as the penalty gets stronger, squared error stays flat and then climbs. We keep 14 of 33 terms. The product of BMI and smoking is still active at that penalty. There is no t-test on a term the penalty already decided to keep or drop.
Right: neighborhood size. Variance at 1, bias at 30, and the chosen 7 still loses to the explanation equation on the dollar miss.
Full tables, the coefficient list, and the code are in the knitted note.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A22"/>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F1EADA"/>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A8A08E"/>
                </a:solidFill>
                <a:latin typeface="Calibri" pitchFamily="34" charset="0"/>
                <a:ea typeface="Calibri" pitchFamily="34" charset="-122"/>
                <a:cs typeface="Calibri" pitchFamily="34" charset="-120"/>
              </a:rPr>
              <a:t>A DECISION BRIEF</a:t>
            </a:r>
            <a:endParaRPr lang="en-US" sz="1100" dirty="0"/>
          </a:p>
        </p:txBody>
      </p:sp>
      <p:sp>
        <p:nvSpPr>
          <p:cNvPr id="4" name="Text 2"/>
          <p:cNvSpPr/>
          <p:nvPr/>
        </p:nvSpPr>
        <p:spPr>
          <a:xfrm>
            <a:off x="502920" y="1691640"/>
            <a:ext cx="7315200" cy="256032"/>
          </a:xfrm>
          <a:prstGeom prst="rect">
            <a:avLst/>
          </a:prstGeom>
          <a:noFill/>
          <a:ln/>
        </p:spPr>
        <p:txBody>
          <a:bodyPr wrap="square" lIns="0" tIns="0" rIns="0" bIns="0" rtlCol="0" anchor="ctr"/>
          <a:lstStyle/>
          <a:p>
            <a:pPr marL="0" indent="0">
              <a:buNone/>
            </a:pPr>
            <a:r>
              <a:rPr lang="en-US" sz="1300" kern="0" spc="220" dirty="0">
                <a:solidFill>
                  <a:srgbClr val="B79A68"/>
                </a:solidFill>
                <a:latin typeface="Calibri" pitchFamily="34" charset="0"/>
                <a:ea typeface="Calibri" pitchFamily="34" charset="-122"/>
                <a:cs typeface="Calibri" pitchFamily="34" charset="-120"/>
              </a:rPr>
              <a:t>FOR THE PROVIDER</a:t>
            </a:r>
            <a:endParaRPr lang="en-US" sz="1300" dirty="0"/>
          </a:p>
        </p:txBody>
      </p:sp>
      <p:sp>
        <p:nvSpPr>
          <p:cNvPr id="5" name="Text 3"/>
          <p:cNvSpPr/>
          <p:nvPr/>
        </p:nvSpPr>
        <p:spPr>
          <a:xfrm>
            <a:off x="502920" y="2057400"/>
            <a:ext cx="9144000" cy="1965960"/>
          </a:xfrm>
          <a:prstGeom prst="rect">
            <a:avLst/>
          </a:prstGeom>
          <a:noFill/>
          <a:ln/>
        </p:spPr>
        <p:txBody>
          <a:bodyPr wrap="square" lIns="0" tIns="0" rIns="0" bIns="0" rtlCol="0" anchor="ctr"/>
          <a:lstStyle/>
          <a:p>
            <a:pPr marL="0" indent="0">
              <a:buNone/>
            </a:pPr>
            <a:r>
              <a:rPr lang="en-US" sz="5400" dirty="0">
                <a:solidFill>
                  <a:srgbClr val="F1EADA"/>
                </a:solidFill>
                <a:latin typeface="Georgia" pitchFamily="34" charset="0"/>
                <a:ea typeface="Georgia" pitchFamily="34" charset="-122"/>
                <a:cs typeface="Georgia" pitchFamily="34" charset="-120"/>
              </a:rPr>
              <a:t>Health-account</a:t>
            </a:r>
            <a:endParaRPr lang="en-US" sz="5400" dirty="0"/>
          </a:p>
          <a:p>
            <a:pPr marL="0" indent="0">
              <a:buNone/>
            </a:pPr>
            <a:r>
              <a:rPr lang="en-US" sz="5400" dirty="0">
                <a:solidFill>
                  <a:srgbClr val="F1EADA"/>
                </a:solidFill>
                <a:latin typeface="Georgia" pitchFamily="34" charset="0"/>
                <a:ea typeface="Georgia" pitchFamily="34" charset="-122"/>
                <a:cs typeface="Georgia" pitchFamily="34" charset="-120"/>
              </a:rPr>
              <a:t>charges.</a:t>
            </a:r>
            <a:endParaRPr lang="en-US" sz="5400" dirty="0"/>
          </a:p>
        </p:txBody>
      </p:sp>
      <p:sp>
        <p:nvSpPr>
          <p:cNvPr id="6" name="Text 4"/>
          <p:cNvSpPr/>
          <p:nvPr/>
        </p:nvSpPr>
        <p:spPr>
          <a:xfrm>
            <a:off x="502920" y="4160520"/>
            <a:ext cx="8412480" cy="640080"/>
          </a:xfrm>
          <a:prstGeom prst="rect">
            <a:avLst/>
          </a:prstGeom>
          <a:noFill/>
          <a:ln/>
        </p:spPr>
        <p:txBody>
          <a:bodyPr wrap="square" lIns="0" tIns="0" rIns="0" bIns="0" rtlCol="0" anchor="ctr"/>
          <a:lstStyle/>
          <a:p>
            <a:pPr marL="0" indent="0">
              <a:buNone/>
            </a:pPr>
            <a:r>
              <a:rPr lang="en-US" sz="1800" dirty="0">
                <a:solidFill>
                  <a:srgbClr val="F1EADA"/>
                </a:solidFill>
                <a:latin typeface="Calibri" pitchFamily="34" charset="0"/>
                <a:ea typeface="Calibri" pitchFamily="34" charset="-122"/>
                <a:cs typeface="Calibri" pitchFamily="34" charset="-120"/>
              </a:rPr>
              <a:t>What is associated with the bill, and how we would price the next customer.</a:t>
            </a:r>
            <a:endParaRPr lang="en-US" sz="1800" dirty="0"/>
          </a:p>
        </p:txBody>
      </p:sp>
      <p:sp>
        <p:nvSpPr>
          <p:cNvPr id="7" name="Text 5"/>
          <p:cNvSpPr/>
          <p:nvPr/>
        </p:nvSpPr>
        <p:spPr>
          <a:xfrm>
            <a:off x="502920" y="5212080"/>
            <a:ext cx="7315200" cy="292608"/>
          </a:xfrm>
          <a:prstGeom prst="rect">
            <a:avLst/>
          </a:prstGeom>
          <a:noFill/>
          <a:ln/>
        </p:spPr>
        <p:txBody>
          <a:bodyPr wrap="square" lIns="0" tIns="0" rIns="0" bIns="0" rtlCol="0" anchor="ctr"/>
          <a:lstStyle/>
          <a:p>
            <a:pPr marL="0" indent="0">
              <a:buNone/>
            </a:pPr>
            <a:r>
              <a:rPr lang="en-US" sz="1600" dirty="0">
                <a:solidFill>
                  <a:srgbClr val="F1EADA"/>
                </a:solidFill>
                <a:latin typeface="Georgia" pitchFamily="34" charset="0"/>
                <a:ea typeface="Georgia" pitchFamily="34" charset="-122"/>
                <a:cs typeface="Georgia" pitchFamily="34" charset="-120"/>
              </a:rPr>
              <a:t>Aaron Powell  and  Thuan-Andy Bui</a:t>
            </a:r>
            <a:endParaRPr lang="en-US" sz="1600" dirty="0"/>
          </a:p>
        </p:txBody>
      </p:sp>
      <p:sp>
        <p:nvSpPr>
          <p:cNvPr id="8" name="Text 6"/>
          <p:cNvSpPr/>
          <p:nvPr/>
        </p:nvSpPr>
        <p:spPr>
          <a:xfrm>
            <a:off x="502920" y="5559552"/>
            <a:ext cx="5486400" cy="256032"/>
          </a:xfrm>
          <a:prstGeom prst="rect">
            <a:avLst/>
          </a:prstGeom>
          <a:noFill/>
          <a:ln/>
        </p:spPr>
        <p:txBody>
          <a:bodyPr wrap="square" lIns="0" tIns="0" rIns="0" bIns="0" rtlCol="0" anchor="ctr"/>
          <a:lstStyle/>
          <a:p>
            <a:pPr marL="0" indent="0">
              <a:buNone/>
            </a:pPr>
            <a:r>
              <a:rPr lang="en-US" sz="1400" dirty="0">
                <a:solidFill>
                  <a:srgbClr val="A8A08E"/>
                </a:solidFill>
                <a:latin typeface="Calibri" pitchFamily="34" charset="0"/>
                <a:ea typeface="Calibri" pitchFamily="34" charset="-122"/>
                <a:cs typeface="Calibri" pitchFamily="34" charset="-120"/>
              </a:rPr>
              <a:t>24 September 2026</a:t>
            </a:r>
            <a:endParaRPr lang="en-US" sz="1400" dirty="0"/>
          </a:p>
        </p:txBody>
      </p:sp>
      <p:sp>
        <p:nvSpPr>
          <p:cNvPr id="9" name="Text 7"/>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A8A08E"/>
                </a:solidFill>
                <a:latin typeface="Calibri" pitchFamily="34" charset="0"/>
                <a:ea typeface="Calibri" pitchFamily="34" charset="-122"/>
                <a:cs typeface="Calibri" pitchFamily="34" charset="-120"/>
              </a:rPr>
              <a:t>HEALTH-ACCOUNT CHARGES</a:t>
            </a:r>
            <a:endParaRPr lang="en-US" sz="1000" dirty="0"/>
          </a:p>
        </p:txBody>
      </p:sp>
      <p:sp>
        <p:nvSpPr>
          <p:cNvPr id="10" name="Text 8"/>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A8A08E"/>
                </a:solidFill>
                <a:latin typeface="Calibri" pitchFamily="34" charset="0"/>
                <a:ea typeface="Calibri" pitchFamily="34" charset="-122"/>
                <a:cs typeface="Calibri" pitchFamily="34" charset="-120"/>
              </a:rPr>
              <a:t>01  /  16</a:t>
            </a:r>
            <a:endParaRPr lang="en-US" sz="1000" dirty="0"/>
          </a:p>
        </p:txBody>
      </p:sp>
      <p:pic>
        <p:nvPicPr>
          <p:cNvPr id="20" name="Picture 19">
            <a:extLst>
              <a:ext uri="{FF2B5EF4-FFF2-40B4-BE49-F238E27FC236}">
                <a16:creationId xmlns:a16="http://schemas.microsoft.com/office/drawing/2014/main" id="{DB3042C4-2442-EC8B-6C88-9EB1D3AFCC27}"/>
              </a:ext>
            </a:extLst>
          </p:cNvPr>
          <p:cNvPicPr>
            <a:picLocks noChangeAspect="1"/>
          </p:cNvPicPr>
          <p:nvPr/>
        </p:nvPicPr>
        <p:blipFill>
          <a:blip r:embed="rId3">
            <a:duotone>
              <a:prstClr val="black"/>
              <a:srgbClr val="314A3D">
                <a:alpha val="1176"/>
                <a:tint val="45000"/>
                <a:satMod val="400000"/>
              </a:srgbClr>
            </a:duotone>
            <a:alphaModFix amt="29000"/>
          </a:blip>
          <a:srcRect r="10299" b="23389"/>
          <a:stretch>
            <a:fillRect/>
          </a:stretch>
        </p:blipFill>
        <p:spPr>
          <a:xfrm>
            <a:off x="3989741" y="512064"/>
            <a:ext cx="8202259" cy="6345936"/>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THE DECISION</a:t>
            </a:r>
            <a:endParaRPr lang="en-US" sz="1100" dirty="0"/>
          </a:p>
        </p:txBody>
      </p:sp>
      <p:sp>
        <p:nvSpPr>
          <p:cNvPr id="4" name="Text 2"/>
          <p:cNvSpPr/>
          <p:nvPr/>
        </p:nvSpPr>
        <p:spPr>
          <a:xfrm>
            <a:off x="502920" y="713232"/>
            <a:ext cx="10972800" cy="438912"/>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Say these four things, then stop.</a:t>
            </a:r>
            <a:endParaRPr lang="en-US" sz="2800" dirty="0"/>
          </a:p>
        </p:txBody>
      </p:sp>
      <p:sp>
        <p:nvSpPr>
          <p:cNvPr id="5" name="Shape 3"/>
          <p:cNvSpPr/>
          <p:nvPr/>
        </p:nvSpPr>
        <p:spPr>
          <a:xfrm>
            <a:off x="502920" y="1417320"/>
            <a:ext cx="2743200" cy="4160520"/>
          </a:xfrm>
          <a:prstGeom prst="rect">
            <a:avLst/>
          </a:prstGeom>
          <a:solidFill>
            <a:srgbClr val="F7F1E2"/>
          </a:solidFill>
          <a:ln w="12700">
            <a:solidFill>
              <a:srgbClr val="E4D8C4"/>
            </a:solidFill>
            <a:prstDash val="solid"/>
          </a:ln>
        </p:spPr>
        <p:txBody>
          <a:bodyPr/>
          <a:lstStyle/>
          <a:p>
            <a:endParaRPr lang="en-US"/>
          </a:p>
        </p:txBody>
      </p:sp>
      <p:sp>
        <p:nvSpPr>
          <p:cNvPr id="6" name="Text 4"/>
          <p:cNvSpPr/>
          <p:nvPr/>
        </p:nvSpPr>
        <p:spPr>
          <a:xfrm>
            <a:off x="649224" y="1600200"/>
            <a:ext cx="2450592" cy="640080"/>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$22,833</a:t>
            </a:r>
            <a:endParaRPr lang="en-US" sz="2800" dirty="0"/>
          </a:p>
        </p:txBody>
      </p:sp>
      <p:sp>
        <p:nvSpPr>
          <p:cNvPr id="7" name="Text 5"/>
          <p:cNvSpPr/>
          <p:nvPr/>
        </p:nvSpPr>
        <p:spPr>
          <a:xfrm>
            <a:off x="649224" y="2286000"/>
            <a:ext cx="2450592" cy="640080"/>
          </a:xfrm>
          <a:prstGeom prst="rect">
            <a:avLst/>
          </a:prstGeom>
          <a:noFill/>
          <a:ln/>
        </p:spPr>
        <p:txBody>
          <a:bodyPr wrap="square" lIns="0" tIns="0" rIns="0" bIns="0" rtlCol="0" anchor="ctr"/>
          <a:lstStyle/>
          <a:p>
            <a:pPr marL="0" indent="0">
              <a:buNone/>
            </a:pPr>
            <a:r>
              <a:rPr lang="en-US" sz="1500" b="1" dirty="0">
                <a:solidFill>
                  <a:srgbClr val="8B1E2C"/>
                </a:solidFill>
                <a:latin typeface="Calibri" pitchFamily="34" charset="0"/>
                <a:ea typeface="Calibri" pitchFamily="34" charset="-122"/>
                <a:cs typeface="Calibri" pitchFamily="34" charset="-120"/>
              </a:rPr>
              <a:t>Smoker gap at BMI 30</a:t>
            </a:r>
            <a:endParaRPr lang="en-US" sz="1500" dirty="0"/>
          </a:p>
        </p:txBody>
      </p:sp>
      <p:sp>
        <p:nvSpPr>
          <p:cNvPr id="8" name="Text 6"/>
          <p:cNvSpPr/>
          <p:nvPr/>
        </p:nvSpPr>
        <p:spPr>
          <a:xfrm>
            <a:off x="649224" y="3017520"/>
            <a:ext cx="2450592" cy="2194560"/>
          </a:xfrm>
          <a:prstGeom prst="rect">
            <a:avLst/>
          </a:prstGeom>
          <a:noFill/>
          <a:ln/>
        </p:spPr>
        <p:txBody>
          <a:bodyPr wrap="square" lIns="0" tIns="0" rIns="0" bIns="0" rtlCol="0" anchor="ctr"/>
          <a:lstStyle/>
          <a:p>
            <a:pPr marL="0" indent="0">
              <a:buNone/>
            </a:pPr>
            <a:r>
              <a:rPr lang="en-US" sz="1400" dirty="0">
                <a:solidFill>
                  <a:srgbClr val="4E463C"/>
                </a:solidFill>
                <a:latin typeface="Calibri" pitchFamily="34" charset="0"/>
                <a:ea typeface="Calibri" pitchFamily="34" charset="-122"/>
                <a:cs typeface="Calibri" pitchFamily="34" charset="-120"/>
              </a:rPr>
              <a:t>172% of the average bill. Wider at a higher BMI. The range we would quote is $22,045 to $23,566.</a:t>
            </a:r>
            <a:endParaRPr lang="en-US" sz="1400" dirty="0"/>
          </a:p>
        </p:txBody>
      </p:sp>
      <p:sp>
        <p:nvSpPr>
          <p:cNvPr id="9" name="Shape 7"/>
          <p:cNvSpPr/>
          <p:nvPr/>
        </p:nvSpPr>
        <p:spPr>
          <a:xfrm>
            <a:off x="3383280" y="1417320"/>
            <a:ext cx="2743200" cy="4160520"/>
          </a:xfrm>
          <a:prstGeom prst="rect">
            <a:avLst/>
          </a:prstGeom>
          <a:solidFill>
            <a:srgbClr val="F7F1E2"/>
          </a:solidFill>
          <a:ln w="12700">
            <a:solidFill>
              <a:srgbClr val="E4D8C4"/>
            </a:solidFill>
            <a:prstDash val="solid"/>
          </a:ln>
        </p:spPr>
        <p:txBody>
          <a:bodyPr/>
          <a:lstStyle/>
          <a:p>
            <a:endParaRPr lang="en-US"/>
          </a:p>
        </p:txBody>
      </p:sp>
      <p:sp>
        <p:nvSpPr>
          <p:cNvPr id="10" name="Text 8"/>
          <p:cNvSpPr/>
          <p:nvPr/>
        </p:nvSpPr>
        <p:spPr>
          <a:xfrm>
            <a:off x="3529584" y="1600200"/>
            <a:ext cx="2450592" cy="640080"/>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$264</a:t>
            </a:r>
            <a:endParaRPr lang="en-US" sz="2800" dirty="0"/>
          </a:p>
        </p:txBody>
      </p:sp>
      <p:sp>
        <p:nvSpPr>
          <p:cNvPr id="11" name="Text 9"/>
          <p:cNvSpPr/>
          <p:nvPr/>
        </p:nvSpPr>
        <p:spPr>
          <a:xfrm>
            <a:off x="3529584" y="2286000"/>
            <a:ext cx="2450592" cy="640080"/>
          </a:xfrm>
          <a:prstGeom prst="rect">
            <a:avLst/>
          </a:prstGeom>
          <a:noFill/>
          <a:ln/>
        </p:spPr>
        <p:txBody>
          <a:bodyPr wrap="square" lIns="0" tIns="0" rIns="0" bIns="0" rtlCol="0" anchor="ctr"/>
          <a:lstStyle/>
          <a:p>
            <a:pPr marL="0" indent="0">
              <a:buNone/>
            </a:pPr>
            <a:r>
              <a:rPr lang="en-US" sz="1500" b="1" dirty="0">
                <a:solidFill>
                  <a:srgbClr val="8B1E2C"/>
                </a:solidFill>
                <a:latin typeface="Calibri" pitchFamily="34" charset="0"/>
                <a:ea typeface="Calibri" pitchFamily="34" charset="-122"/>
                <a:cs typeface="Calibri" pitchFamily="34" charset="-120"/>
              </a:rPr>
              <a:t>One more year of age</a:t>
            </a:r>
            <a:endParaRPr lang="en-US" sz="1500" dirty="0"/>
          </a:p>
        </p:txBody>
      </p:sp>
      <p:sp>
        <p:nvSpPr>
          <p:cNvPr id="12" name="Text 10"/>
          <p:cNvSpPr/>
          <p:nvPr/>
        </p:nvSpPr>
        <p:spPr>
          <a:xfrm>
            <a:off x="3529584" y="3017520"/>
            <a:ext cx="2450592" cy="2194560"/>
          </a:xfrm>
          <a:prstGeom prst="rect">
            <a:avLst/>
          </a:prstGeom>
          <a:noFill/>
          <a:ln/>
        </p:spPr>
        <p:txBody>
          <a:bodyPr wrap="square" lIns="0" tIns="0" rIns="0" bIns="0" rtlCol="0" anchor="ctr"/>
          <a:lstStyle/>
          <a:p>
            <a:pPr marL="0" indent="0">
              <a:buNone/>
            </a:pPr>
            <a:r>
              <a:rPr lang="en-US" sz="1400" dirty="0">
                <a:solidFill>
                  <a:srgbClr val="4E463C"/>
                </a:solidFill>
                <a:latin typeface="Calibri" pitchFamily="34" charset="0"/>
                <a:ea typeface="Calibri" pitchFamily="34" charset="-122"/>
                <a:cs typeface="Calibri" pitchFamily="34" charset="-120"/>
              </a:rPr>
              <a:t>2% of the average bill. The same slope for smokers and non-smokers. Range $245 to $283.</a:t>
            </a:r>
            <a:endParaRPr lang="en-US" sz="1400" dirty="0"/>
          </a:p>
        </p:txBody>
      </p:sp>
      <p:sp>
        <p:nvSpPr>
          <p:cNvPr id="13" name="Shape 11"/>
          <p:cNvSpPr/>
          <p:nvPr/>
        </p:nvSpPr>
        <p:spPr>
          <a:xfrm>
            <a:off x="6263640" y="1417320"/>
            <a:ext cx="2743200" cy="4160520"/>
          </a:xfrm>
          <a:prstGeom prst="rect">
            <a:avLst/>
          </a:prstGeom>
          <a:solidFill>
            <a:srgbClr val="F7F1E2"/>
          </a:solidFill>
          <a:ln w="12700">
            <a:solidFill>
              <a:srgbClr val="E4D8C4"/>
            </a:solidFill>
            <a:prstDash val="solid"/>
          </a:ln>
        </p:spPr>
        <p:txBody>
          <a:bodyPr/>
          <a:lstStyle/>
          <a:p>
            <a:endParaRPr lang="en-US"/>
          </a:p>
        </p:txBody>
      </p:sp>
      <p:sp>
        <p:nvSpPr>
          <p:cNvPr id="14" name="Text 12"/>
          <p:cNvSpPr/>
          <p:nvPr/>
        </p:nvSpPr>
        <p:spPr>
          <a:xfrm>
            <a:off x="6409944" y="1600200"/>
            <a:ext cx="2450592" cy="640080"/>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$1,207</a:t>
            </a:r>
            <a:endParaRPr lang="en-US" sz="2800" dirty="0"/>
          </a:p>
        </p:txBody>
      </p:sp>
      <p:sp>
        <p:nvSpPr>
          <p:cNvPr id="15" name="Text 13"/>
          <p:cNvSpPr/>
          <p:nvPr/>
        </p:nvSpPr>
        <p:spPr>
          <a:xfrm>
            <a:off x="6409944" y="2286000"/>
            <a:ext cx="2450592" cy="640080"/>
          </a:xfrm>
          <a:prstGeom prst="rect">
            <a:avLst/>
          </a:prstGeom>
          <a:noFill/>
          <a:ln/>
        </p:spPr>
        <p:txBody>
          <a:bodyPr wrap="square" lIns="0" tIns="0" rIns="0" bIns="0" rtlCol="0" anchor="ctr"/>
          <a:lstStyle/>
          <a:p>
            <a:pPr marL="0" indent="0">
              <a:buNone/>
            </a:pPr>
            <a:r>
              <a:rPr lang="en-US" sz="1500" b="1" dirty="0">
                <a:solidFill>
                  <a:srgbClr val="8B1E2C"/>
                </a:solidFill>
                <a:latin typeface="Calibri" pitchFamily="34" charset="0"/>
                <a:ea typeface="Calibri" pitchFamily="34" charset="-122"/>
                <a:cs typeface="Calibri" pitchFamily="34" charset="-120"/>
              </a:rPr>
              <a:t>Southeast, after adjustment</a:t>
            </a:r>
            <a:endParaRPr lang="en-US" sz="1500" dirty="0"/>
          </a:p>
        </p:txBody>
      </p:sp>
      <p:sp>
        <p:nvSpPr>
          <p:cNvPr id="16" name="Text 14"/>
          <p:cNvSpPr/>
          <p:nvPr/>
        </p:nvSpPr>
        <p:spPr>
          <a:xfrm>
            <a:off x="6409944" y="3017520"/>
            <a:ext cx="2450592" cy="2194560"/>
          </a:xfrm>
          <a:prstGeom prst="rect">
            <a:avLst/>
          </a:prstGeom>
          <a:noFill/>
          <a:ln/>
        </p:spPr>
        <p:txBody>
          <a:bodyPr wrap="square" lIns="0" tIns="0" rIns="0" bIns="0" rtlCol="0" anchor="ctr"/>
          <a:lstStyle/>
          <a:p>
            <a:pPr marL="0" indent="0">
              <a:buNone/>
            </a:pPr>
            <a:r>
              <a:rPr lang="en-US" sz="1400" dirty="0">
                <a:solidFill>
                  <a:srgbClr val="4E463C"/>
                </a:solidFill>
                <a:latin typeface="Calibri" pitchFamily="34" charset="0"/>
                <a:ea typeface="Calibri" pitchFamily="34" charset="-122"/>
                <a:cs typeface="Calibri" pitchFamily="34" charset="-120"/>
              </a:rPr>
              <a:t>About 9% of the average bill, and lower than the northeast. The raw southeast average looks high because more people there smoke.</a:t>
            </a:r>
            <a:endParaRPr lang="en-US" sz="1400" dirty="0"/>
          </a:p>
        </p:txBody>
      </p:sp>
      <p:sp>
        <p:nvSpPr>
          <p:cNvPr id="17" name="Shape 15"/>
          <p:cNvSpPr/>
          <p:nvPr/>
        </p:nvSpPr>
        <p:spPr>
          <a:xfrm>
            <a:off x="9144000" y="1417320"/>
            <a:ext cx="2743200" cy="4160520"/>
          </a:xfrm>
          <a:prstGeom prst="rect">
            <a:avLst/>
          </a:prstGeom>
          <a:solidFill>
            <a:srgbClr val="1C2A22"/>
          </a:solidFill>
          <a:ln w="12700">
            <a:solidFill>
              <a:srgbClr val="1C2A22"/>
            </a:solidFill>
            <a:prstDash val="solid"/>
          </a:ln>
        </p:spPr>
        <p:txBody>
          <a:bodyPr/>
          <a:lstStyle/>
          <a:p>
            <a:endParaRPr lang="en-US"/>
          </a:p>
        </p:txBody>
      </p:sp>
      <p:pic>
        <p:nvPicPr>
          <p:cNvPr id="23" name="Picture 22">
            <a:extLst>
              <a:ext uri="{FF2B5EF4-FFF2-40B4-BE49-F238E27FC236}">
                <a16:creationId xmlns:a16="http://schemas.microsoft.com/office/drawing/2014/main" id="{DEC177A2-EB9E-C623-A2D1-E75C6B413C7A}"/>
              </a:ext>
            </a:extLst>
          </p:cNvPr>
          <p:cNvPicPr>
            <a:picLocks noChangeAspect="1"/>
          </p:cNvPicPr>
          <p:nvPr/>
        </p:nvPicPr>
        <p:blipFill>
          <a:blip r:embed="rId3">
            <a:duotone>
              <a:prstClr val="black"/>
              <a:srgbClr val="314A3D">
                <a:alpha val="1176"/>
                <a:tint val="45000"/>
                <a:satMod val="400000"/>
              </a:srgbClr>
            </a:duotone>
            <a:alphaModFix amt="29000"/>
          </a:blip>
          <a:srcRect l="15826" r="34602" b="23389"/>
          <a:stretch>
            <a:fillRect/>
          </a:stretch>
        </p:blipFill>
        <p:spPr>
          <a:xfrm>
            <a:off x="9144001" y="1737360"/>
            <a:ext cx="2743200" cy="3840480"/>
          </a:xfrm>
          <a:prstGeom prst="rect">
            <a:avLst/>
          </a:prstGeom>
        </p:spPr>
      </p:pic>
      <p:sp>
        <p:nvSpPr>
          <p:cNvPr id="18" name="Text 16"/>
          <p:cNvSpPr/>
          <p:nvPr/>
        </p:nvSpPr>
        <p:spPr>
          <a:xfrm>
            <a:off x="9290304" y="1600200"/>
            <a:ext cx="2450592" cy="640080"/>
          </a:xfrm>
          <a:prstGeom prst="rect">
            <a:avLst/>
          </a:prstGeom>
          <a:noFill/>
          <a:ln/>
        </p:spPr>
        <p:txBody>
          <a:bodyPr wrap="square" lIns="0" tIns="0" rIns="0" bIns="0" rtlCol="0" anchor="ctr"/>
          <a:lstStyle/>
          <a:p>
            <a:pPr marL="0" indent="0">
              <a:buNone/>
            </a:pPr>
            <a:r>
              <a:rPr lang="en-US" sz="2800" dirty="0">
                <a:solidFill>
                  <a:srgbClr val="F1EADA"/>
                </a:solidFill>
                <a:latin typeface="Georgia" pitchFamily="34" charset="0"/>
                <a:ea typeface="Georgia" pitchFamily="34" charset="-122"/>
                <a:cs typeface="Georgia" pitchFamily="34" charset="-120"/>
              </a:rPr>
              <a:t>$1,111</a:t>
            </a:r>
            <a:endParaRPr lang="en-US" sz="2800" dirty="0"/>
          </a:p>
        </p:txBody>
      </p:sp>
      <p:sp>
        <p:nvSpPr>
          <p:cNvPr id="19" name="Text 17"/>
          <p:cNvSpPr/>
          <p:nvPr/>
        </p:nvSpPr>
        <p:spPr>
          <a:xfrm>
            <a:off x="9290304" y="2286000"/>
            <a:ext cx="2450592" cy="640080"/>
          </a:xfrm>
          <a:prstGeom prst="rect">
            <a:avLst/>
          </a:prstGeom>
          <a:noFill/>
          <a:ln/>
        </p:spPr>
        <p:txBody>
          <a:bodyPr wrap="square" lIns="0" tIns="0" rIns="0" bIns="0" rtlCol="0" anchor="ctr"/>
          <a:lstStyle/>
          <a:p>
            <a:pPr marL="0" indent="0">
              <a:buNone/>
            </a:pPr>
            <a:r>
              <a:rPr lang="en-US" sz="1500" b="1" dirty="0">
                <a:solidFill>
                  <a:srgbClr val="B79A68"/>
                </a:solidFill>
                <a:latin typeface="Calibri" pitchFamily="34" charset="0"/>
                <a:ea typeface="Calibri" pitchFamily="34" charset="-122"/>
                <a:cs typeface="Calibri" pitchFamily="34" charset="-120"/>
              </a:rPr>
              <a:t>Half of smoker bills</a:t>
            </a:r>
            <a:endParaRPr lang="en-US" sz="1500" dirty="0"/>
          </a:p>
        </p:txBody>
      </p:sp>
      <p:sp>
        <p:nvSpPr>
          <p:cNvPr id="21" name="Text 19"/>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22" name="Text 20"/>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02  /  16</a:t>
            </a:r>
            <a:endParaRPr lang="en-US" sz="1000" dirty="0"/>
          </a:p>
        </p:txBody>
      </p:sp>
      <p:sp>
        <p:nvSpPr>
          <p:cNvPr id="20" name="Text 18"/>
          <p:cNvSpPr/>
          <p:nvPr/>
        </p:nvSpPr>
        <p:spPr>
          <a:xfrm>
            <a:off x="9290304" y="3017520"/>
            <a:ext cx="2450592" cy="2194560"/>
          </a:xfrm>
          <a:prstGeom prst="rect">
            <a:avLst/>
          </a:prstGeom>
          <a:noFill/>
          <a:ln/>
        </p:spPr>
        <p:txBody>
          <a:bodyPr wrap="square" lIns="0" tIns="0" rIns="0" bIns="0" rtlCol="0" anchor="ctr"/>
          <a:lstStyle/>
          <a:p>
            <a:pPr marL="0" indent="0">
              <a:buNone/>
            </a:pPr>
            <a:r>
              <a:rPr lang="en-US" sz="1400" dirty="0">
                <a:solidFill>
                  <a:srgbClr val="F1EADA"/>
                </a:solidFill>
                <a:latin typeface="Calibri" pitchFamily="34" charset="0"/>
                <a:ea typeface="Calibri" pitchFamily="34" charset="-122"/>
                <a:cs typeface="Calibri" pitchFamily="34" charset="-120"/>
              </a:rPr>
              <a:t>Within $1,111 of the forest quote. The average miss is $2,198. The equation's typical smoker is off by $4,035.</a:t>
            </a:r>
            <a:endParaRPr lang="en-US" sz="14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THE ACCOUNTS</a:t>
            </a:r>
            <a:endParaRPr lang="en-US" sz="1100" dirty="0"/>
          </a:p>
        </p:txBody>
      </p:sp>
      <p:sp>
        <p:nvSpPr>
          <p:cNvPr id="4" name="Text 2"/>
          <p:cNvSpPr/>
          <p:nvPr/>
        </p:nvSpPr>
        <p:spPr>
          <a:xfrm>
            <a:off x="502920" y="777240"/>
            <a:ext cx="5852160" cy="1325880"/>
          </a:xfrm>
          <a:prstGeom prst="rect">
            <a:avLst/>
          </a:prstGeom>
          <a:noFill/>
          <a:ln/>
        </p:spPr>
        <p:txBody>
          <a:bodyPr wrap="square" lIns="0" tIns="0" rIns="0" bIns="0" rtlCol="0" anchor="ctr"/>
          <a:lstStyle/>
          <a:p>
            <a:pPr marL="0" indent="0">
              <a:buNone/>
            </a:pPr>
            <a:r>
              <a:rPr lang="en-US" sz="3000" dirty="0">
                <a:solidFill>
                  <a:srgbClr val="1C2A22"/>
                </a:solidFill>
                <a:latin typeface="Georgia" pitchFamily="34" charset="0"/>
                <a:ea typeface="Georgia" pitchFamily="34" charset="-122"/>
                <a:cs typeface="Georgia" pitchFamily="34" charset="-120"/>
              </a:rPr>
              <a:t>1,337 customers. No missing cells.</a:t>
            </a:r>
            <a:endParaRPr lang="en-US" sz="3000" dirty="0"/>
          </a:p>
          <a:p>
            <a:pPr marL="0" indent="0">
              <a:buNone/>
            </a:pPr>
            <a:r>
              <a:rPr lang="en-US" sz="3000" dirty="0">
                <a:solidFill>
                  <a:srgbClr val="1C2A22"/>
                </a:solidFill>
                <a:latin typeface="Georgia" pitchFamily="34" charset="0"/>
                <a:ea typeface="Georgia" pitchFamily="34" charset="-122"/>
                <a:cs typeface="Georgia" pitchFamily="34" charset="-120"/>
              </a:rPr>
              <a:t>One duplicate removed.</a:t>
            </a:r>
            <a:endParaRPr lang="en-US" sz="3000" dirty="0"/>
          </a:p>
        </p:txBody>
      </p:sp>
      <p:sp>
        <p:nvSpPr>
          <p:cNvPr id="5" name="Text 3"/>
          <p:cNvSpPr/>
          <p:nvPr/>
        </p:nvSpPr>
        <p:spPr>
          <a:xfrm>
            <a:off x="502920" y="2286000"/>
            <a:ext cx="5760720" cy="1737360"/>
          </a:xfrm>
          <a:prstGeom prst="rect">
            <a:avLst/>
          </a:prstGeom>
          <a:noFill/>
          <a:ln/>
        </p:spPr>
        <p:txBody>
          <a:bodyPr wrap="square" lIns="0" tIns="0" rIns="0" bIns="0" rtlCol="0" anchor="ctr"/>
          <a:lstStyle/>
          <a:p>
            <a:pPr marL="0" indent="0">
              <a:buNone/>
            </a:pPr>
            <a:r>
              <a:rPr lang="en-US" sz="1600" dirty="0">
                <a:solidFill>
                  <a:srgbClr val="4E463C"/>
                </a:solidFill>
                <a:latin typeface="Calibri" pitchFamily="34" charset="0"/>
                <a:ea typeface="Calibri" pitchFamily="34" charset="-122"/>
                <a:cs typeface="Calibri" pitchFamily="34" charset="-120"/>
              </a:rPr>
              <a:t>The file arrived with 1,338 rows. The extra copy was a 19-year-old northwest man, a non-smoker, BMI 30.59, no children, billed $1,640. We dropped that copy in the code. We did not edit the file. The average bill is $13,279. The median is $9,386, about 29% lower, because a long right tail pulls the average up.</a:t>
            </a:r>
            <a:endParaRPr lang="en-US" sz="1600" dirty="0"/>
          </a:p>
        </p:txBody>
      </p:sp>
      <p:sp>
        <p:nvSpPr>
          <p:cNvPr id="6" name="Text 4"/>
          <p:cNvSpPr/>
          <p:nvPr/>
        </p:nvSpPr>
        <p:spPr>
          <a:xfrm>
            <a:off x="502920" y="4114800"/>
            <a:ext cx="5760720" cy="1371600"/>
          </a:xfrm>
          <a:prstGeom prst="rect">
            <a:avLst/>
          </a:prstGeom>
          <a:noFill/>
          <a:ln/>
        </p:spPr>
        <p:txBody>
          <a:bodyPr wrap="square" lIns="0" tIns="0" rIns="0" bIns="0" rtlCol="0" anchor="ctr"/>
          <a:lstStyle/>
          <a:p>
            <a:pPr marL="0" indent="0">
              <a:buNone/>
            </a:pPr>
            <a:r>
              <a:rPr lang="en-US" sz="1600" dirty="0">
                <a:solidFill>
                  <a:srgbClr val="4E463C"/>
                </a:solidFill>
                <a:latin typeface="Calibri" pitchFamily="34" charset="0"/>
                <a:ea typeface="Calibri" pitchFamily="34" charset="-122"/>
                <a:cs typeface="Calibri" pitchFamily="34" charset="-120"/>
              </a:rPr>
              <a:t>Smokers are 274 people, 20.5% of the book. Sex is nearly balanced. Each region holds a few hundred customers. Only 43 people have four or five children, so a per-child amount is mostly seen from zero to three.</a:t>
            </a:r>
            <a:endParaRPr lang="en-US" sz="1600" dirty="0"/>
          </a:p>
        </p:txBody>
      </p:sp>
      <p:sp>
        <p:nvSpPr>
          <p:cNvPr id="7" name="Text 5"/>
          <p:cNvSpPr/>
          <p:nvPr/>
        </p:nvSpPr>
        <p:spPr>
          <a:xfrm>
            <a:off x="6766560" y="1051560"/>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Age</a:t>
            </a:r>
            <a:endParaRPr lang="en-US" sz="1500" dirty="0"/>
          </a:p>
        </p:txBody>
      </p:sp>
      <p:sp>
        <p:nvSpPr>
          <p:cNvPr id="8" name="Text 6"/>
          <p:cNvSpPr/>
          <p:nvPr/>
        </p:nvSpPr>
        <p:spPr>
          <a:xfrm>
            <a:off x="8869680" y="1051560"/>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Years, 18 to 64</a:t>
            </a:r>
            <a:endParaRPr lang="en-US" sz="1500" dirty="0"/>
          </a:p>
        </p:txBody>
      </p:sp>
      <p:sp>
        <p:nvSpPr>
          <p:cNvPr id="9" name="Text 7"/>
          <p:cNvSpPr/>
          <p:nvPr/>
        </p:nvSpPr>
        <p:spPr>
          <a:xfrm>
            <a:off x="6766560" y="1709928"/>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Sex</a:t>
            </a:r>
            <a:endParaRPr lang="en-US" sz="1500" dirty="0"/>
          </a:p>
        </p:txBody>
      </p:sp>
      <p:sp>
        <p:nvSpPr>
          <p:cNvPr id="10" name="Text 8"/>
          <p:cNvSpPr/>
          <p:nvPr/>
        </p:nvSpPr>
        <p:spPr>
          <a:xfrm>
            <a:off x="8869680" y="1709928"/>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Checked, then left out</a:t>
            </a:r>
            <a:endParaRPr lang="en-US" sz="1500" dirty="0"/>
          </a:p>
        </p:txBody>
      </p:sp>
      <p:sp>
        <p:nvSpPr>
          <p:cNvPr id="11" name="Text 9"/>
          <p:cNvSpPr/>
          <p:nvPr/>
        </p:nvSpPr>
        <p:spPr>
          <a:xfrm>
            <a:off x="6766560" y="2368296"/>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BMI</a:t>
            </a:r>
            <a:endParaRPr lang="en-US" sz="1500" dirty="0"/>
          </a:p>
        </p:txBody>
      </p:sp>
      <p:sp>
        <p:nvSpPr>
          <p:cNvPr id="12" name="Text 10"/>
          <p:cNvSpPr/>
          <p:nvPr/>
        </p:nvSpPr>
        <p:spPr>
          <a:xfrm>
            <a:off x="8869680" y="2368296"/>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A slope that differs for smokers</a:t>
            </a:r>
            <a:endParaRPr lang="en-US" sz="1500" dirty="0"/>
          </a:p>
        </p:txBody>
      </p:sp>
      <p:sp>
        <p:nvSpPr>
          <p:cNvPr id="13" name="Text 11"/>
          <p:cNvSpPr/>
          <p:nvPr/>
        </p:nvSpPr>
        <p:spPr>
          <a:xfrm>
            <a:off x="6766560" y="3026664"/>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Children</a:t>
            </a:r>
            <a:endParaRPr lang="en-US" sz="1500" dirty="0"/>
          </a:p>
        </p:txBody>
      </p:sp>
      <p:sp>
        <p:nvSpPr>
          <p:cNvPr id="14" name="Text 12"/>
          <p:cNvSpPr/>
          <p:nvPr/>
        </p:nvSpPr>
        <p:spPr>
          <a:xfrm>
            <a:off x="8869680" y="3026664"/>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A dollar amount per child</a:t>
            </a:r>
            <a:endParaRPr lang="en-US" sz="1500" dirty="0"/>
          </a:p>
        </p:txBody>
      </p:sp>
      <p:sp>
        <p:nvSpPr>
          <p:cNvPr id="15" name="Text 13"/>
          <p:cNvSpPr/>
          <p:nvPr/>
        </p:nvSpPr>
        <p:spPr>
          <a:xfrm>
            <a:off x="6766560" y="3685032"/>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Smoker</a:t>
            </a:r>
            <a:endParaRPr lang="en-US" sz="1500" dirty="0"/>
          </a:p>
        </p:txBody>
      </p:sp>
      <p:sp>
        <p:nvSpPr>
          <p:cNvPr id="16" name="Text 14"/>
          <p:cNvSpPr/>
          <p:nvPr/>
        </p:nvSpPr>
        <p:spPr>
          <a:xfrm>
            <a:off x="8869680" y="3685032"/>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The split in the book</a:t>
            </a:r>
            <a:endParaRPr lang="en-US" sz="1500" dirty="0"/>
          </a:p>
        </p:txBody>
      </p:sp>
      <p:sp>
        <p:nvSpPr>
          <p:cNvPr id="17" name="Text 15"/>
          <p:cNvSpPr/>
          <p:nvPr/>
        </p:nvSpPr>
        <p:spPr>
          <a:xfrm>
            <a:off x="6766560" y="4343400"/>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Region</a:t>
            </a:r>
            <a:endParaRPr lang="en-US" sz="1500" dirty="0"/>
          </a:p>
        </p:txBody>
      </p:sp>
      <p:sp>
        <p:nvSpPr>
          <p:cNvPr id="18" name="Text 16"/>
          <p:cNvSpPr/>
          <p:nvPr/>
        </p:nvSpPr>
        <p:spPr>
          <a:xfrm>
            <a:off x="8869680" y="4343400"/>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A level shift, not a new rule</a:t>
            </a:r>
            <a:endParaRPr lang="en-US" sz="1500" dirty="0"/>
          </a:p>
        </p:txBody>
      </p:sp>
      <p:sp>
        <p:nvSpPr>
          <p:cNvPr id="19" name="Text 17"/>
          <p:cNvSpPr/>
          <p:nvPr/>
        </p:nvSpPr>
        <p:spPr>
          <a:xfrm>
            <a:off x="6766560" y="5001768"/>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Charges</a:t>
            </a:r>
            <a:endParaRPr lang="en-US" sz="1500" dirty="0"/>
          </a:p>
        </p:txBody>
      </p:sp>
      <p:sp>
        <p:nvSpPr>
          <p:cNvPr id="20" name="Text 18"/>
          <p:cNvSpPr/>
          <p:nvPr/>
        </p:nvSpPr>
        <p:spPr>
          <a:xfrm>
            <a:off x="8869680" y="5001768"/>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The bill, in dollars</a:t>
            </a:r>
            <a:endParaRPr lang="en-US" sz="1500" dirty="0"/>
          </a:p>
        </p:txBody>
      </p:sp>
      <p:sp>
        <p:nvSpPr>
          <p:cNvPr id="21" name="Text 19"/>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22" name="Text 20"/>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03  /  16</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EADA"/>
        </a:solid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694CC44E-4B15-5B53-5244-CD7B674E761C}"/>
              </a:ext>
            </a:extLst>
          </p:cNvPr>
          <p:cNvPicPr>
            <a:picLocks noChangeAspect="1"/>
          </p:cNvPicPr>
          <p:nvPr/>
        </p:nvPicPr>
        <p:blipFill>
          <a:blip r:embed="rId3">
            <a:duotone>
              <a:prstClr val="black"/>
              <a:srgbClr val="314A3D">
                <a:alpha val="1176"/>
                <a:tint val="45000"/>
                <a:satMod val="400000"/>
              </a:srgbClr>
            </a:duotone>
            <a:alphaModFix amt="9000"/>
          </a:blip>
          <a:srcRect l="23459" r="-257" b="31896"/>
          <a:stretch>
            <a:fillRect/>
          </a:stretch>
        </p:blipFill>
        <p:spPr>
          <a:xfrm>
            <a:off x="0" y="3932230"/>
            <a:ext cx="3642102" cy="2925770"/>
          </a:xfrm>
          <a:prstGeom prst="rect">
            <a:avLst/>
          </a:prstGeom>
        </p:spPr>
      </p:pic>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WHERE THE MONEY SITS</a:t>
            </a:r>
            <a:endParaRPr lang="en-US" sz="1100" dirty="0"/>
          </a:p>
        </p:txBody>
      </p:sp>
      <p:sp>
        <p:nvSpPr>
          <p:cNvPr id="4" name="Text 2"/>
          <p:cNvSpPr/>
          <p:nvPr/>
        </p:nvSpPr>
        <p:spPr>
          <a:xfrm>
            <a:off x="502920" y="713232"/>
            <a:ext cx="5486400" cy="457200"/>
          </a:xfrm>
          <a:prstGeom prst="rect">
            <a:avLst/>
          </a:prstGeom>
          <a:noFill/>
          <a:ln/>
        </p:spPr>
        <p:txBody>
          <a:bodyPr wrap="square" lIns="0" tIns="0" rIns="0" bIns="0" rtlCol="0" anchor="ctr"/>
          <a:lstStyle/>
          <a:p>
            <a:pPr marL="0" indent="0">
              <a:buNone/>
            </a:pPr>
            <a:r>
              <a:rPr lang="en-US" sz="3000" dirty="0">
                <a:solidFill>
                  <a:srgbClr val="1C2A22"/>
                </a:solidFill>
                <a:latin typeface="Georgia" pitchFamily="34" charset="0"/>
                <a:ea typeface="Georgia" pitchFamily="34" charset="-122"/>
                <a:cs typeface="Georgia" pitchFamily="34" charset="-120"/>
              </a:rPr>
              <a:t>Smoking is the split.</a:t>
            </a:r>
            <a:endParaRPr lang="en-US" sz="3000" dirty="0"/>
          </a:p>
        </p:txBody>
      </p:sp>
      <p:sp>
        <p:nvSpPr>
          <p:cNvPr id="5" name="Text 3"/>
          <p:cNvSpPr/>
          <p:nvPr/>
        </p:nvSpPr>
        <p:spPr>
          <a:xfrm>
            <a:off x="502920" y="1417320"/>
            <a:ext cx="4937760" cy="777240"/>
          </a:xfrm>
          <a:prstGeom prst="rect">
            <a:avLst/>
          </a:prstGeom>
          <a:noFill/>
          <a:ln/>
        </p:spPr>
        <p:txBody>
          <a:bodyPr wrap="square" lIns="0" tIns="0" rIns="0" bIns="0" rtlCol="0" anchor="ctr"/>
          <a:lstStyle/>
          <a:p>
            <a:pPr marL="0" indent="0">
              <a:buNone/>
            </a:pPr>
            <a:r>
              <a:rPr lang="en-US" sz="4800" dirty="0">
                <a:solidFill>
                  <a:srgbClr val="8B1E2C"/>
                </a:solidFill>
                <a:latin typeface="Georgia" pitchFamily="34" charset="0"/>
                <a:ea typeface="Georgia" pitchFamily="34" charset="-122"/>
                <a:cs typeface="Georgia" pitchFamily="34" charset="-120"/>
              </a:rPr>
              <a:t>3.8×</a:t>
            </a:r>
            <a:endParaRPr lang="en-US" sz="4800" dirty="0"/>
          </a:p>
        </p:txBody>
      </p:sp>
      <p:sp>
        <p:nvSpPr>
          <p:cNvPr id="6" name="Text 4"/>
          <p:cNvSpPr/>
          <p:nvPr/>
        </p:nvSpPr>
        <p:spPr>
          <a:xfrm>
            <a:off x="502920" y="2331720"/>
            <a:ext cx="5029200" cy="1554480"/>
          </a:xfrm>
          <a:prstGeom prst="rect">
            <a:avLst/>
          </a:prstGeom>
          <a:noFill/>
          <a:ln/>
        </p:spPr>
        <p:txBody>
          <a:bodyPr wrap="square" lIns="0" tIns="0" rIns="0" bIns="0" rtlCol="0" anchor="ctr"/>
          <a:lstStyle/>
          <a:p>
            <a:pPr marL="0" indent="0">
              <a:buNone/>
            </a:pPr>
            <a:r>
              <a:rPr lang="en-US" sz="1600" dirty="0">
                <a:solidFill>
                  <a:srgbClr val="4E463C"/>
                </a:solidFill>
                <a:latin typeface="Calibri" pitchFamily="34" charset="0"/>
                <a:ea typeface="Calibri" pitchFamily="34" charset="-122"/>
                <a:cs typeface="Calibri" pitchFamily="34" charset="-120"/>
              </a:rPr>
              <a:t>Smokers average $32,050. Non-smokers average $8,441. That is about 280% higher, before any adjustment. The medians are $34,456 and $7,346. The boxes barely overlap.</a:t>
            </a:r>
            <a:endParaRPr lang="en-US" sz="1600" dirty="0"/>
          </a:p>
        </p:txBody>
      </p:sp>
      <p:sp>
        <p:nvSpPr>
          <p:cNvPr id="7" name="Text 5"/>
          <p:cNvSpPr/>
          <p:nvPr/>
        </p:nvSpPr>
        <p:spPr>
          <a:xfrm>
            <a:off x="502920" y="4023360"/>
            <a:ext cx="5029200" cy="1188720"/>
          </a:xfrm>
          <a:prstGeom prst="rect">
            <a:avLst/>
          </a:prstGeom>
          <a:noFill/>
          <a:ln/>
        </p:spPr>
        <p:txBody>
          <a:bodyPr wrap="square" lIns="0" tIns="0" rIns="0" bIns="0" rtlCol="0" anchor="ctr"/>
          <a:lstStyle/>
          <a:p>
            <a:pPr marL="0" indent="0">
              <a:buNone/>
            </a:pPr>
            <a:r>
              <a:rPr lang="en-US" sz="1600" dirty="0">
                <a:solidFill>
                  <a:srgbClr val="1C2A22"/>
                </a:solidFill>
                <a:latin typeface="Calibri" pitchFamily="34" charset="0"/>
                <a:ea typeface="Calibri" pitchFamily="34" charset="-122"/>
                <a:cs typeface="Calibri" pitchFamily="34" charset="-120"/>
              </a:rPr>
              <a:t>A pricing method that ignores smoking status is pricing the wrong book. One in five customers smokes. They are not a rounding error.</a:t>
            </a:r>
            <a:endParaRPr lang="en-US" sz="1600" dirty="0"/>
          </a:p>
        </p:txBody>
      </p:sp>
      <p:pic>
        <p:nvPicPr>
          <p:cNvPr id="8" name="Image 0" descr="figures/smoker_box.png"/>
          <p:cNvPicPr>
            <a:picLocks noChangeAspect="1"/>
          </p:cNvPicPr>
          <p:nvPr/>
        </p:nvPicPr>
        <p:blipFill>
          <a:blip r:embed="rId4"/>
          <a:stretch>
            <a:fillRect/>
          </a:stretch>
        </p:blipFill>
        <p:spPr>
          <a:xfrm>
            <a:off x="6035040" y="1417320"/>
            <a:ext cx="5623560" cy="3213463"/>
          </a:xfrm>
          <a:prstGeom prst="rect">
            <a:avLst/>
          </a:prstGeom>
        </p:spPr>
      </p:pic>
      <p:sp>
        <p:nvSpPr>
          <p:cNvPr id="9" name="Text 6"/>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0" name="Text 7"/>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04  /  16</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WHERE THE MONEY SITS</a:t>
            </a:r>
            <a:endParaRPr lang="en-US" sz="1100" dirty="0"/>
          </a:p>
        </p:txBody>
      </p:sp>
      <p:sp>
        <p:nvSpPr>
          <p:cNvPr id="4" name="Text 2"/>
          <p:cNvSpPr/>
          <p:nvPr/>
        </p:nvSpPr>
        <p:spPr>
          <a:xfrm>
            <a:off x="502920" y="658368"/>
            <a:ext cx="10972800" cy="420624"/>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Age lifts both groups. BMI lifts smokers.</a:t>
            </a:r>
            <a:endParaRPr lang="en-US" sz="2800" dirty="0"/>
          </a:p>
        </p:txBody>
      </p:sp>
      <p:pic>
        <p:nvPicPr>
          <p:cNvPr id="5" name="Image 0" descr="figures/age_smoker.png"/>
          <p:cNvPicPr>
            <a:picLocks noChangeAspect="1"/>
          </p:cNvPicPr>
          <p:nvPr/>
        </p:nvPicPr>
        <p:blipFill>
          <a:blip r:embed="rId3"/>
          <a:stretch>
            <a:fillRect/>
          </a:stretch>
        </p:blipFill>
        <p:spPr>
          <a:xfrm>
            <a:off x="411480" y="1234440"/>
            <a:ext cx="5486400" cy="2880360"/>
          </a:xfrm>
          <a:prstGeom prst="rect">
            <a:avLst/>
          </a:prstGeom>
        </p:spPr>
      </p:pic>
      <p:pic>
        <p:nvPicPr>
          <p:cNvPr id="6" name="Image 1" descr="figures/bmi_smoker.png"/>
          <p:cNvPicPr>
            <a:picLocks noChangeAspect="1"/>
          </p:cNvPicPr>
          <p:nvPr/>
        </p:nvPicPr>
        <p:blipFill>
          <a:blip r:embed="rId4"/>
          <a:stretch>
            <a:fillRect/>
          </a:stretch>
        </p:blipFill>
        <p:spPr>
          <a:xfrm>
            <a:off x="6263640" y="1234440"/>
            <a:ext cx="5486400" cy="3017520"/>
          </a:xfrm>
          <a:prstGeom prst="rect">
            <a:avLst/>
          </a:prstGeom>
        </p:spPr>
      </p:pic>
      <p:sp>
        <p:nvSpPr>
          <p:cNvPr id="7" name="Text 3"/>
          <p:cNvSpPr/>
          <p:nvPr/>
        </p:nvSpPr>
        <p:spPr>
          <a:xfrm>
            <a:off x="457200" y="4709160"/>
            <a:ext cx="5486400" cy="141732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Age correlation is 0.63 for non-smokers and 0.37 for smokers. The lines are roughly parallel. Smoking is a level shift of tens of thousands of dollars. Age is a few hundred a year.</a:t>
            </a:r>
            <a:endParaRPr lang="en-US" sz="1500" dirty="0"/>
          </a:p>
        </p:txBody>
      </p:sp>
      <p:sp>
        <p:nvSpPr>
          <p:cNvPr id="8" name="Text 4"/>
          <p:cNvSpPr/>
          <p:nvPr/>
        </p:nvSpPr>
        <p:spPr>
          <a:xfrm>
            <a:off x="6309360" y="4709160"/>
            <a:ext cx="5394960" cy="141732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BMI correlation is 0.81 for smokers and 0.08 for non-smokers. One smoker number would average a steep line and a flat line into a sentence that is true for neither group.</a:t>
            </a:r>
            <a:endParaRPr lang="en-US" sz="1500" dirty="0"/>
          </a:p>
        </p:txBody>
      </p:sp>
      <p:sp>
        <p:nvSpPr>
          <p:cNvPr id="9" name="Text 5"/>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0" name="Text 6"/>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05  /  16</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DOES REGION CHANGE THE RULE?</a:t>
            </a:r>
            <a:endParaRPr lang="en-US" sz="1100" dirty="0"/>
          </a:p>
        </p:txBody>
      </p:sp>
      <p:sp>
        <p:nvSpPr>
          <p:cNvPr id="4" name="Text 2"/>
          <p:cNvSpPr/>
          <p:nvPr/>
        </p:nvSpPr>
        <p:spPr>
          <a:xfrm>
            <a:off x="502920" y="685800"/>
            <a:ext cx="5669280" cy="1051560"/>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The smoking split shows up</a:t>
            </a:r>
            <a:endParaRPr lang="en-US" sz="2800" dirty="0"/>
          </a:p>
          <a:p>
            <a:pPr marL="0" indent="0">
              <a:buNone/>
            </a:pPr>
            <a:r>
              <a:rPr lang="en-US" sz="2800" dirty="0">
                <a:solidFill>
                  <a:srgbClr val="1C2A22"/>
                </a:solidFill>
                <a:latin typeface="Georgia" pitchFamily="34" charset="0"/>
                <a:ea typeface="Georgia" pitchFamily="34" charset="-122"/>
                <a:cs typeface="Georgia" pitchFamily="34" charset="-120"/>
              </a:rPr>
              <a:t>in every region.</a:t>
            </a:r>
            <a:endParaRPr lang="en-US" sz="2800" dirty="0"/>
          </a:p>
        </p:txBody>
      </p:sp>
      <p:sp>
        <p:nvSpPr>
          <p:cNvPr id="5" name="Text 3"/>
          <p:cNvSpPr/>
          <p:nvPr/>
        </p:nvSpPr>
        <p:spPr>
          <a:xfrm>
            <a:off x="502920" y="1920240"/>
            <a:ext cx="5303520" cy="1234440"/>
          </a:xfrm>
          <a:prstGeom prst="rect">
            <a:avLst/>
          </a:prstGeom>
          <a:noFill/>
          <a:ln/>
        </p:spPr>
        <p:txBody>
          <a:bodyPr wrap="square" lIns="0" tIns="0" rIns="0" bIns="0" rtlCol="0" anchor="ctr"/>
          <a:lstStyle/>
          <a:p>
            <a:pPr marL="0" indent="0">
              <a:buNone/>
            </a:pPr>
            <a:r>
              <a:rPr lang="en-US" sz="1600" dirty="0">
                <a:solidFill>
                  <a:srgbClr val="4E463C"/>
                </a:solidFill>
                <a:latin typeface="Calibri" pitchFamily="34" charset="0"/>
                <a:ea typeface="Calibri" pitchFamily="34" charset="-122"/>
                <a:cs typeface="Calibri" pitchFamily="34" charset="-120"/>
              </a:rPr>
              <a:t>Southeast smokers average $34,845 before any adjustment. Northeast smokers average $29,674. Same shape: a high smoker band, a low non-smoker band.</a:t>
            </a:r>
            <a:endParaRPr lang="en-US" sz="1600" dirty="0"/>
          </a:p>
        </p:txBody>
      </p:sp>
      <p:sp>
        <p:nvSpPr>
          <p:cNvPr id="6" name="Text 4"/>
          <p:cNvSpPr/>
          <p:nvPr/>
        </p:nvSpPr>
        <p:spPr>
          <a:xfrm>
            <a:off x="502920" y="3246120"/>
            <a:ext cx="5303520" cy="1554480"/>
          </a:xfrm>
          <a:prstGeom prst="rect">
            <a:avLst/>
          </a:prstGeom>
          <a:noFill/>
          <a:ln/>
        </p:spPr>
        <p:txBody>
          <a:bodyPr wrap="square" lIns="0" tIns="0" rIns="0" bIns="0" rtlCol="0" anchor="ctr"/>
          <a:lstStyle/>
          <a:p>
            <a:pPr marL="0" indent="0">
              <a:buNone/>
            </a:pPr>
            <a:r>
              <a:rPr lang="en-US" sz="1600" dirty="0">
                <a:solidFill>
                  <a:srgbClr val="1C2A22"/>
                </a:solidFill>
                <a:latin typeface="Calibri" pitchFamily="34" charset="0"/>
                <a:ea typeface="Calibri" pitchFamily="34" charset="-122"/>
                <a:cs typeface="Calibri" pitchFamily="34" charset="-120"/>
              </a:rPr>
              <a:t>The southeast also has the highest smoker share and the highest BMI. Once those are held fixed, the southeast average is lower than the northeast, not higher. Region changes who is in the book. It does not rewrite the smoking result.</a:t>
            </a:r>
            <a:endParaRPr lang="en-US" sz="1600" dirty="0"/>
          </a:p>
        </p:txBody>
      </p:sp>
      <p:pic>
        <p:nvPicPr>
          <p:cNvPr id="7" name="Image 0" descr="figures/region_smoker.png"/>
          <p:cNvPicPr>
            <a:picLocks noChangeAspect="1"/>
          </p:cNvPicPr>
          <p:nvPr/>
        </p:nvPicPr>
        <p:blipFill>
          <a:blip r:embed="rId3"/>
          <a:stretch>
            <a:fillRect/>
          </a:stretch>
        </p:blipFill>
        <p:spPr>
          <a:xfrm>
            <a:off x="6126480" y="1234440"/>
            <a:ext cx="5669280" cy="3118104"/>
          </a:xfrm>
          <a:prstGeom prst="rect">
            <a:avLst/>
          </a:prstGeom>
        </p:spPr>
      </p:pic>
      <p:sp>
        <p:nvSpPr>
          <p:cNvPr id="8" name="Text 5"/>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9" name="Text 6"/>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06  /  16</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EADA"/>
        </a:solidFill>
        <a:effectLst/>
      </p:bgPr>
    </p:bg>
    <p:spTree>
      <p:nvGrpSpPr>
        <p:cNvPr id="1" name=""/>
        <p:cNvGrpSpPr/>
        <p:nvPr/>
      </p:nvGrpSpPr>
      <p:grpSpPr>
        <a:xfrm>
          <a:off x="0" y="0"/>
          <a:ext cx="0" cy="0"/>
          <a:chOff x="0" y="0"/>
          <a:chExt cx="0" cy="0"/>
        </a:xfrm>
      </p:grpSpPr>
      <p:sp>
        <p:nvSpPr>
          <p:cNvPr id="5" name="Shape 3"/>
          <p:cNvSpPr/>
          <p:nvPr/>
        </p:nvSpPr>
        <p:spPr>
          <a:xfrm>
            <a:off x="502920" y="1325880"/>
            <a:ext cx="11155680" cy="1051560"/>
          </a:xfrm>
          <a:prstGeom prst="rect">
            <a:avLst/>
          </a:prstGeom>
          <a:solidFill>
            <a:srgbClr val="1C2A22"/>
          </a:solidFill>
          <a:ln/>
          <a:effectLst>
            <a:outerShdw blurRad="50800" dist="38100" dir="8100000" algn="tr" rotWithShape="0">
              <a:prstClr val="black">
                <a:alpha val="40000"/>
              </a:prstClr>
            </a:outerShdw>
          </a:effectLst>
        </p:spPr>
        <p:txBody>
          <a:bodyPr/>
          <a:lstStyle/>
          <a:p>
            <a:endParaRPr lang="en-US"/>
          </a:p>
        </p:txBody>
      </p:sp>
      <p:pic>
        <p:nvPicPr>
          <p:cNvPr id="24" name="Picture 23">
            <a:extLst>
              <a:ext uri="{FF2B5EF4-FFF2-40B4-BE49-F238E27FC236}">
                <a16:creationId xmlns:a16="http://schemas.microsoft.com/office/drawing/2014/main" id="{A1AF6034-47A4-65AA-B583-80DC5FF3CECB}"/>
              </a:ext>
            </a:extLst>
          </p:cNvPr>
          <p:cNvPicPr>
            <a:picLocks noChangeAspect="1"/>
          </p:cNvPicPr>
          <p:nvPr/>
        </p:nvPicPr>
        <p:blipFill>
          <a:blip r:embed="rId3">
            <a:duotone>
              <a:prstClr val="black"/>
              <a:srgbClr val="314A3D">
                <a:alpha val="1176"/>
                <a:tint val="45000"/>
                <a:satMod val="400000"/>
              </a:srgbClr>
            </a:duotone>
            <a:alphaModFix amt="18000"/>
          </a:blip>
          <a:srcRect r="10299" b="23389"/>
          <a:stretch>
            <a:fillRect/>
          </a:stretch>
        </p:blipFill>
        <p:spPr>
          <a:xfrm>
            <a:off x="3989741" y="512064"/>
            <a:ext cx="8202259" cy="6345936"/>
          </a:xfrm>
          <a:prstGeom prst="rect">
            <a:avLst/>
          </a:prstGeom>
        </p:spPr>
      </p:pic>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WHAT WE WOULD EXPLAIN</a:t>
            </a:r>
            <a:endParaRPr lang="en-US" sz="1100" dirty="0"/>
          </a:p>
        </p:txBody>
      </p:sp>
      <p:sp>
        <p:nvSpPr>
          <p:cNvPr id="4" name="Text 2"/>
          <p:cNvSpPr/>
          <p:nvPr/>
        </p:nvSpPr>
        <p:spPr>
          <a:xfrm>
            <a:off x="502920" y="685800"/>
            <a:ext cx="10972800" cy="438912"/>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The equation we would defend.</a:t>
            </a:r>
            <a:endParaRPr lang="en-US" sz="2800" dirty="0"/>
          </a:p>
        </p:txBody>
      </p:sp>
      <p:sp>
        <p:nvSpPr>
          <p:cNvPr id="6" name="Text 4"/>
          <p:cNvSpPr/>
          <p:nvPr/>
        </p:nvSpPr>
        <p:spPr>
          <a:xfrm>
            <a:off x="685800" y="1463040"/>
            <a:ext cx="10789920" cy="777240"/>
          </a:xfrm>
          <a:prstGeom prst="rect">
            <a:avLst/>
          </a:prstGeom>
          <a:noFill/>
          <a:ln/>
        </p:spPr>
        <p:txBody>
          <a:bodyPr wrap="square" lIns="0" tIns="0" rIns="0" bIns="0" rtlCol="0" anchor="ctr"/>
          <a:lstStyle/>
          <a:p>
            <a:pPr marL="0" indent="0">
              <a:buNone/>
            </a:pPr>
            <a:r>
              <a:rPr lang="en-US" sz="2000" dirty="0">
                <a:solidFill>
                  <a:srgbClr val="F1EADA"/>
                </a:solidFill>
                <a:latin typeface="Georgia" pitchFamily="34" charset="0"/>
                <a:ea typeface="Georgia" pitchFamily="34" charset="-122"/>
                <a:cs typeface="Georgia" pitchFamily="34" charset="-120"/>
              </a:rPr>
              <a:t>Bill  =  age  +  children  +  BMI  +  smoker  +  (BMI × smoker)  +  region</a:t>
            </a:r>
            <a:endParaRPr lang="en-US" sz="2000" dirty="0"/>
          </a:p>
        </p:txBody>
      </p:sp>
      <p:sp>
        <p:nvSpPr>
          <p:cNvPr id="7" name="Text 5"/>
          <p:cNvSpPr/>
          <p:nvPr/>
        </p:nvSpPr>
        <p:spPr>
          <a:xfrm>
            <a:off x="502920" y="2560320"/>
            <a:ext cx="11155680" cy="548640"/>
          </a:xfrm>
          <a:prstGeom prst="rect">
            <a:avLst/>
          </a:prstGeom>
          <a:noFill/>
          <a:ln/>
        </p:spPr>
        <p:txBody>
          <a:bodyPr wrap="square" lIns="0" tIns="0" rIns="0" bIns="0" rtlCol="0" anchor="ctr"/>
          <a:lstStyle/>
          <a:p>
            <a:pPr marL="0" indent="0">
              <a:buNone/>
            </a:pPr>
            <a:r>
              <a:rPr lang="en-US" sz="1600" dirty="0">
                <a:solidFill>
                  <a:srgbClr val="4E463C"/>
                </a:solidFill>
                <a:latin typeface="Calibri" pitchFamily="34" charset="0"/>
                <a:ea typeface="Calibri" pitchFamily="34" charset="-122"/>
                <a:cs typeface="Calibri" pitchFamily="34" charset="-120"/>
              </a:rPr>
              <a:t>Non-smoker and northeast are the reference. Sex is not in the equation. The smoker term alone is the gap at BMI 0. We do not quote it.</a:t>
            </a:r>
            <a:endParaRPr lang="en-US" sz="1600" dirty="0"/>
          </a:p>
        </p:txBody>
      </p:sp>
      <p:sp>
        <p:nvSpPr>
          <p:cNvPr id="8" name="Text 6"/>
          <p:cNvSpPr/>
          <p:nvPr/>
        </p:nvSpPr>
        <p:spPr>
          <a:xfrm>
            <a:off x="502920" y="3246120"/>
            <a:ext cx="1371600" cy="347472"/>
          </a:xfrm>
          <a:prstGeom prst="rect">
            <a:avLst/>
          </a:prstGeom>
          <a:noFill/>
          <a:ln/>
        </p:spPr>
        <p:txBody>
          <a:bodyPr wrap="square" lIns="0" tIns="0" rIns="0" bIns="0" rtlCol="0" anchor="ctr"/>
          <a:lstStyle/>
          <a:p>
            <a:pPr marL="0" indent="0">
              <a:buNone/>
            </a:pPr>
            <a:r>
              <a:rPr lang="en-US" sz="1400" b="1" dirty="0">
                <a:solidFill>
                  <a:srgbClr val="1C2A22"/>
                </a:solidFill>
                <a:latin typeface="Calibri" pitchFamily="34" charset="0"/>
                <a:ea typeface="Calibri" pitchFamily="34" charset="-122"/>
                <a:cs typeface="Calibri" pitchFamily="34" charset="-120"/>
              </a:rPr>
              <a:t>Kept</a:t>
            </a:r>
            <a:endParaRPr lang="en-US" sz="1400" dirty="0"/>
          </a:p>
        </p:txBody>
      </p:sp>
      <p:sp>
        <p:nvSpPr>
          <p:cNvPr id="9" name="Text 7"/>
          <p:cNvSpPr/>
          <p:nvPr/>
        </p:nvSpPr>
        <p:spPr>
          <a:xfrm>
            <a:off x="1965960" y="3246120"/>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Age, one slope for both groups</a:t>
            </a:r>
            <a:endParaRPr lang="en-US" sz="1500" dirty="0"/>
          </a:p>
        </p:txBody>
      </p:sp>
      <p:sp>
        <p:nvSpPr>
          <p:cNvPr id="10" name="Text 8"/>
          <p:cNvSpPr/>
          <p:nvPr/>
        </p:nvSpPr>
        <p:spPr>
          <a:xfrm>
            <a:off x="502920" y="3630168"/>
            <a:ext cx="1371600" cy="347472"/>
          </a:xfrm>
          <a:prstGeom prst="rect">
            <a:avLst/>
          </a:prstGeom>
          <a:noFill/>
          <a:ln/>
        </p:spPr>
        <p:txBody>
          <a:bodyPr wrap="square" lIns="0" tIns="0" rIns="0" bIns="0" rtlCol="0" anchor="ctr"/>
          <a:lstStyle/>
          <a:p>
            <a:pPr marL="0" indent="0">
              <a:buNone/>
            </a:pPr>
            <a:r>
              <a:rPr lang="en-US" sz="1400" b="1" dirty="0">
                <a:solidFill>
                  <a:srgbClr val="1C2A22"/>
                </a:solidFill>
                <a:latin typeface="Calibri" pitchFamily="34" charset="0"/>
                <a:ea typeface="Calibri" pitchFamily="34" charset="-122"/>
                <a:cs typeface="Calibri" pitchFamily="34" charset="-120"/>
              </a:rPr>
              <a:t>Kept</a:t>
            </a:r>
            <a:endParaRPr lang="en-US" sz="1400" dirty="0"/>
          </a:p>
        </p:txBody>
      </p:sp>
      <p:sp>
        <p:nvSpPr>
          <p:cNvPr id="11" name="Text 9"/>
          <p:cNvSpPr/>
          <p:nvPr/>
        </p:nvSpPr>
        <p:spPr>
          <a:xfrm>
            <a:off x="1965960" y="3630168"/>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Children, about $512 each</a:t>
            </a:r>
            <a:endParaRPr lang="en-US" sz="1500" dirty="0"/>
          </a:p>
        </p:txBody>
      </p:sp>
      <p:sp>
        <p:nvSpPr>
          <p:cNvPr id="12" name="Text 10"/>
          <p:cNvSpPr/>
          <p:nvPr/>
        </p:nvSpPr>
        <p:spPr>
          <a:xfrm>
            <a:off x="502920" y="4014216"/>
            <a:ext cx="1371600" cy="347472"/>
          </a:xfrm>
          <a:prstGeom prst="rect">
            <a:avLst/>
          </a:prstGeom>
          <a:noFill/>
          <a:ln/>
        </p:spPr>
        <p:txBody>
          <a:bodyPr wrap="square" lIns="0" tIns="0" rIns="0" bIns="0" rtlCol="0" anchor="ctr"/>
          <a:lstStyle/>
          <a:p>
            <a:pPr marL="0" indent="0">
              <a:buNone/>
            </a:pPr>
            <a:r>
              <a:rPr lang="en-US" sz="1400" b="1" dirty="0">
                <a:solidFill>
                  <a:srgbClr val="1C2A22"/>
                </a:solidFill>
                <a:latin typeface="Calibri" pitchFamily="34" charset="0"/>
                <a:ea typeface="Calibri" pitchFamily="34" charset="-122"/>
                <a:cs typeface="Calibri" pitchFamily="34" charset="-120"/>
              </a:rPr>
              <a:t>Kept</a:t>
            </a:r>
            <a:endParaRPr lang="en-US" sz="1400" dirty="0"/>
          </a:p>
        </p:txBody>
      </p:sp>
      <p:sp>
        <p:nvSpPr>
          <p:cNvPr id="13" name="Text 11"/>
          <p:cNvSpPr/>
          <p:nvPr/>
        </p:nvSpPr>
        <p:spPr>
          <a:xfrm>
            <a:off x="1965960" y="4014216"/>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A BMI slope only where it exists: smokers</a:t>
            </a:r>
            <a:endParaRPr lang="en-US" sz="1500" dirty="0"/>
          </a:p>
        </p:txBody>
      </p:sp>
      <p:sp>
        <p:nvSpPr>
          <p:cNvPr id="14" name="Text 12"/>
          <p:cNvSpPr/>
          <p:nvPr/>
        </p:nvSpPr>
        <p:spPr>
          <a:xfrm>
            <a:off x="502920" y="4398264"/>
            <a:ext cx="1371600" cy="347472"/>
          </a:xfrm>
          <a:prstGeom prst="rect">
            <a:avLst/>
          </a:prstGeom>
          <a:noFill/>
          <a:ln/>
        </p:spPr>
        <p:txBody>
          <a:bodyPr wrap="square" lIns="0" tIns="0" rIns="0" bIns="0" rtlCol="0" anchor="ctr"/>
          <a:lstStyle/>
          <a:p>
            <a:pPr marL="0" indent="0">
              <a:buNone/>
            </a:pPr>
            <a:r>
              <a:rPr lang="en-US" sz="1400" b="1" dirty="0">
                <a:solidFill>
                  <a:srgbClr val="1C2A22"/>
                </a:solidFill>
                <a:latin typeface="Calibri" pitchFamily="34" charset="0"/>
                <a:ea typeface="Calibri" pitchFamily="34" charset="-122"/>
                <a:cs typeface="Calibri" pitchFamily="34" charset="-120"/>
              </a:rPr>
              <a:t>Kept</a:t>
            </a:r>
            <a:endParaRPr lang="en-US" sz="1400" dirty="0"/>
          </a:p>
        </p:txBody>
      </p:sp>
      <p:sp>
        <p:nvSpPr>
          <p:cNvPr id="15" name="Text 13"/>
          <p:cNvSpPr/>
          <p:nvPr/>
        </p:nvSpPr>
        <p:spPr>
          <a:xfrm>
            <a:off x="1965960" y="4398264"/>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Region as a level shift</a:t>
            </a:r>
            <a:endParaRPr lang="en-US" sz="1500" dirty="0"/>
          </a:p>
        </p:txBody>
      </p:sp>
      <p:sp>
        <p:nvSpPr>
          <p:cNvPr id="16" name="Text 14"/>
          <p:cNvSpPr/>
          <p:nvPr/>
        </p:nvSpPr>
        <p:spPr>
          <a:xfrm>
            <a:off x="502920" y="4782312"/>
            <a:ext cx="1371600" cy="347472"/>
          </a:xfrm>
          <a:prstGeom prst="rect">
            <a:avLst/>
          </a:prstGeom>
          <a:noFill/>
          <a:ln/>
        </p:spPr>
        <p:txBody>
          <a:bodyPr wrap="square" lIns="0" tIns="0" rIns="0" bIns="0" rtlCol="0" anchor="ctr"/>
          <a:lstStyle/>
          <a:p>
            <a:pPr marL="0" indent="0">
              <a:buNone/>
            </a:pPr>
            <a:r>
              <a:rPr lang="en-US" sz="1400" b="1" dirty="0">
                <a:solidFill>
                  <a:srgbClr val="8B1E2C"/>
                </a:solidFill>
                <a:latin typeface="Calibri" pitchFamily="34" charset="0"/>
                <a:ea typeface="Calibri" pitchFamily="34" charset="-122"/>
                <a:cs typeface="Calibri" pitchFamily="34" charset="-120"/>
              </a:rPr>
              <a:t>Left out</a:t>
            </a:r>
            <a:endParaRPr lang="en-US" sz="1400" dirty="0"/>
          </a:p>
        </p:txBody>
      </p:sp>
      <p:sp>
        <p:nvSpPr>
          <p:cNvPr id="17" name="Text 15"/>
          <p:cNvSpPr/>
          <p:nvPr/>
        </p:nvSpPr>
        <p:spPr>
          <a:xfrm>
            <a:off x="1965960" y="4782312"/>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Sex. p = 0.062 after the other facts</a:t>
            </a:r>
            <a:endParaRPr lang="en-US" sz="1500" dirty="0"/>
          </a:p>
        </p:txBody>
      </p:sp>
      <p:sp>
        <p:nvSpPr>
          <p:cNvPr id="18" name="Text 16"/>
          <p:cNvSpPr/>
          <p:nvPr/>
        </p:nvSpPr>
        <p:spPr>
          <a:xfrm>
            <a:off x="502920" y="5166360"/>
            <a:ext cx="1371600" cy="347472"/>
          </a:xfrm>
          <a:prstGeom prst="rect">
            <a:avLst/>
          </a:prstGeom>
          <a:noFill/>
          <a:ln/>
        </p:spPr>
        <p:txBody>
          <a:bodyPr wrap="square" lIns="0" tIns="0" rIns="0" bIns="0" rtlCol="0" anchor="ctr"/>
          <a:lstStyle/>
          <a:p>
            <a:pPr marL="0" indent="0">
              <a:buNone/>
            </a:pPr>
            <a:r>
              <a:rPr lang="en-US" sz="1400" b="1" dirty="0">
                <a:solidFill>
                  <a:srgbClr val="8B1E2C"/>
                </a:solidFill>
                <a:latin typeface="Calibri" pitchFamily="34" charset="0"/>
                <a:ea typeface="Calibri" pitchFamily="34" charset="-122"/>
                <a:cs typeface="Calibri" pitchFamily="34" charset="-120"/>
              </a:rPr>
              <a:t>Left out</a:t>
            </a:r>
            <a:endParaRPr lang="en-US" sz="1400" dirty="0"/>
          </a:p>
        </p:txBody>
      </p:sp>
      <p:sp>
        <p:nvSpPr>
          <p:cNvPr id="19" name="Text 17"/>
          <p:cNvSpPr/>
          <p:nvPr/>
        </p:nvSpPr>
        <p:spPr>
          <a:xfrm>
            <a:off x="1965960" y="5166360"/>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A different smoker gap by region. p = 0.31</a:t>
            </a:r>
            <a:endParaRPr lang="en-US" sz="1500" dirty="0"/>
          </a:p>
        </p:txBody>
      </p:sp>
      <p:sp>
        <p:nvSpPr>
          <p:cNvPr id="20" name="Text 18"/>
          <p:cNvSpPr/>
          <p:nvPr/>
        </p:nvSpPr>
        <p:spPr>
          <a:xfrm>
            <a:off x="502920" y="5550408"/>
            <a:ext cx="1371600" cy="347472"/>
          </a:xfrm>
          <a:prstGeom prst="rect">
            <a:avLst/>
          </a:prstGeom>
          <a:noFill/>
          <a:ln/>
        </p:spPr>
        <p:txBody>
          <a:bodyPr wrap="square" lIns="0" tIns="0" rIns="0" bIns="0" rtlCol="0" anchor="ctr"/>
          <a:lstStyle/>
          <a:p>
            <a:pPr marL="0" indent="0">
              <a:buNone/>
            </a:pPr>
            <a:r>
              <a:rPr lang="en-US" sz="1400" b="1" dirty="0">
                <a:solidFill>
                  <a:srgbClr val="8B1E2C"/>
                </a:solidFill>
                <a:latin typeface="Calibri" pitchFamily="34" charset="0"/>
                <a:ea typeface="Calibri" pitchFamily="34" charset="-122"/>
                <a:cs typeface="Calibri" pitchFamily="34" charset="-120"/>
              </a:rPr>
              <a:t>Left out</a:t>
            </a:r>
            <a:endParaRPr lang="en-US" sz="1400" dirty="0"/>
          </a:p>
        </p:txBody>
      </p:sp>
      <p:sp>
        <p:nvSpPr>
          <p:cNvPr id="21" name="Text 19"/>
          <p:cNvSpPr/>
          <p:nvPr/>
        </p:nvSpPr>
        <p:spPr>
          <a:xfrm>
            <a:off x="1965960" y="5550408"/>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A different age slope by region, or by smoker</a:t>
            </a:r>
            <a:endParaRPr lang="en-US" sz="1500" dirty="0"/>
          </a:p>
        </p:txBody>
      </p:sp>
      <p:sp>
        <p:nvSpPr>
          <p:cNvPr id="22" name="Text 20"/>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23" name="Text 21"/>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07  /  16</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WHAT WE WOULD SAY OUT LOUD</a:t>
            </a:r>
            <a:endParaRPr lang="en-US" sz="1100" dirty="0"/>
          </a:p>
        </p:txBody>
      </p:sp>
      <p:sp>
        <p:nvSpPr>
          <p:cNvPr id="4" name="Text 2"/>
          <p:cNvSpPr/>
          <p:nvPr/>
        </p:nvSpPr>
        <p:spPr>
          <a:xfrm>
            <a:off x="502920" y="685800"/>
            <a:ext cx="10972800" cy="411480"/>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Two sentences, with the range.</a:t>
            </a:r>
            <a:endParaRPr lang="en-US" sz="2800" dirty="0"/>
          </a:p>
        </p:txBody>
      </p:sp>
      <p:sp>
        <p:nvSpPr>
          <p:cNvPr id="5" name="Shape 3"/>
          <p:cNvSpPr/>
          <p:nvPr/>
        </p:nvSpPr>
        <p:spPr>
          <a:xfrm>
            <a:off x="502920" y="1325880"/>
            <a:ext cx="11155680" cy="1965960"/>
          </a:xfrm>
          <a:prstGeom prst="rect">
            <a:avLst/>
          </a:prstGeom>
          <a:solidFill>
            <a:srgbClr val="F7F1E2"/>
          </a:solidFill>
          <a:ln/>
          <a:effectLst>
            <a:outerShdw blurRad="50800" dist="38100" dir="8100000" algn="tr" rotWithShape="0">
              <a:prstClr val="black">
                <a:alpha val="40000"/>
              </a:prstClr>
            </a:outerShdw>
          </a:effectLst>
        </p:spPr>
        <p:txBody>
          <a:bodyPr/>
          <a:lstStyle/>
          <a:p>
            <a:endParaRPr lang="en-US"/>
          </a:p>
        </p:txBody>
      </p:sp>
      <p:sp>
        <p:nvSpPr>
          <p:cNvPr id="6" name="Text 4"/>
          <p:cNvSpPr/>
          <p:nvPr/>
        </p:nvSpPr>
        <p:spPr>
          <a:xfrm>
            <a:off x="731520" y="1463040"/>
            <a:ext cx="1828800" cy="256032"/>
          </a:xfrm>
          <a:prstGeom prst="rect">
            <a:avLst/>
          </a:prstGeom>
          <a:noFill/>
          <a:ln/>
        </p:spPr>
        <p:txBody>
          <a:bodyPr wrap="square" lIns="0" tIns="0" rIns="0" bIns="0" rtlCol="0" anchor="ctr"/>
          <a:lstStyle/>
          <a:p>
            <a:pPr marL="0" indent="0">
              <a:buNone/>
            </a:pPr>
            <a:r>
              <a:rPr lang="en-US" sz="1200" b="1" kern="0" spc="140" dirty="0">
                <a:solidFill>
                  <a:srgbClr val="9D7D3B"/>
                </a:solidFill>
                <a:latin typeface="Calibri" pitchFamily="34" charset="0"/>
                <a:ea typeface="Calibri" pitchFamily="34" charset="-122"/>
                <a:cs typeface="Calibri" pitchFamily="34" charset="-120"/>
              </a:rPr>
              <a:t>AGE</a:t>
            </a:r>
            <a:endParaRPr lang="en-US" sz="1200" dirty="0"/>
          </a:p>
        </p:txBody>
      </p:sp>
      <p:sp>
        <p:nvSpPr>
          <p:cNvPr id="7" name="Text 5"/>
          <p:cNvSpPr/>
          <p:nvPr/>
        </p:nvSpPr>
        <p:spPr>
          <a:xfrm>
            <a:off x="731520" y="1783080"/>
            <a:ext cx="10607040" cy="1280160"/>
          </a:xfrm>
          <a:prstGeom prst="rect">
            <a:avLst/>
          </a:prstGeom>
          <a:noFill/>
          <a:ln/>
        </p:spPr>
        <p:txBody>
          <a:bodyPr wrap="square" lIns="0" tIns="0" rIns="0" bIns="0" rtlCol="0" anchor="ctr"/>
          <a:lstStyle/>
          <a:p>
            <a:pPr marL="0" indent="0">
              <a:buNone/>
            </a:pPr>
            <a:r>
              <a:rPr lang="en-US" sz="1600" dirty="0">
                <a:solidFill>
                  <a:srgbClr val="1C2A22"/>
                </a:solidFill>
                <a:latin typeface="Calibri" pitchFamily="34" charset="0"/>
                <a:ea typeface="Calibri" pitchFamily="34" charset="-122"/>
                <a:cs typeface="Calibri" pitchFamily="34" charset="-120"/>
              </a:rPr>
              <a:t>Holding BMI, smoking, children, and region fixed, one more year of age is associated with $264 higher mean charges. Ordinary range $245 to $283. The resample that keeps each customer with their own miss gives the same range. About 2% of the average bill. Same slope in both groups.</a:t>
            </a:r>
            <a:endParaRPr lang="en-US" sz="1600" dirty="0"/>
          </a:p>
        </p:txBody>
      </p:sp>
      <p:sp>
        <p:nvSpPr>
          <p:cNvPr id="8" name="Shape 6"/>
          <p:cNvSpPr/>
          <p:nvPr/>
        </p:nvSpPr>
        <p:spPr>
          <a:xfrm>
            <a:off x="502920" y="3474720"/>
            <a:ext cx="11155680" cy="2148840"/>
          </a:xfrm>
          <a:prstGeom prst="rect">
            <a:avLst/>
          </a:prstGeom>
          <a:solidFill>
            <a:srgbClr val="1C2A22"/>
          </a:solidFill>
          <a:ln/>
          <a:effectLst>
            <a:outerShdw blurRad="50800" dist="38100" dir="8100000" algn="tr" rotWithShape="0">
              <a:prstClr val="black">
                <a:alpha val="40000"/>
              </a:prstClr>
            </a:outerShdw>
          </a:effectLst>
        </p:spPr>
        <p:txBody>
          <a:bodyPr/>
          <a:lstStyle/>
          <a:p>
            <a:endParaRPr lang="en-US"/>
          </a:p>
        </p:txBody>
      </p:sp>
      <p:sp>
        <p:nvSpPr>
          <p:cNvPr id="9" name="Text 7"/>
          <p:cNvSpPr/>
          <p:nvPr/>
        </p:nvSpPr>
        <p:spPr>
          <a:xfrm>
            <a:off x="731520" y="3611880"/>
            <a:ext cx="5486400" cy="256032"/>
          </a:xfrm>
          <a:prstGeom prst="rect">
            <a:avLst/>
          </a:prstGeom>
          <a:noFill/>
          <a:ln/>
        </p:spPr>
        <p:txBody>
          <a:bodyPr wrap="square" lIns="0" tIns="0" rIns="0" bIns="0" rtlCol="0" anchor="ctr"/>
          <a:lstStyle/>
          <a:p>
            <a:pPr marL="0" indent="0">
              <a:buNone/>
            </a:pPr>
            <a:r>
              <a:rPr lang="en-US" sz="1200" b="1" kern="0" spc="140" dirty="0">
                <a:solidFill>
                  <a:srgbClr val="B79A68"/>
                </a:solidFill>
                <a:latin typeface="Calibri" pitchFamily="34" charset="0"/>
                <a:ea typeface="Calibri" pitchFamily="34" charset="-122"/>
                <a:cs typeface="Calibri" pitchFamily="34" charset="-120"/>
              </a:rPr>
              <a:t>SMOKER, AT BMI 30</a:t>
            </a:r>
            <a:endParaRPr lang="en-US" sz="1200" dirty="0"/>
          </a:p>
        </p:txBody>
      </p:sp>
      <p:sp>
        <p:nvSpPr>
          <p:cNvPr id="10" name="Text 8"/>
          <p:cNvSpPr/>
          <p:nvPr/>
        </p:nvSpPr>
        <p:spPr>
          <a:xfrm>
            <a:off x="731520" y="3950208"/>
            <a:ext cx="10607040" cy="1463040"/>
          </a:xfrm>
          <a:prstGeom prst="rect">
            <a:avLst/>
          </a:prstGeom>
          <a:noFill/>
          <a:ln/>
        </p:spPr>
        <p:txBody>
          <a:bodyPr wrap="square" lIns="0" tIns="0" rIns="0" bIns="0" rtlCol="0" anchor="ctr"/>
          <a:lstStyle/>
          <a:p>
            <a:pPr marL="0" indent="0">
              <a:buNone/>
            </a:pPr>
            <a:r>
              <a:rPr lang="en-US" sz="1600" dirty="0">
                <a:solidFill>
                  <a:srgbClr val="F1EADA"/>
                </a:solidFill>
                <a:latin typeface="Calibri" pitchFamily="34" charset="0"/>
                <a:ea typeface="Calibri" pitchFamily="34" charset="-122"/>
                <a:cs typeface="Calibri" pitchFamily="34" charset="-120"/>
              </a:rPr>
              <a:t>Holding age, children, and region fixed, a smoker at BMI 30 has mean charges $22,833 higher than a non-smoker at the same BMI. The range we would quote is $22,045 to $23,566. At BMI 25 the gap is $15,643. At BMI 35 it is $30,024. This describes the file. It is not what the bill would do if a particular person stopped smoking.</a:t>
            </a:r>
            <a:endParaRPr lang="en-US" sz="1600" dirty="0"/>
          </a:p>
        </p:txBody>
      </p:sp>
      <p:sp>
        <p:nvSpPr>
          <p:cNvPr id="11" name="Text 9"/>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2" name="Text 10"/>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08  /  16</a:t>
            </a:r>
            <a:endParaRPr lang="en-US" sz="1000" dirty="0"/>
          </a:p>
        </p:txBody>
      </p:sp>
      <p:pic>
        <p:nvPicPr>
          <p:cNvPr id="13" name="Picture 12">
            <a:extLst>
              <a:ext uri="{FF2B5EF4-FFF2-40B4-BE49-F238E27FC236}">
                <a16:creationId xmlns:a16="http://schemas.microsoft.com/office/drawing/2014/main" id="{C19FC6FD-9275-B08D-F67F-BC8ECF21BB62}"/>
              </a:ext>
            </a:extLst>
          </p:cNvPr>
          <p:cNvPicPr>
            <a:picLocks noChangeAspect="1"/>
          </p:cNvPicPr>
          <p:nvPr/>
        </p:nvPicPr>
        <p:blipFill>
          <a:blip r:embed="rId3">
            <a:duotone>
              <a:prstClr val="black"/>
              <a:srgbClr val="314A3D">
                <a:alpha val="1176"/>
                <a:tint val="45000"/>
                <a:satMod val="400000"/>
              </a:srgbClr>
            </a:duotone>
            <a:alphaModFix amt="18000"/>
          </a:blip>
          <a:srcRect r="10299" b="23389"/>
          <a:stretch>
            <a:fillRect/>
          </a:stretch>
        </p:blipFill>
        <p:spPr>
          <a:xfrm>
            <a:off x="3989741" y="512064"/>
            <a:ext cx="8202259" cy="6345936"/>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WHY NOT ONE ERROR BAR</a:t>
            </a:r>
            <a:endParaRPr lang="en-US" sz="1100" dirty="0"/>
          </a:p>
        </p:txBody>
      </p:sp>
      <p:sp>
        <p:nvSpPr>
          <p:cNvPr id="4" name="Text 2"/>
          <p:cNvSpPr/>
          <p:nvPr/>
        </p:nvSpPr>
        <p:spPr>
          <a:xfrm>
            <a:off x="502920" y="685800"/>
            <a:ext cx="10972800" cy="411480"/>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The misses are not one band.</a:t>
            </a:r>
            <a:endParaRPr lang="en-US" sz="2800" dirty="0"/>
          </a:p>
        </p:txBody>
      </p:sp>
      <p:pic>
        <p:nvPicPr>
          <p:cNvPr id="5" name="Image 0" descr="figures/residuals.png"/>
          <p:cNvPicPr>
            <a:picLocks noChangeAspect="1"/>
          </p:cNvPicPr>
          <p:nvPr/>
        </p:nvPicPr>
        <p:blipFill>
          <a:blip r:embed="rId3"/>
          <a:stretch>
            <a:fillRect/>
          </a:stretch>
        </p:blipFill>
        <p:spPr>
          <a:xfrm>
            <a:off x="365760" y="1234440"/>
            <a:ext cx="6537960" cy="3432429"/>
          </a:xfrm>
          <a:prstGeom prst="rect">
            <a:avLst/>
          </a:prstGeom>
        </p:spPr>
      </p:pic>
      <p:sp>
        <p:nvSpPr>
          <p:cNvPr id="6" name="Text 3"/>
          <p:cNvSpPr/>
          <p:nvPr/>
        </p:nvSpPr>
        <p:spPr>
          <a:xfrm>
            <a:off x="7132320" y="1325880"/>
            <a:ext cx="4572000" cy="411480"/>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$5,717</a:t>
            </a:r>
            <a:endParaRPr lang="en-US" sz="2600" dirty="0"/>
          </a:p>
        </p:txBody>
      </p:sp>
      <p:sp>
        <p:nvSpPr>
          <p:cNvPr id="7" name="Text 4"/>
          <p:cNvSpPr/>
          <p:nvPr/>
        </p:nvSpPr>
        <p:spPr>
          <a:xfrm>
            <a:off x="7132320" y="1764792"/>
            <a:ext cx="4572000" cy="77724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Typical smoker miss, as a standard deviation.</a:t>
            </a:r>
            <a:endParaRPr lang="en-US" sz="1500" dirty="0"/>
          </a:p>
        </p:txBody>
      </p:sp>
      <p:sp>
        <p:nvSpPr>
          <p:cNvPr id="8" name="Text 5"/>
          <p:cNvSpPr/>
          <p:nvPr/>
        </p:nvSpPr>
        <p:spPr>
          <a:xfrm>
            <a:off x="7132320" y="2743200"/>
            <a:ext cx="4572000" cy="411480"/>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$4,588</a:t>
            </a:r>
            <a:endParaRPr lang="en-US" sz="2600" dirty="0"/>
          </a:p>
        </p:txBody>
      </p:sp>
      <p:sp>
        <p:nvSpPr>
          <p:cNvPr id="9" name="Text 6"/>
          <p:cNvSpPr/>
          <p:nvPr/>
        </p:nvSpPr>
        <p:spPr>
          <a:xfrm>
            <a:off x="7132320" y="3182112"/>
            <a:ext cx="4572000" cy="77724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Typical non-smoker miss. Wider is real. It is not double.</a:t>
            </a:r>
            <a:endParaRPr lang="en-US" sz="1500" dirty="0"/>
          </a:p>
        </p:txBody>
      </p:sp>
      <p:sp>
        <p:nvSpPr>
          <p:cNvPr id="10" name="Text 7"/>
          <p:cNvSpPr/>
          <p:nvPr/>
        </p:nvSpPr>
        <p:spPr>
          <a:xfrm>
            <a:off x="7132320" y="4160520"/>
            <a:ext cx="4572000" cy="411480"/>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48 people</a:t>
            </a:r>
            <a:endParaRPr lang="en-US" sz="2600" dirty="0"/>
          </a:p>
        </p:txBody>
      </p:sp>
      <p:sp>
        <p:nvSpPr>
          <p:cNvPr id="11" name="Text 8"/>
          <p:cNvSpPr/>
          <p:nvPr/>
        </p:nvSpPr>
        <p:spPr>
          <a:xfrm>
            <a:off x="7132320" y="4599432"/>
            <a:ext cx="4572000" cy="77724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More than three standard misses off the line. Almost all are non-smokers. Nothing in the file explains them.</a:t>
            </a:r>
            <a:endParaRPr lang="en-US" sz="1500" dirty="0"/>
          </a:p>
        </p:txBody>
      </p:sp>
      <p:sp>
        <p:nvSpPr>
          <p:cNvPr id="12" name="Text 9"/>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3" name="Text 10"/>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09  /  16</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BIAS AND VARIANCE</a:t>
            </a:r>
            <a:endParaRPr lang="en-US" sz="1100" dirty="0"/>
          </a:p>
        </p:txBody>
      </p:sp>
      <p:sp>
        <p:nvSpPr>
          <p:cNvPr id="4" name="Text 2"/>
          <p:cNvSpPr/>
          <p:nvPr/>
        </p:nvSpPr>
        <p:spPr>
          <a:xfrm>
            <a:off x="502920" y="621792"/>
            <a:ext cx="11155680" cy="365760"/>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Straight lines climb. The forest levels off.</a:t>
            </a:r>
            <a:endParaRPr lang="en-US" sz="2600" dirty="0"/>
          </a:p>
        </p:txBody>
      </p:sp>
      <p:pic>
        <p:nvPicPr>
          <p:cNvPr id="5" name="Image 0" descr="figures/bias_variance.png"/>
          <p:cNvPicPr>
            <a:picLocks noChangeAspect="1"/>
          </p:cNvPicPr>
          <p:nvPr/>
        </p:nvPicPr>
        <p:blipFill>
          <a:blip r:embed="rId3"/>
          <a:stretch>
            <a:fillRect/>
          </a:stretch>
        </p:blipFill>
        <p:spPr>
          <a:xfrm>
            <a:off x="1843888" y="1115568"/>
            <a:ext cx="8503920" cy="4762195"/>
          </a:xfrm>
          <a:prstGeom prst="rect">
            <a:avLst/>
          </a:prstGeom>
        </p:spPr>
      </p:pic>
      <p:sp>
        <p:nvSpPr>
          <p:cNvPr id="6" name="Text 3"/>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7" name="Text 4"/>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10  /  16</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THE TYPICAL CUSTOMER</a:t>
            </a:r>
            <a:endParaRPr lang="en-US" sz="1100" dirty="0"/>
          </a:p>
        </p:txBody>
      </p:sp>
      <p:sp>
        <p:nvSpPr>
          <p:cNvPr id="4" name="Text 2"/>
          <p:cNvSpPr/>
          <p:nvPr/>
        </p:nvSpPr>
        <p:spPr>
          <a:xfrm>
            <a:off x="502920" y="621792"/>
            <a:ext cx="11155680" cy="347472"/>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Half the bills are much closer than the average.</a:t>
            </a:r>
            <a:endParaRPr lang="en-US" sz="2600" dirty="0"/>
          </a:p>
        </p:txBody>
      </p:sp>
      <p:pic>
        <p:nvPicPr>
          <p:cNvPr id="5" name="Image 0" descr="figures/median_vs_mean.png"/>
          <p:cNvPicPr>
            <a:picLocks noChangeAspect="1"/>
          </p:cNvPicPr>
          <p:nvPr/>
        </p:nvPicPr>
        <p:blipFill>
          <a:blip r:embed="rId3"/>
          <a:stretch>
            <a:fillRect/>
          </a:stretch>
        </p:blipFill>
        <p:spPr>
          <a:xfrm>
            <a:off x="1798168" y="1051560"/>
            <a:ext cx="8595360" cy="4469587"/>
          </a:xfrm>
          <a:prstGeom prst="rect">
            <a:avLst/>
          </a:prstGeom>
        </p:spPr>
      </p:pic>
      <p:sp>
        <p:nvSpPr>
          <p:cNvPr id="6" name="Text 3"/>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7" name="Text 4"/>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11  /  16</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PRICING THE NEXT CUSTOMER</a:t>
            </a:r>
            <a:endParaRPr lang="en-US" sz="1100" dirty="0"/>
          </a:p>
        </p:txBody>
      </p:sp>
      <p:sp>
        <p:nvSpPr>
          <p:cNvPr id="4" name="Text 2"/>
          <p:cNvSpPr/>
          <p:nvPr/>
        </p:nvSpPr>
        <p:spPr>
          <a:xfrm>
            <a:off x="502920" y="640080"/>
            <a:ext cx="7315200" cy="384048"/>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Longer equations do not win.</a:t>
            </a:r>
            <a:endParaRPr lang="en-US" sz="2800" dirty="0"/>
          </a:p>
        </p:txBody>
      </p:sp>
      <p:pic>
        <p:nvPicPr>
          <p:cNvPr id="5" name="Image 0" descr="figures/error_comparison.png"/>
          <p:cNvPicPr>
            <a:picLocks noChangeAspect="1"/>
          </p:cNvPicPr>
          <p:nvPr/>
        </p:nvPicPr>
        <p:blipFill>
          <a:blip r:embed="rId3"/>
          <a:stretch>
            <a:fillRect/>
          </a:stretch>
        </p:blipFill>
        <p:spPr>
          <a:xfrm>
            <a:off x="320040" y="1170432"/>
            <a:ext cx="7040880" cy="3810359"/>
          </a:xfrm>
          <a:prstGeom prst="rect">
            <a:avLst/>
          </a:prstGeom>
        </p:spPr>
      </p:pic>
      <p:sp>
        <p:nvSpPr>
          <p:cNvPr id="6" name="Text 3"/>
          <p:cNvSpPr/>
          <p:nvPr/>
        </p:nvSpPr>
        <p:spPr>
          <a:xfrm>
            <a:off x="7635240" y="1325880"/>
            <a:ext cx="4114800" cy="438912"/>
          </a:xfrm>
          <a:prstGeom prst="rect">
            <a:avLst/>
          </a:prstGeom>
          <a:noFill/>
          <a:ln/>
        </p:spPr>
        <p:txBody>
          <a:bodyPr wrap="square" lIns="0" tIns="0" rIns="0" bIns="0" rtlCol="0" anchor="ctr"/>
          <a:lstStyle/>
          <a:p>
            <a:pPr marL="0" indent="0">
              <a:buNone/>
            </a:pPr>
            <a:r>
              <a:rPr lang="en-US" sz="2600" dirty="0">
                <a:solidFill>
                  <a:srgbClr val="8B1E2C"/>
                </a:solidFill>
                <a:latin typeface="Georgia" pitchFamily="34" charset="0"/>
                <a:ea typeface="Georgia" pitchFamily="34" charset="-122"/>
                <a:cs typeface="Georgia" pitchFamily="34" charset="-120"/>
              </a:rPr>
              <a:t>$4,624</a:t>
            </a:r>
            <a:endParaRPr lang="en-US" sz="2600" dirty="0"/>
          </a:p>
        </p:txBody>
      </p:sp>
      <p:sp>
        <p:nvSpPr>
          <p:cNvPr id="7" name="Text 4"/>
          <p:cNvSpPr/>
          <p:nvPr/>
        </p:nvSpPr>
        <p:spPr>
          <a:xfrm>
            <a:off x="7635240" y="1783080"/>
            <a:ext cx="4114800" cy="822960"/>
          </a:xfrm>
          <a:prstGeom prst="rect">
            <a:avLst/>
          </a:prstGeom>
          <a:noFill/>
          <a:ln/>
        </p:spPr>
        <p:txBody>
          <a:bodyPr wrap="square" lIns="0" tIns="0" rIns="0" bIns="0" rtlCol="0" anchor="ctr"/>
          <a:lstStyle/>
          <a:p>
            <a:pPr marL="0" indent="0">
              <a:buNone/>
            </a:pPr>
            <a:r>
              <a:rPr lang="en-US" sz="1400" dirty="0">
                <a:solidFill>
                  <a:srgbClr val="4E463C"/>
                </a:solidFill>
                <a:latin typeface="Calibri" pitchFamily="34" charset="0"/>
                <a:ea typeface="Calibri" pitchFamily="34" charset="-122"/>
                <a:cs typeface="Calibri" pitchFamily="34" charset="-120"/>
              </a:rPr>
              <a:t>Forest, repeated check. Held-out fifth: $4,366.</a:t>
            </a:r>
            <a:endParaRPr lang="en-US" sz="1400" dirty="0"/>
          </a:p>
        </p:txBody>
      </p:sp>
      <p:sp>
        <p:nvSpPr>
          <p:cNvPr id="8" name="Text 5"/>
          <p:cNvSpPr/>
          <p:nvPr/>
        </p:nvSpPr>
        <p:spPr>
          <a:xfrm>
            <a:off x="7635240" y="2880360"/>
            <a:ext cx="4114800" cy="438912"/>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$4,816</a:t>
            </a:r>
            <a:endParaRPr lang="en-US" sz="2600" dirty="0"/>
          </a:p>
        </p:txBody>
      </p:sp>
      <p:sp>
        <p:nvSpPr>
          <p:cNvPr id="9" name="Text 6"/>
          <p:cNvSpPr/>
          <p:nvPr/>
        </p:nvSpPr>
        <p:spPr>
          <a:xfrm>
            <a:off x="7635240" y="3337560"/>
            <a:ext cx="4114800" cy="822960"/>
          </a:xfrm>
          <a:prstGeom prst="rect">
            <a:avLst/>
          </a:prstGeom>
          <a:noFill/>
          <a:ln/>
        </p:spPr>
        <p:txBody>
          <a:bodyPr wrap="square" lIns="0" tIns="0" rIns="0" bIns="0" rtlCol="0" anchor="ctr"/>
          <a:lstStyle/>
          <a:p>
            <a:pPr marL="0" indent="0">
              <a:buNone/>
            </a:pPr>
            <a:r>
              <a:rPr lang="en-US" sz="1400" dirty="0">
                <a:solidFill>
                  <a:srgbClr val="4E463C"/>
                </a:solidFill>
                <a:latin typeface="Calibri" pitchFamily="34" charset="0"/>
                <a:ea typeface="Calibri" pitchFamily="34" charset="-122"/>
                <a:cs typeface="Calibri" pitchFamily="34" charset="-120"/>
              </a:rPr>
              <a:t>Explanation equation. Only $192 higher.</a:t>
            </a:r>
            <a:endParaRPr lang="en-US" sz="1400" dirty="0"/>
          </a:p>
        </p:txBody>
      </p:sp>
      <p:sp>
        <p:nvSpPr>
          <p:cNvPr id="10" name="Text 7"/>
          <p:cNvSpPr/>
          <p:nvPr/>
        </p:nvSpPr>
        <p:spPr>
          <a:xfrm>
            <a:off x="7635240" y="4434840"/>
            <a:ext cx="4114800" cy="438912"/>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$5,384</a:t>
            </a:r>
            <a:endParaRPr lang="en-US" sz="2600" dirty="0"/>
          </a:p>
        </p:txBody>
      </p:sp>
      <p:sp>
        <p:nvSpPr>
          <p:cNvPr id="11" name="Text 8"/>
          <p:cNvSpPr/>
          <p:nvPr/>
        </p:nvSpPr>
        <p:spPr>
          <a:xfrm>
            <a:off x="7635240" y="4892040"/>
            <a:ext cx="4114800" cy="822960"/>
          </a:xfrm>
          <a:prstGeom prst="rect">
            <a:avLst/>
          </a:prstGeom>
          <a:noFill/>
          <a:ln/>
        </p:spPr>
        <p:txBody>
          <a:bodyPr wrap="square" lIns="0" tIns="0" rIns="0" bIns="0" rtlCol="0" anchor="ctr"/>
          <a:lstStyle/>
          <a:p>
            <a:pPr marL="0" indent="0">
              <a:buNone/>
            </a:pPr>
            <a:r>
              <a:rPr lang="en-US" sz="1400" dirty="0">
                <a:solidFill>
                  <a:srgbClr val="4E463C"/>
                </a:solidFill>
                <a:latin typeface="Calibri" pitchFamily="34" charset="0"/>
                <a:ea typeface="Calibri" pitchFamily="34" charset="-122"/>
                <a:cs typeface="Calibri" pitchFamily="34" charset="-120"/>
              </a:rPr>
              <a:t>Nearest neighbors, at 7 neighbors. Worse.</a:t>
            </a:r>
            <a:endParaRPr lang="en-US" sz="1400" dirty="0"/>
          </a:p>
        </p:txBody>
      </p:sp>
      <p:sp>
        <p:nvSpPr>
          <p:cNvPr id="12" name="Text 9"/>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3" name="Text 10"/>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12  /  16</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PRICING THE NEXT CUSTOMER</a:t>
            </a:r>
            <a:endParaRPr lang="en-US" sz="1100" dirty="0"/>
          </a:p>
        </p:txBody>
      </p:sp>
      <p:sp>
        <p:nvSpPr>
          <p:cNvPr id="4" name="Text 2"/>
          <p:cNvSpPr/>
          <p:nvPr/>
        </p:nvSpPr>
        <p:spPr>
          <a:xfrm>
            <a:off x="502920" y="658368"/>
            <a:ext cx="10972800" cy="384048"/>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What we tried, and the dollar miss.</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11155680" cy="3794760"/>
        </p:xfrm>
        <a:graphic>
          <a:graphicData uri="http://schemas.openxmlformats.org/drawingml/2006/table">
            <a:tbl>
              <a:tblPr/>
              <a:tblGrid>
                <a:gridCol w="493776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474345">
                <a:tc>
                  <a:txBody>
                    <a:bodyPr/>
                    <a:lstStyle/>
                    <a:p>
                      <a:pPr marL="0" indent="0" algn="l">
                        <a:buNone/>
                      </a:pPr>
                      <a:r>
                        <a:rPr lang="en-US" sz="1400" b="1" dirty="0">
                          <a:solidFill>
                            <a:srgbClr val="F1EADA"/>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1C2A22"/>
                    </a:solidFill>
                  </a:tcPr>
                </a:tc>
                <a:tc>
                  <a:txBody>
                    <a:bodyPr/>
                    <a:lstStyle/>
                    <a:p>
                      <a:pPr marL="0" indent="0" algn="l">
                        <a:buNone/>
                      </a:pPr>
                      <a:r>
                        <a:rPr lang="en-US" sz="1400" b="1" dirty="0">
                          <a:solidFill>
                            <a:srgbClr val="F1EADA"/>
                          </a:solidFill>
                          <a:latin typeface="Calibri" pitchFamily="34" charset="0"/>
                          <a:ea typeface="Calibri" pitchFamily="34" charset="-122"/>
                          <a:cs typeface="Calibri" pitchFamily="34" charset="-120"/>
                        </a:rPr>
                        <a:t>Repeated check</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1C2A22"/>
                    </a:solidFill>
                  </a:tcPr>
                </a:tc>
                <a:tc>
                  <a:txBody>
                    <a:bodyPr/>
                    <a:lstStyle/>
                    <a:p>
                      <a:pPr marL="0" indent="0" algn="l">
                        <a:buNone/>
                      </a:pPr>
                      <a:r>
                        <a:rPr lang="en-US" sz="1400" b="1" dirty="0">
                          <a:solidFill>
                            <a:srgbClr val="F1EADA"/>
                          </a:solidFill>
                          <a:latin typeface="Calibri" pitchFamily="34" charset="0"/>
                          <a:ea typeface="Calibri" pitchFamily="34" charset="-122"/>
                          <a:cs typeface="Calibri" pitchFamily="34" charset="-120"/>
                        </a:rPr>
                        <a:t>Held-out fifth</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1C2A22"/>
                    </a:solidFill>
                  </a:tcPr>
                </a:tc>
                <a:extLst>
                  <a:ext uri="{0D108BD9-81ED-4DB2-BD59-A6C34878D82A}">
                    <a16:rowId xmlns:a16="http://schemas.microsoft.com/office/drawing/2014/main" val="10000"/>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Explanation equation</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$4,816</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$4,714</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extLst>
                  <a:ext uri="{0D108BD9-81ED-4DB2-BD59-A6C34878D82A}">
                    <a16:rowId xmlns:a16="http://schemas.microsoft.com/office/drawing/2014/main" val="10001"/>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All two-way products</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$4,842</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$4,761</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extLst>
                  <a:ext uri="{0D108BD9-81ED-4DB2-BD59-A6C34878D82A}">
                    <a16:rowId xmlns:a16="http://schemas.microsoft.com/office/drawing/2014/main" val="10002"/>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Term search</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$4,836</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$4,781</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extLst>
                  <a:ext uri="{0D108BD9-81ED-4DB2-BD59-A6C34878D82A}">
                    <a16:rowId xmlns:a16="http://schemas.microsoft.com/office/drawing/2014/main" val="10003"/>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Shrunk equation</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$5,050</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$4,842</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extLst>
                  <a:ext uri="{0D108BD9-81ED-4DB2-BD59-A6C34878D82A}">
                    <a16:rowId xmlns:a16="http://schemas.microsoft.com/office/drawing/2014/main" val="10004"/>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Nearest neighbors</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$5,384</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$5,165</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extLst>
                  <a:ext uri="{0D108BD9-81ED-4DB2-BD59-A6C34878D82A}">
                    <a16:rowId xmlns:a16="http://schemas.microsoft.com/office/drawing/2014/main" val="10005"/>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Averaged trees</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$4,867</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$4,448</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extLst>
                  <a:ext uri="{0D108BD9-81ED-4DB2-BD59-A6C34878D82A}">
                    <a16:rowId xmlns:a16="http://schemas.microsoft.com/office/drawing/2014/main" val="10006"/>
                  </a:ext>
                </a:extLst>
              </a:tr>
              <a:tr h="474345">
                <a:tc>
                  <a:txBody>
                    <a:bodyPr/>
                    <a:lstStyle/>
                    <a:p>
                      <a:pPr marL="0" indent="0" algn="l">
                        <a:buNone/>
                      </a:pPr>
                      <a:r>
                        <a:rPr lang="en-US" sz="1400" b="1" dirty="0">
                          <a:solidFill>
                            <a:srgbClr val="1C2A22"/>
                          </a:solidFill>
                          <a:latin typeface="Calibri" pitchFamily="34" charset="0"/>
                          <a:ea typeface="Calibri" pitchFamily="34" charset="-122"/>
                          <a:cs typeface="Calibri" pitchFamily="34" charset="-120"/>
                        </a:rPr>
                        <a:t>Random forest</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E7D3C4"/>
                    </a:solidFill>
                  </a:tcPr>
                </a:tc>
                <a:tc>
                  <a:txBody>
                    <a:bodyPr/>
                    <a:lstStyle/>
                    <a:p>
                      <a:pPr marL="0" indent="0" algn="l">
                        <a:buNone/>
                      </a:pPr>
                      <a:r>
                        <a:rPr lang="en-US" sz="1400" b="1" dirty="0">
                          <a:solidFill>
                            <a:srgbClr val="1C2A22"/>
                          </a:solidFill>
                          <a:latin typeface="Calibri" pitchFamily="34" charset="0"/>
                          <a:ea typeface="Calibri" pitchFamily="34" charset="-122"/>
                          <a:cs typeface="Calibri" pitchFamily="34" charset="-120"/>
                        </a:rPr>
                        <a:t>$4,624</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E7D3C4"/>
                    </a:solidFill>
                  </a:tcPr>
                </a:tc>
                <a:tc>
                  <a:txBody>
                    <a:bodyPr/>
                    <a:lstStyle/>
                    <a:p>
                      <a:pPr marL="0" indent="0" algn="l">
                        <a:buNone/>
                      </a:pPr>
                      <a:r>
                        <a:rPr lang="en-US" sz="1400" b="1" dirty="0">
                          <a:solidFill>
                            <a:srgbClr val="1C2A22"/>
                          </a:solidFill>
                          <a:latin typeface="Calibri" pitchFamily="34" charset="0"/>
                          <a:ea typeface="Calibri" pitchFamily="34" charset="-122"/>
                          <a:cs typeface="Calibri" pitchFamily="34" charset="-120"/>
                        </a:rPr>
                        <a:t>$4,366</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E7D3C4"/>
                    </a:solidFill>
                  </a:tcPr>
                </a:tc>
                <a:extLst>
                  <a:ext uri="{0D108BD9-81ED-4DB2-BD59-A6C34878D82A}">
                    <a16:rowId xmlns:a16="http://schemas.microsoft.com/office/drawing/2014/main" val="10007"/>
                  </a:ext>
                </a:extLst>
              </a:tr>
            </a:tbl>
          </a:graphicData>
        </a:graphic>
      </p:graphicFrame>
      <p:sp>
        <p:nvSpPr>
          <p:cNvPr id="6" name="Text 3"/>
          <p:cNvSpPr/>
          <p:nvPr/>
        </p:nvSpPr>
        <p:spPr>
          <a:xfrm>
            <a:off x="502920" y="5166360"/>
            <a:ext cx="11155680" cy="64008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The search scores a better in-sample penalty and a worse dollar miss. It is not the same equation. Averaged trees win the one split and lose the repeated check.</a:t>
            </a:r>
            <a:endParaRPr lang="en-US" sz="1500" dirty="0"/>
          </a:p>
        </p:txBody>
      </p:sp>
      <p:sp>
        <p:nvSpPr>
          <p:cNvPr id="7" name="Text 4"/>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8" name="Text 5"/>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13  /  16</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THE CALL</a:t>
            </a:r>
            <a:endParaRPr lang="en-US" sz="1100" dirty="0"/>
          </a:p>
        </p:txBody>
      </p:sp>
      <p:sp>
        <p:nvSpPr>
          <p:cNvPr id="4" name="Text 2"/>
          <p:cNvSpPr/>
          <p:nvPr/>
        </p:nvSpPr>
        <p:spPr>
          <a:xfrm>
            <a:off x="502920" y="685800"/>
            <a:ext cx="10972800" cy="438912"/>
          </a:xfrm>
          <a:prstGeom prst="rect">
            <a:avLst/>
          </a:prstGeom>
          <a:noFill/>
          <a:ln/>
        </p:spPr>
        <p:txBody>
          <a:bodyPr wrap="square" lIns="0" tIns="0" rIns="0" bIns="0" rtlCol="0" anchor="ctr"/>
          <a:lstStyle/>
          <a:p>
            <a:pPr marL="0" indent="0">
              <a:buNone/>
            </a:pPr>
            <a:r>
              <a:rPr lang="en-US" sz="3000" dirty="0">
                <a:solidFill>
                  <a:srgbClr val="1C2A22"/>
                </a:solidFill>
                <a:latin typeface="Georgia" pitchFamily="34" charset="0"/>
                <a:ea typeface="Georgia" pitchFamily="34" charset="-122"/>
                <a:cs typeface="Georgia" pitchFamily="34" charset="-120"/>
              </a:rPr>
              <a:t>Two jobs. Two tools.</a:t>
            </a:r>
            <a:endParaRPr lang="en-US" sz="3000" dirty="0"/>
          </a:p>
        </p:txBody>
      </p:sp>
      <p:sp>
        <p:nvSpPr>
          <p:cNvPr id="5" name="Shape 3"/>
          <p:cNvSpPr/>
          <p:nvPr/>
        </p:nvSpPr>
        <p:spPr>
          <a:xfrm>
            <a:off x="502920" y="1371600"/>
            <a:ext cx="5486400" cy="4434840"/>
          </a:xfrm>
          <a:prstGeom prst="rect">
            <a:avLst/>
          </a:prstGeom>
          <a:solidFill>
            <a:srgbClr val="F7F1E2"/>
          </a:solidFill>
          <a:ln/>
        </p:spPr>
        <p:txBody>
          <a:bodyPr/>
          <a:lstStyle/>
          <a:p>
            <a:endParaRPr lang="en-US"/>
          </a:p>
        </p:txBody>
      </p:sp>
      <p:sp>
        <p:nvSpPr>
          <p:cNvPr id="6" name="Text 4"/>
          <p:cNvSpPr/>
          <p:nvPr/>
        </p:nvSpPr>
        <p:spPr>
          <a:xfrm>
            <a:off x="731520" y="1554480"/>
            <a:ext cx="5029200" cy="256032"/>
          </a:xfrm>
          <a:prstGeom prst="rect">
            <a:avLst/>
          </a:prstGeom>
          <a:noFill/>
          <a:ln/>
        </p:spPr>
        <p:txBody>
          <a:bodyPr wrap="square" lIns="0" tIns="0" rIns="0" bIns="0" rtlCol="0" anchor="ctr"/>
          <a:lstStyle/>
          <a:p>
            <a:pPr marL="0" indent="0">
              <a:buNone/>
            </a:pPr>
            <a:r>
              <a:rPr lang="en-US" sz="1300" b="1" kern="0" spc="150" dirty="0">
                <a:solidFill>
                  <a:srgbClr val="9D7D3B"/>
                </a:solidFill>
                <a:latin typeface="Calibri" pitchFamily="34" charset="0"/>
                <a:ea typeface="Calibri" pitchFamily="34" charset="-122"/>
                <a:cs typeface="Calibri" pitchFamily="34" charset="-120"/>
              </a:rPr>
              <a:t>EXPLAIN</a:t>
            </a:r>
            <a:endParaRPr lang="en-US" sz="1300" dirty="0"/>
          </a:p>
        </p:txBody>
      </p:sp>
      <p:sp>
        <p:nvSpPr>
          <p:cNvPr id="7" name="Text 5"/>
          <p:cNvSpPr/>
          <p:nvPr/>
        </p:nvSpPr>
        <p:spPr>
          <a:xfrm>
            <a:off x="731520" y="1920240"/>
            <a:ext cx="5029200" cy="411480"/>
          </a:xfrm>
          <a:prstGeom prst="rect">
            <a:avLst/>
          </a:prstGeom>
          <a:noFill/>
          <a:ln/>
        </p:spPr>
        <p:txBody>
          <a:bodyPr wrap="square" lIns="0" tIns="0" rIns="0" bIns="0" rtlCol="0" anchor="ctr"/>
          <a:lstStyle/>
          <a:p>
            <a:pPr marL="0" indent="0">
              <a:buNone/>
            </a:pPr>
            <a:r>
              <a:rPr lang="en-US" sz="2400" dirty="0">
                <a:solidFill>
                  <a:srgbClr val="1C2A22"/>
                </a:solidFill>
                <a:latin typeface="Georgia" pitchFamily="34" charset="0"/>
                <a:ea typeface="Georgia" pitchFamily="34" charset="-122"/>
                <a:cs typeface="Georgia" pitchFamily="34" charset="-120"/>
              </a:rPr>
              <a:t>The dollar equation.</a:t>
            </a:r>
            <a:endParaRPr lang="en-US" sz="2400" dirty="0"/>
          </a:p>
        </p:txBody>
      </p:sp>
      <p:sp>
        <p:nvSpPr>
          <p:cNvPr id="9" name="Shape 7"/>
          <p:cNvSpPr/>
          <p:nvPr/>
        </p:nvSpPr>
        <p:spPr>
          <a:xfrm>
            <a:off x="6217920" y="1371600"/>
            <a:ext cx="5486400" cy="4434840"/>
          </a:xfrm>
          <a:prstGeom prst="rect">
            <a:avLst/>
          </a:prstGeom>
          <a:solidFill>
            <a:srgbClr val="1C2A22"/>
          </a:solidFill>
          <a:ln/>
        </p:spPr>
        <p:txBody>
          <a:bodyPr/>
          <a:lstStyle/>
          <a:p>
            <a:endParaRPr lang="en-US"/>
          </a:p>
        </p:txBody>
      </p:sp>
      <p:pic>
        <p:nvPicPr>
          <p:cNvPr id="15" name="Picture 14">
            <a:extLst>
              <a:ext uri="{FF2B5EF4-FFF2-40B4-BE49-F238E27FC236}">
                <a16:creationId xmlns:a16="http://schemas.microsoft.com/office/drawing/2014/main" id="{9863A973-5FCE-A127-5AB1-FFC99ABB0519}"/>
              </a:ext>
            </a:extLst>
          </p:cNvPr>
          <p:cNvPicPr>
            <a:picLocks noChangeAspect="1"/>
          </p:cNvPicPr>
          <p:nvPr/>
        </p:nvPicPr>
        <p:blipFill>
          <a:blip r:embed="rId3">
            <a:duotone>
              <a:prstClr val="black"/>
              <a:srgbClr val="314A3D">
                <a:alpha val="1176"/>
                <a:tint val="45000"/>
                <a:satMod val="400000"/>
              </a:srgbClr>
            </a:duotone>
            <a:alphaModFix amt="18000"/>
          </a:blip>
          <a:srcRect r="10299" b="23389"/>
          <a:stretch>
            <a:fillRect/>
          </a:stretch>
        </p:blipFill>
        <p:spPr>
          <a:xfrm>
            <a:off x="3989741" y="512064"/>
            <a:ext cx="8202259" cy="6345936"/>
          </a:xfrm>
          <a:prstGeom prst="rect">
            <a:avLst/>
          </a:prstGeom>
        </p:spPr>
      </p:pic>
      <p:sp>
        <p:nvSpPr>
          <p:cNvPr id="13" name="Text 11"/>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4" name="Text 12"/>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14  /  16</a:t>
            </a:r>
            <a:endParaRPr lang="en-US" sz="1000" dirty="0"/>
          </a:p>
        </p:txBody>
      </p:sp>
      <p:sp>
        <p:nvSpPr>
          <p:cNvPr id="12" name="Text 10"/>
          <p:cNvSpPr/>
          <p:nvPr/>
        </p:nvSpPr>
        <p:spPr>
          <a:xfrm>
            <a:off x="6446520" y="2468880"/>
            <a:ext cx="5029200" cy="1828800"/>
          </a:xfrm>
          <a:prstGeom prst="rect">
            <a:avLst/>
          </a:prstGeom>
          <a:noFill/>
          <a:ln/>
        </p:spPr>
        <p:txBody>
          <a:bodyPr wrap="square" lIns="0" tIns="0" rIns="0" bIns="0" rtlCol="0" anchor="ctr"/>
          <a:lstStyle/>
          <a:p>
            <a:pPr marL="0" indent="0">
              <a:buNone/>
            </a:pPr>
            <a:r>
              <a:rPr lang="en-US" sz="1600" dirty="0">
                <a:solidFill>
                  <a:srgbClr val="F1EADA"/>
                </a:solidFill>
                <a:latin typeface="Calibri" pitchFamily="34" charset="0"/>
                <a:ea typeface="Calibri" pitchFamily="34" charset="-122"/>
                <a:cs typeface="Calibri" pitchFamily="34" charset="-120"/>
              </a:rPr>
              <a:t>Lowest typical miss on both checks. The edge over the equation is $192, inside the noise. Use it because it does not force one error bar onto both groups. Do not describe it as an explanation. It cannot say what a year of age is worth.</a:t>
            </a:r>
            <a:endParaRPr lang="en-US" sz="1600" dirty="0"/>
          </a:p>
        </p:txBody>
      </p:sp>
      <p:sp>
        <p:nvSpPr>
          <p:cNvPr id="11" name="Text 9"/>
          <p:cNvSpPr/>
          <p:nvPr/>
        </p:nvSpPr>
        <p:spPr>
          <a:xfrm>
            <a:off x="6446520" y="1920240"/>
            <a:ext cx="5029200" cy="411480"/>
          </a:xfrm>
          <a:prstGeom prst="rect">
            <a:avLst/>
          </a:prstGeom>
          <a:noFill/>
          <a:ln/>
        </p:spPr>
        <p:txBody>
          <a:bodyPr wrap="square" lIns="0" tIns="0" rIns="0" bIns="0" rtlCol="0" anchor="ctr"/>
          <a:lstStyle/>
          <a:p>
            <a:pPr marL="0" indent="0">
              <a:buNone/>
            </a:pPr>
            <a:r>
              <a:rPr lang="en-US" sz="2400" dirty="0">
                <a:solidFill>
                  <a:srgbClr val="F1EADA"/>
                </a:solidFill>
                <a:latin typeface="Georgia" pitchFamily="34" charset="0"/>
                <a:ea typeface="Georgia" pitchFamily="34" charset="-122"/>
                <a:cs typeface="Georgia" pitchFamily="34" charset="-120"/>
              </a:rPr>
              <a:t>The random forest.</a:t>
            </a:r>
            <a:endParaRPr lang="en-US" sz="2400" dirty="0"/>
          </a:p>
        </p:txBody>
      </p:sp>
      <p:sp>
        <p:nvSpPr>
          <p:cNvPr id="10" name="Text 8"/>
          <p:cNvSpPr/>
          <p:nvPr/>
        </p:nvSpPr>
        <p:spPr>
          <a:xfrm>
            <a:off x="6446520" y="1554480"/>
            <a:ext cx="5029200" cy="256032"/>
          </a:xfrm>
          <a:prstGeom prst="rect">
            <a:avLst/>
          </a:prstGeom>
          <a:noFill/>
          <a:ln/>
        </p:spPr>
        <p:txBody>
          <a:bodyPr wrap="square" lIns="0" tIns="0" rIns="0" bIns="0" rtlCol="0" anchor="ctr"/>
          <a:lstStyle/>
          <a:p>
            <a:pPr marL="0" indent="0">
              <a:buNone/>
            </a:pPr>
            <a:r>
              <a:rPr lang="en-US" sz="1300" b="1" kern="0" spc="150" dirty="0">
                <a:solidFill>
                  <a:srgbClr val="B79A68"/>
                </a:solidFill>
                <a:latin typeface="Calibri" pitchFamily="34" charset="0"/>
                <a:ea typeface="Calibri" pitchFamily="34" charset="-122"/>
                <a:cs typeface="Calibri" pitchFamily="34" charset="-120"/>
              </a:rPr>
              <a:t>PRICE</a:t>
            </a:r>
            <a:endParaRPr lang="en-US" sz="1300" dirty="0"/>
          </a:p>
        </p:txBody>
      </p:sp>
      <p:sp>
        <p:nvSpPr>
          <p:cNvPr id="8" name="Text 6"/>
          <p:cNvSpPr/>
          <p:nvPr/>
        </p:nvSpPr>
        <p:spPr>
          <a:xfrm>
            <a:off x="731520" y="2468880"/>
            <a:ext cx="5029200" cy="2011680"/>
          </a:xfrm>
          <a:prstGeom prst="rect">
            <a:avLst/>
          </a:prstGeom>
          <a:noFill/>
          <a:ln/>
        </p:spPr>
        <p:txBody>
          <a:bodyPr wrap="square" lIns="0" tIns="0" rIns="0" bIns="0" rtlCol="0" anchor="ctr"/>
          <a:lstStyle/>
          <a:p>
            <a:pPr marL="0" indent="0">
              <a:buNone/>
            </a:pPr>
            <a:r>
              <a:rPr lang="en-US" sz="1600" dirty="0">
                <a:solidFill>
                  <a:srgbClr val="4E463C"/>
                </a:solidFill>
                <a:latin typeface="Calibri" pitchFamily="34" charset="0"/>
                <a:ea typeface="Calibri" pitchFamily="34" charset="-122"/>
                <a:cs typeface="Calibri" pitchFamily="34" charset="-120"/>
              </a:rPr>
              <a:t>Age, children, a smoker gap that depends on BMI, and a regional level shift. Quote the paired range on age and on the smoker gap at BMI 30. Do not quote the smoker coefficient at BMI 0. Do not call the southeast expensive after smoking and BMI are taken into account.</a:t>
            </a:r>
            <a:endParaRPr lang="en-US" sz="16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C2A22"/>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F1EADA"/>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A8A08E"/>
                </a:solidFill>
                <a:latin typeface="Calibri" pitchFamily="34" charset="0"/>
                <a:ea typeface="Calibri" pitchFamily="34" charset="-122"/>
                <a:cs typeface="Calibri" pitchFamily="34" charset="-120"/>
              </a:rPr>
              <a:t>WHAT WE WILL NOT CLAIM</a:t>
            </a:r>
            <a:endParaRPr lang="en-US" sz="1100" dirty="0"/>
          </a:p>
        </p:txBody>
      </p:sp>
      <p:sp>
        <p:nvSpPr>
          <p:cNvPr id="4" name="Text 2"/>
          <p:cNvSpPr/>
          <p:nvPr/>
        </p:nvSpPr>
        <p:spPr>
          <a:xfrm>
            <a:off x="502920" y="731520"/>
            <a:ext cx="10972800" cy="1051560"/>
          </a:xfrm>
          <a:prstGeom prst="rect">
            <a:avLst/>
          </a:prstGeom>
          <a:noFill/>
          <a:ln/>
        </p:spPr>
        <p:txBody>
          <a:bodyPr wrap="square" lIns="0" tIns="0" rIns="0" bIns="0" rtlCol="0" anchor="ctr"/>
          <a:lstStyle/>
          <a:p>
            <a:pPr marL="0" indent="0">
              <a:buNone/>
            </a:pPr>
            <a:r>
              <a:rPr lang="en-US" sz="2800" dirty="0">
                <a:solidFill>
                  <a:srgbClr val="F1EADA"/>
                </a:solidFill>
                <a:latin typeface="Georgia" pitchFamily="34" charset="0"/>
                <a:ea typeface="Georgia" pitchFamily="34" charset="-122"/>
                <a:cs typeface="Georgia" pitchFamily="34" charset="-120"/>
              </a:rPr>
              <a:t>The file supports an association.</a:t>
            </a:r>
            <a:endParaRPr lang="en-US" sz="2800" dirty="0"/>
          </a:p>
          <a:p>
            <a:pPr marL="0" indent="0">
              <a:buNone/>
            </a:pPr>
            <a:r>
              <a:rPr lang="en-US" sz="2800" dirty="0">
                <a:solidFill>
                  <a:srgbClr val="F1EADA"/>
                </a:solidFill>
                <a:latin typeface="Georgia" pitchFamily="34" charset="0"/>
                <a:ea typeface="Georgia" pitchFamily="34" charset="-122"/>
                <a:cs typeface="Georgia" pitchFamily="34" charset="-120"/>
              </a:rPr>
              <a:t>Not a national rate, and not a cause.</a:t>
            </a:r>
            <a:endParaRPr lang="en-US" sz="2800" dirty="0"/>
          </a:p>
        </p:txBody>
      </p:sp>
      <p:sp>
        <p:nvSpPr>
          <p:cNvPr id="5" name="Text 3"/>
          <p:cNvSpPr/>
          <p:nvPr/>
        </p:nvSpPr>
        <p:spPr>
          <a:xfrm>
            <a:off x="502920" y="2103120"/>
            <a:ext cx="5486400" cy="320040"/>
          </a:xfrm>
          <a:prstGeom prst="rect">
            <a:avLst/>
          </a:prstGeom>
          <a:noFill/>
          <a:ln/>
        </p:spPr>
        <p:txBody>
          <a:bodyPr wrap="square" lIns="0" tIns="0" rIns="0" bIns="0" rtlCol="0" anchor="ctr"/>
          <a:lstStyle/>
          <a:p>
            <a:pPr marL="0" indent="0">
              <a:buNone/>
            </a:pPr>
            <a:r>
              <a:rPr lang="en-US" sz="1400" b="1" dirty="0">
                <a:solidFill>
                  <a:srgbClr val="B79A68"/>
                </a:solidFill>
                <a:latin typeface="Calibri" pitchFamily="34" charset="0"/>
                <a:ea typeface="Calibri" pitchFamily="34" charset="-122"/>
                <a:cs typeface="Calibri" pitchFamily="34" charset="-120"/>
              </a:rPr>
              <a:t>Scope</a:t>
            </a:r>
            <a:endParaRPr lang="en-US" sz="1400" dirty="0"/>
          </a:p>
        </p:txBody>
      </p:sp>
      <p:sp>
        <p:nvSpPr>
          <p:cNvPr id="6" name="Text 4"/>
          <p:cNvSpPr/>
          <p:nvPr/>
        </p:nvSpPr>
        <p:spPr>
          <a:xfrm>
            <a:off x="502920" y="2468880"/>
            <a:ext cx="5486400" cy="1325880"/>
          </a:xfrm>
          <a:prstGeom prst="rect">
            <a:avLst/>
          </a:prstGeom>
          <a:noFill/>
          <a:ln/>
        </p:spPr>
        <p:txBody>
          <a:bodyPr wrap="square" lIns="0" tIns="0" rIns="0" bIns="0" rtlCol="0" anchor="ctr"/>
          <a:lstStyle/>
          <a:p>
            <a:pPr marL="0" indent="0">
              <a:buNone/>
            </a:pPr>
            <a:r>
              <a:rPr lang="en-US" sz="1500" dirty="0">
                <a:solidFill>
                  <a:srgbClr val="F1EADA"/>
                </a:solidFill>
                <a:latin typeface="Calibri" pitchFamily="34" charset="0"/>
                <a:ea typeface="Calibri" pitchFamily="34" charset="-122"/>
                <a:cs typeface="Calibri" pitchFamily="34" charset="-120"/>
              </a:rPr>
              <a:t>Four region labels in this file. No household, plan, or year. Independence is an assumption, not a result.</a:t>
            </a:r>
            <a:endParaRPr lang="en-US" sz="1500" dirty="0"/>
          </a:p>
        </p:txBody>
      </p:sp>
      <p:pic>
        <p:nvPicPr>
          <p:cNvPr id="15" name="Picture 14">
            <a:extLst>
              <a:ext uri="{FF2B5EF4-FFF2-40B4-BE49-F238E27FC236}">
                <a16:creationId xmlns:a16="http://schemas.microsoft.com/office/drawing/2014/main" id="{03EF6343-7773-7789-BF91-34310C225476}"/>
              </a:ext>
            </a:extLst>
          </p:cNvPr>
          <p:cNvPicPr>
            <a:picLocks noChangeAspect="1"/>
          </p:cNvPicPr>
          <p:nvPr/>
        </p:nvPicPr>
        <p:blipFill>
          <a:blip r:embed="rId3">
            <a:duotone>
              <a:prstClr val="black"/>
              <a:srgbClr val="314A3D">
                <a:alpha val="1176"/>
                <a:tint val="45000"/>
                <a:satMod val="400000"/>
              </a:srgbClr>
            </a:duotone>
            <a:alphaModFix amt="29000"/>
          </a:blip>
          <a:srcRect r="10299" b="23389"/>
          <a:stretch>
            <a:fillRect/>
          </a:stretch>
        </p:blipFill>
        <p:spPr>
          <a:xfrm>
            <a:off x="3989741" y="512064"/>
            <a:ext cx="8202259" cy="6345936"/>
          </a:xfrm>
          <a:prstGeom prst="rect">
            <a:avLst/>
          </a:prstGeom>
        </p:spPr>
      </p:pic>
      <p:sp>
        <p:nvSpPr>
          <p:cNvPr id="7" name="Text 5"/>
          <p:cNvSpPr/>
          <p:nvPr/>
        </p:nvSpPr>
        <p:spPr>
          <a:xfrm>
            <a:off x="6309360" y="2103120"/>
            <a:ext cx="5486400" cy="320040"/>
          </a:xfrm>
          <a:prstGeom prst="rect">
            <a:avLst/>
          </a:prstGeom>
          <a:noFill/>
          <a:ln/>
        </p:spPr>
        <p:txBody>
          <a:bodyPr wrap="square" lIns="0" tIns="0" rIns="0" bIns="0" rtlCol="0" anchor="ctr"/>
          <a:lstStyle/>
          <a:p>
            <a:pPr marL="0" indent="0">
              <a:buNone/>
            </a:pPr>
            <a:r>
              <a:rPr lang="en-US" sz="1400" b="1" dirty="0">
                <a:solidFill>
                  <a:srgbClr val="B79A68"/>
                </a:solidFill>
                <a:latin typeface="Calibri" pitchFamily="34" charset="0"/>
                <a:ea typeface="Calibri" pitchFamily="34" charset="-122"/>
                <a:cs typeface="Calibri" pitchFamily="34" charset="-120"/>
              </a:rPr>
              <a:t>Cause</a:t>
            </a:r>
            <a:endParaRPr lang="en-US" sz="1400" dirty="0"/>
          </a:p>
        </p:txBody>
      </p:sp>
      <p:sp>
        <p:nvSpPr>
          <p:cNvPr id="8" name="Text 6"/>
          <p:cNvSpPr/>
          <p:nvPr/>
        </p:nvSpPr>
        <p:spPr>
          <a:xfrm>
            <a:off x="6309360" y="2468880"/>
            <a:ext cx="5486400" cy="1325880"/>
          </a:xfrm>
          <a:prstGeom prst="rect">
            <a:avLst/>
          </a:prstGeom>
          <a:noFill/>
          <a:ln/>
        </p:spPr>
        <p:txBody>
          <a:bodyPr wrap="square" lIns="0" tIns="0" rIns="0" bIns="0" rtlCol="0" anchor="ctr"/>
          <a:lstStyle/>
          <a:p>
            <a:pPr marL="0" indent="0">
              <a:buNone/>
            </a:pPr>
            <a:r>
              <a:rPr lang="en-US" sz="1500" dirty="0">
                <a:solidFill>
                  <a:srgbClr val="F1EADA"/>
                </a:solidFill>
                <a:latin typeface="Calibri" pitchFamily="34" charset="0"/>
                <a:ea typeface="Calibri" pitchFamily="34" charset="-122"/>
                <a:cs typeface="Calibri" pitchFamily="34" charset="-120"/>
              </a:rPr>
              <a:t>Smoking was not assigned. $22,833 is a contrast in this file, not the effect of someone quitting.</a:t>
            </a:r>
            <a:endParaRPr lang="en-US" sz="1500" dirty="0"/>
          </a:p>
        </p:txBody>
      </p:sp>
      <p:sp>
        <p:nvSpPr>
          <p:cNvPr id="9" name="Text 7"/>
          <p:cNvSpPr/>
          <p:nvPr/>
        </p:nvSpPr>
        <p:spPr>
          <a:xfrm>
            <a:off x="502920" y="4069080"/>
            <a:ext cx="5486400" cy="320040"/>
          </a:xfrm>
          <a:prstGeom prst="rect">
            <a:avLst/>
          </a:prstGeom>
          <a:noFill/>
          <a:ln/>
        </p:spPr>
        <p:txBody>
          <a:bodyPr wrap="square" lIns="0" tIns="0" rIns="0" bIns="0" rtlCol="0" anchor="ctr"/>
          <a:lstStyle/>
          <a:p>
            <a:pPr marL="0" indent="0">
              <a:buNone/>
            </a:pPr>
            <a:r>
              <a:rPr lang="en-US" sz="1400" b="1" dirty="0">
                <a:solidFill>
                  <a:srgbClr val="B79A68"/>
                </a:solidFill>
                <a:latin typeface="Calibri" pitchFamily="34" charset="0"/>
                <a:ea typeface="Calibri" pitchFamily="34" charset="-122"/>
                <a:cs typeface="Calibri" pitchFamily="34" charset="-120"/>
              </a:rPr>
              <a:t>A tight quote</a:t>
            </a:r>
            <a:endParaRPr lang="en-US" sz="1400" dirty="0"/>
          </a:p>
        </p:txBody>
      </p:sp>
      <p:sp>
        <p:nvSpPr>
          <p:cNvPr id="10" name="Text 8"/>
          <p:cNvSpPr/>
          <p:nvPr/>
        </p:nvSpPr>
        <p:spPr>
          <a:xfrm>
            <a:off x="502920" y="4434840"/>
            <a:ext cx="5486400" cy="1325880"/>
          </a:xfrm>
          <a:prstGeom prst="rect">
            <a:avLst/>
          </a:prstGeom>
          <a:noFill/>
          <a:ln/>
        </p:spPr>
        <p:txBody>
          <a:bodyPr wrap="square" lIns="0" tIns="0" rIns="0" bIns="0" rtlCol="0" anchor="ctr"/>
          <a:lstStyle/>
          <a:p>
            <a:pPr marL="0" indent="0">
              <a:buNone/>
            </a:pPr>
            <a:r>
              <a:rPr lang="en-US" sz="1500" dirty="0">
                <a:solidFill>
                  <a:srgbClr val="F1EADA"/>
                </a:solidFill>
                <a:latin typeface="Calibri" pitchFamily="34" charset="0"/>
                <a:ea typeface="Calibri" pitchFamily="34" charset="-122"/>
                <a:cs typeface="Calibri" pitchFamily="34" charset="-120"/>
              </a:rPr>
              <a:t>95% of smoker bills landed within $9,800 of the forest's quote. Non-smokers, within $12,486. That is the margin. It is not a percent of the average bill.</a:t>
            </a:r>
            <a:endParaRPr lang="en-US" sz="1500" dirty="0"/>
          </a:p>
        </p:txBody>
      </p:sp>
      <p:sp>
        <p:nvSpPr>
          <p:cNvPr id="11" name="Text 9"/>
          <p:cNvSpPr/>
          <p:nvPr/>
        </p:nvSpPr>
        <p:spPr>
          <a:xfrm>
            <a:off x="6309360" y="4069080"/>
            <a:ext cx="5486400" cy="320040"/>
          </a:xfrm>
          <a:prstGeom prst="rect">
            <a:avLst/>
          </a:prstGeom>
          <a:noFill/>
          <a:ln/>
        </p:spPr>
        <p:txBody>
          <a:bodyPr wrap="square" lIns="0" tIns="0" rIns="0" bIns="0" rtlCol="0" anchor="ctr"/>
          <a:lstStyle/>
          <a:p>
            <a:pPr marL="0" indent="0">
              <a:buNone/>
            </a:pPr>
            <a:r>
              <a:rPr lang="en-US" sz="1400" b="1" dirty="0">
                <a:solidFill>
                  <a:srgbClr val="B79A68"/>
                </a:solidFill>
                <a:latin typeface="Calibri" pitchFamily="34" charset="0"/>
                <a:ea typeface="Calibri" pitchFamily="34" charset="-122"/>
                <a:cs typeface="Calibri" pitchFamily="34" charset="-120"/>
              </a:rPr>
              <a:t>More time</a:t>
            </a:r>
            <a:endParaRPr lang="en-US" sz="1400" dirty="0"/>
          </a:p>
        </p:txBody>
      </p:sp>
      <p:sp>
        <p:nvSpPr>
          <p:cNvPr id="12" name="Text 10"/>
          <p:cNvSpPr/>
          <p:nvPr/>
        </p:nvSpPr>
        <p:spPr>
          <a:xfrm>
            <a:off x="6309360" y="4434840"/>
            <a:ext cx="5486400" cy="1325880"/>
          </a:xfrm>
          <a:prstGeom prst="rect">
            <a:avLst/>
          </a:prstGeom>
          <a:noFill/>
          <a:ln/>
        </p:spPr>
        <p:txBody>
          <a:bodyPr wrap="square" lIns="0" tIns="0" rIns="0" bIns="0" rtlCol="0" anchor="ctr"/>
          <a:lstStyle/>
          <a:p>
            <a:pPr marL="0" indent="0">
              <a:buNone/>
            </a:pPr>
            <a:r>
              <a:rPr lang="en-US" sz="1500" dirty="0">
                <a:solidFill>
                  <a:srgbClr val="F1EADA"/>
                </a:solidFill>
                <a:latin typeface="Calibri" pitchFamily="34" charset="0"/>
                <a:ea typeface="Calibri" pitchFamily="34" charset="-122"/>
                <a:cs typeface="Calibri" pitchFamily="34" charset="-120"/>
              </a:rPr>
              <a:t>Ask what the file does not contain: diagnosis, plan design, deductible, and whether the charge is one year. Then a later book of customers, not another split of this one.</a:t>
            </a:r>
            <a:endParaRPr lang="en-US" sz="1500" dirty="0"/>
          </a:p>
        </p:txBody>
      </p:sp>
      <p:sp>
        <p:nvSpPr>
          <p:cNvPr id="13" name="Text 11"/>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A8A08E"/>
                </a:solidFill>
                <a:latin typeface="Calibri" pitchFamily="34" charset="0"/>
                <a:ea typeface="Calibri" pitchFamily="34" charset="-122"/>
                <a:cs typeface="Calibri" pitchFamily="34" charset="-120"/>
              </a:rPr>
              <a:t>HEALTH-ACCOUNT CHARGES</a:t>
            </a:r>
            <a:endParaRPr lang="en-US" sz="1000" dirty="0"/>
          </a:p>
        </p:txBody>
      </p:sp>
      <p:sp>
        <p:nvSpPr>
          <p:cNvPr id="14" name="Text 12"/>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A8A08E"/>
                </a:solidFill>
                <a:latin typeface="Calibri" pitchFamily="34" charset="0"/>
                <a:ea typeface="Calibri" pitchFamily="34" charset="-122"/>
                <a:cs typeface="Calibri" pitchFamily="34" charset="-120"/>
              </a:rPr>
              <a:t>15  /  16</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IF ASKED</a:t>
            </a:r>
            <a:endParaRPr lang="en-US" sz="1100" dirty="0"/>
          </a:p>
        </p:txBody>
      </p:sp>
      <p:sp>
        <p:nvSpPr>
          <p:cNvPr id="4" name="Text 2"/>
          <p:cNvSpPr/>
          <p:nvPr/>
        </p:nvSpPr>
        <p:spPr>
          <a:xfrm>
            <a:off x="502920" y="640080"/>
            <a:ext cx="10972800" cy="365760"/>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The penalty, and the neighborhood.</a:t>
            </a:r>
            <a:endParaRPr lang="en-US" sz="2600" dirty="0"/>
          </a:p>
        </p:txBody>
      </p:sp>
      <p:pic>
        <p:nvPicPr>
          <p:cNvPr id="5" name="Image 0" descr="figures/penalty.png"/>
          <p:cNvPicPr>
            <a:picLocks noChangeAspect="1"/>
          </p:cNvPicPr>
          <p:nvPr/>
        </p:nvPicPr>
        <p:blipFill>
          <a:blip r:embed="rId3"/>
          <a:stretch>
            <a:fillRect/>
          </a:stretch>
        </p:blipFill>
        <p:spPr>
          <a:xfrm>
            <a:off x="320040" y="1143000"/>
            <a:ext cx="5532120" cy="3042666"/>
          </a:xfrm>
          <a:prstGeom prst="rect">
            <a:avLst/>
          </a:prstGeom>
        </p:spPr>
      </p:pic>
      <p:pic>
        <p:nvPicPr>
          <p:cNvPr id="6" name="Image 1" descr="figures/knn_k.png"/>
          <p:cNvPicPr>
            <a:picLocks noChangeAspect="1"/>
          </p:cNvPicPr>
          <p:nvPr/>
        </p:nvPicPr>
        <p:blipFill>
          <a:blip r:embed="rId4"/>
          <a:stretch>
            <a:fillRect/>
          </a:stretch>
        </p:blipFill>
        <p:spPr>
          <a:xfrm>
            <a:off x="6309360" y="1234440"/>
            <a:ext cx="5532120" cy="2766060"/>
          </a:xfrm>
          <a:prstGeom prst="rect">
            <a:avLst/>
          </a:prstGeom>
        </p:spPr>
      </p:pic>
      <p:sp>
        <p:nvSpPr>
          <p:cNvPr id="7" name="Text 3"/>
          <p:cNvSpPr/>
          <p:nvPr/>
        </p:nvSpPr>
        <p:spPr>
          <a:xfrm>
            <a:off x="502920" y="4709160"/>
            <a:ext cx="11155680" cy="8229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Between the smallest squared error and the penalty we keep, the error barely moves. Farther right, signal starts coming out. Neighbors of 1 and of 30 are both worse than 7, and 7 does not beat the equation.</a:t>
            </a:r>
            <a:endParaRPr lang="en-US" sz="1500" dirty="0"/>
          </a:p>
        </p:txBody>
      </p:sp>
      <p:sp>
        <p:nvSpPr>
          <p:cNvPr id="8" name="Text 4"/>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9" name="Text 5"/>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16  /  16</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339</TotalTime>
  <Words>4098</Words>
  <Application>Microsoft Macintosh PowerPoint</Application>
  <PresentationFormat>Widescreen</PresentationFormat>
  <Paragraphs>227</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Health-account charges</dc:title>
  <dc:subject>What is associated with the bill, and how we would price the next customer</dc:subject>
  <dc:creator>Aaron Powell and Thuan-Andy Bui</dc:creator>
  <cp:lastModifiedBy>Aaron Powell</cp:lastModifiedBy>
  <cp:revision>3</cp:revision>
  <dcterms:created xsi:type="dcterms:W3CDTF">2026-09-25T14:41:18Z</dcterms:created>
  <dcterms:modified xsi:type="dcterms:W3CDTF">2026-09-26T01:04:20Z</dcterms:modified>
</cp:coreProperties>
</file>
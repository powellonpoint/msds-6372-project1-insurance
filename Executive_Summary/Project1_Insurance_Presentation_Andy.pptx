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60" r:id="rId5"/>
    <p:sldId id="272" r:id="rId6"/>
    <p:sldId id="262" r:id="rId7"/>
    <p:sldId id="264" r:id="rId8"/>
    <p:sldId id="268" r:id="rId9"/>
    <p:sldId id="265" r:id="rId10"/>
    <p:sldId id="266" r:id="rId11"/>
    <p:sldId id="274" r:id="rId12"/>
    <p:sldId id="269" r:id="rId13"/>
    <p:sldId id="270" r:id="rId14"/>
    <p:sldId id="263"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AE7"/>
    <a:srgbClr val="314A3D"/>
    <a:srgbClr val="F0FAF5"/>
    <a:srgbClr val="C3C7C5"/>
    <a:srgbClr val="1C2A22"/>
    <a:srgbClr val="C4C4C4"/>
    <a:srgbClr val="000000"/>
    <a:srgbClr val="2D4437"/>
    <a:srgbClr val="2B41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54"/>
    <p:restoredTop sz="74620"/>
  </p:normalViewPr>
  <p:slideViewPr>
    <p:cSldViewPr snapToGrid="0" snapToObjects="1">
      <p:cViewPr varScale="1">
        <p:scale>
          <a:sx n="118" d="100"/>
          <a:sy n="118" d="100"/>
        </p:scale>
        <p:origin x="18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275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0:00 to 0:40. Which customer facts are associated with health-account charges, and does that association depend on region? Separately, if the job is to price the next account, which method is the best?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0:40 to 3:00. Let’s talk about the big picture, and the insights we found given the sample.</a:t>
            </a:r>
          </a:p>
          <a:p>
            <a:pPr>
              <a:buNone/>
            </a:pPr>
            <a:endParaRPr lang="en-US" sz="1200" dirty="0"/>
          </a:p>
          <a:p>
            <a:pPr>
              <a:buNone/>
            </a:pPr>
            <a:r>
              <a:rPr lang="en-US" sz="1200" dirty="0"/>
              <a:t>Smoking dominates. At BMI 30, holding age, children, and region fixed, mean charges for a smoker are about $23,000 higher. 280% higher than a non-smoker at the same BMI. BMI among smokers is associated with about $1,461 increase charges per point. There isn’t a significant association among non-smokers. </a:t>
            </a:r>
          </a:p>
          <a:p>
            <a:pPr>
              <a:buNone/>
            </a:pPr>
            <a:endParaRPr lang="en-US" sz="1200" dirty="0"/>
          </a:p>
          <a:p>
            <a:pPr>
              <a:buNone/>
            </a:pPr>
            <a:r>
              <a:rPr lang="en-US" sz="1200" dirty="0"/>
              <a:t>Age is associated with a $264 a year increase both smokers and non-smokers. The ordinary 95 percent interval is $245 to $283 using a paired bootstrap method. That is about 2 percent of the average bill. Each child is added is associated with about $512 increase in charges. </a:t>
            </a:r>
          </a:p>
          <a:p>
            <a:pPr>
              <a:buNone/>
            </a:pPr>
            <a:r>
              <a:rPr lang="en-US" sz="1200" dirty="0"/>
              <a:t>Sex is not clearly associated once the other facts are held fixed. The p-value is 0.062. </a:t>
            </a:r>
          </a:p>
          <a:p>
            <a:pPr>
              <a:buNone/>
            </a:pPr>
            <a:r>
              <a:rPr lang="en-US" sz="1200" dirty="0"/>
              <a:t>The unadjusted southeast looks expensive because it has more smokers and a higher BMI. After those are held fixed, the southeast mean is $1,207 lower than the northeast, and the southwest is $1,228 lower. The northwest did not have a clear difference from the northeast.</a:t>
            </a:r>
          </a:p>
          <a:p>
            <a:pPr>
              <a:buNone/>
            </a:pPr>
            <a:r>
              <a:rPr lang="en-US" sz="1200" dirty="0"/>
              <a:t>These are associations in 1,337 accounts in the sample. Not a national rate, and not what the bill would do if a particular person stopped smoking.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3:00 to 4:10. </a:t>
            </a:r>
          </a:p>
          <a:p>
            <a:pPr>
              <a:buNone/>
            </a:pPr>
            <a:r>
              <a:rPr lang="en-US" sz="1200" dirty="0"/>
              <a:t>1,337 records were examined, after dropping one exact duplicate. Smokers are 20.5 percent. Their average charges are higher than the median so smokers are not right-skewed. The remaining non-smokers have higher average than median which presents a right skewed distribution for the sample. For this reason, we consider both mean and median in our analysis. </a:t>
            </a:r>
          </a:p>
          <a:p>
            <a:pPr>
              <a:buNone/>
            </a:pPr>
            <a:r>
              <a:rPr lang="en-US" sz="1200" dirty="0"/>
              <a:t>The right-hand list only names the facts. Forty-three people have four or five children, so the per-child slope is identified mostly from zero to three. Do not define BMI. If the clock is behind, two sentences and move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4:10 to 6:10. This slide is why the equation has an interaction and one age slope.</a:t>
            </a:r>
          </a:p>
          <a:p>
            <a:pPr>
              <a:buNone/>
            </a:pPr>
            <a:r>
              <a:rPr lang="en-US" sz="1200" dirty="0"/>
              <a:t>Left, age. Say the correlations before you point: 0.63 among non-smokers and 0.37 among smokers. The lines are roughly parallel. Letting the age slope differ by smoker does not improve the dollar equation. Smoking is a level shift of tens of thousands of dollars. Age is a few hundred a year.</a:t>
            </a:r>
          </a:p>
          <a:p>
            <a:pPr>
              <a:buNone/>
            </a:pPr>
            <a:r>
              <a:rPr lang="en-US" sz="1200" dirty="0"/>
              <a:t>Right, BMI. Correlation 0.81 for smokers and 0.08 for non-smokers. One smoker coefficient with a single BMI slope would average a steep line and a flat line into a number that is true of neither group. The smoker gap has to be stated at a BMI we actually see. BMI 0 is not an account. We quote 25, 30, and 35.</a:t>
            </a:r>
          </a:p>
          <a:p>
            <a:pPr>
              <a:buNone/>
            </a:pPr>
            <a:r>
              <a:rPr lang="en-US" sz="1200" dirty="0"/>
              <a:t>Children, if you have the second: correlation with charges is about 0.07. The nested test keeps a per-child amount. We do not pretend the line is well seen past three children.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F6F0D-5CC4-BB98-29F5-E9A937FC5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801A0-0C46-5DF2-5AA5-558601B79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3A68A-1FAA-73A3-E84C-8C7A1B56E7E8}"/>
              </a:ext>
            </a:extLst>
          </p:cNvPr>
          <p:cNvSpPr>
            <a:spLocks noGrp="1"/>
          </p:cNvSpPr>
          <p:nvPr>
            <p:ph type="body" idx="1"/>
          </p:nvPr>
        </p:nvSpPr>
        <p:spPr/>
        <p:txBody>
          <a:bodyPr/>
          <a:lstStyle/>
          <a:p>
            <a:pPr>
              <a:buNone/>
            </a:pPr>
            <a:r>
              <a:rPr lang="en-US" sz="1200" dirty="0"/>
              <a:t>6:10 to 7:40. The picture and the table are the same sentence: a high smoker band and a low non-smoker band in every region.</a:t>
            </a:r>
          </a:p>
          <a:p>
            <a:pPr>
              <a:buNone/>
            </a:pPr>
            <a:r>
              <a:rPr lang="en-US" sz="1200" dirty="0"/>
              <a:t>Southeast smokers average $34,845 before any adjustment. Northeast smokers average $29,674. Southeast also has the highest average BMI, 33.4, and the highest smoker share, 25 percent. That is why the unadjusted southeast bill looks high.</a:t>
            </a:r>
          </a:p>
          <a:p>
            <a:pPr>
              <a:buNone/>
            </a:pPr>
            <a:r>
              <a:rPr lang="en-US" sz="1200" dirty="0"/>
              <a:t>Then the tests, slowly. The smoker gap does not depend on region, p = 0.31. The age slope does not, p = 0.28. The smoker BMI slope does not, p = 0.20. There is a smaller result that is not on this slide. The non-smoker BMI slope does differ by region, p = 0.011, and both of those slopes are tiny next to $1,461 a point for smokers. We report it and leave it out of the equation we would say out loud.</a:t>
            </a:r>
          </a:p>
        </p:txBody>
      </p:sp>
      <p:sp>
        <p:nvSpPr>
          <p:cNvPr id="4" name="Slide Number Placeholder 3">
            <a:extLst>
              <a:ext uri="{FF2B5EF4-FFF2-40B4-BE49-F238E27FC236}">
                <a16:creationId xmlns:a16="http://schemas.microsoft.com/office/drawing/2014/main" id="{12C04D87-2491-B17D-C679-D01F0AE4FBB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92409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7:40 to 9:10. Read the equation once, slowly. Then what we kept and what we refused.</a:t>
            </a:r>
          </a:p>
          <a:p>
            <a:pPr>
              <a:buNone/>
            </a:pPr>
            <a:r>
              <a:rPr lang="en-US" sz="1200" dirty="0"/>
              <a:t>Dollar scale. Non-smoker and northeast are the reference. Adjusted R-squared is 0.84. That is how much of this file the line tracks. It is not the dollar miss on a new account.</a:t>
            </a:r>
          </a:p>
          <a:p>
            <a:pPr>
              <a:buNone/>
            </a:pPr>
            <a:r>
              <a:rPr lang="en-US" sz="1200" dirty="0"/>
              <a:t>Sex stays out. p = 0.062, close to the 5 percent line we used, and not a clear association. Say that if someone pushes. A different smoker gap by region stays out, p = 0.31. A different age slope, by region or by smoker, stays out.</a:t>
            </a:r>
          </a:p>
          <a:p>
            <a:pPr>
              <a:buNone/>
            </a:pPr>
            <a:r>
              <a:rPr lang="en-US" sz="1200" dirty="0"/>
              <a:t>We also fit the log of charges and did not adopt it. Say this only if asked, or on the residual slide. A common percent per year is too steep for smokers, and giving smokers their own age slope on the log scale makes the residual spreads unequal again.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10:50 to 12:10. Three clouds, then the handoff.</a:t>
            </a:r>
          </a:p>
          <a:p>
            <a:pPr>
              <a:buNone/>
            </a:pPr>
            <a:r>
              <a:rPr lang="en-US" sz="1200" dirty="0"/>
              <a:t>The main non-smoker band sits near zero. The smoker cloud is wider and sits at higher fitted bills. A third group of non-smokers lands in the smoker range. We did not delete them. The largest Cook's distance is 0.055. A screen of 4 over n is about 0.003 and flags 92 rows at this sample size. It is a screen, not a deletion rule. Nothing dominates the fit.</a:t>
            </a:r>
          </a:p>
          <a:p>
            <a:pPr>
              <a:buNone/>
            </a:pPr>
            <a:r>
              <a:rPr lang="en-US" sz="1200" dirty="0"/>
              <a:t>Forty-eight accounts have a studentized residual beyond 3. Almost all are non-smokers. Nothing in the file explains them. Smoker residual SD is $5,717. Non-smoker residual SD is $4,588. The ratio is about 1.25.</a:t>
            </a:r>
          </a:p>
          <a:p>
            <a:pPr>
              <a:buNone/>
            </a:pPr>
            <a:r>
              <a:rPr lang="en-US" sz="1200" dirty="0"/>
              <a:t>A log scale looks calmer and we refused it. On the log, a common age slope is rejected. Putting in a different age slope for smokers makes the spreads unequal again. This is why we will not publish one linear error bar, even though this equation is what we would explain. Hand the pricing half to your partner.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12:10 to 13:30. Do not read every row. Point at the tan row, then at two failures.</a:t>
            </a:r>
          </a:p>
          <a:p>
            <a:pPr>
              <a:buNone/>
            </a:pPr>
            <a:r>
              <a:rPr lang="en-US" sz="1200" dirty="0"/>
              <a:t>The metric is root-mean-square error, in dollars. Say it once. The columns are a 10-fold cross-validation, the same folds for every method, and one 80/20 holdout: 1,072 accounts to fit, 265 to score. Seed 1234.</a:t>
            </a:r>
          </a:p>
          <a:p>
            <a:pPr>
              <a:buNone/>
            </a:pPr>
            <a:r>
              <a:rPr lang="en-US" sz="1200" dirty="0"/>
              <a:t>The forest is lowest on both: $4,624 cross-validated, $4,366 on the holdout. The explanation equation is $4,816 and $4,714. The cross-validated gap is $192. The forest's fold-to-fold standard deviation is $763, so that edge is inside the variation. Do not sell a transformation in accuracy.</a:t>
            </a:r>
          </a:p>
          <a:p>
            <a:pPr>
              <a:buNone/>
            </a:pPr>
            <a:r>
              <a:rPr lang="en-US" sz="1200" dirty="0"/>
              <a:t>The term search has a better AIC, about 21,258 against 21,267, because that is the score it was asked to optimize. Its cross-validated RMSE is $4,836, slightly worse. AIC does not price a new account. Averaged trees beat the equation on the holdout, at $4,448, and lose the cross-validation, at $4,867. One split is not the decision. The reason to score with the forest is the shape on the next slide, not the $192.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13:30 to 15:00. This is the picture. Do not read the legend item by item.</a:t>
            </a:r>
          </a:p>
          <a:p>
            <a:pPr>
              <a:buNone/>
            </a:pPr>
            <a:r>
              <a:rPr lang="en-US" sz="1200" dirty="0"/>
              <a:t>Age is held at 39, children at one, female, northeast. The gray points are real accounts within five years of 39. A line that sits off the cloud is bias. A line that jumps from one BMI to the next is variance.</a:t>
            </a:r>
          </a:p>
          <a:p>
            <a:pPr>
              <a:buNone/>
            </a:pPr>
            <a:r>
              <a:rPr lang="en-US" sz="1200" dirty="0"/>
              <a:t>Left, non-smokers. Every method sits in the lower cloud. None of them climbs to the accounts whose bills are far above that band. The orange neighbor line wiggles toward a few of those points and falls back. The wiggle does not explain the band.</a:t>
            </a:r>
          </a:p>
          <a:p>
            <a:pPr>
              <a:buNone/>
            </a:pPr>
            <a:r>
              <a:rPr lang="en-US" sz="1200" dirty="0"/>
              <a:t>Right, smokers. The straight lines keep climbing and pass $60,000. The cloud flattens. Around a BMI of 30 the forest, the neighbors, and the averaged trees step up and then level off. The straight line is biased high once BMI is high. The forest is the calmest line that is allowed to bend. The neighbors still jump.</a:t>
            </a:r>
          </a:p>
          <a:p>
            <a:pPr>
              <a:buNone/>
            </a:pPr>
            <a:r>
              <a:rPr lang="en-US" sz="1200" dirty="0"/>
              <a:t>One sentence on the margin, then leave it for the close. For the forest, 95 percent of left-out smoker bills fell within $9,800 of the quote, and 95 percent of non-smoker bills within $12,486. The tail is a bill above the quote. Do not convert it to a percent of the average bill.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15:00 to 16:20. Say this before you lean on the RMSE ranking. Blue is the median absolute error. Half of the left-out accounts are closer to the quote than that dot. Red is the mean of the same absolute errors, pulled right by a minority of bills.</a:t>
            </a:r>
          </a:p>
          <a:p>
            <a:pPr>
              <a:buNone/>
            </a:pPr>
            <a:r>
              <a:rPr lang="en-US" sz="1200" dirty="0"/>
              <a:t>Right panel, smokers. The forest's median is $1,111. The equation's is $4,035. Averaged trees are about $3,011. For the typical smoker the forest is about $2,900 closer. That is the gain. The $192 of cross-validated RMSE was never this story.</a:t>
            </a:r>
          </a:p>
          <a:p>
            <a:pPr>
              <a:buNone/>
            </a:pPr>
            <a:r>
              <a:rPr lang="en-US" sz="1200" dirty="0"/>
              <a:t>Left panel, non-smokers. The medians sit together, about $1,400 to $1,900. Neighbors are $1,402 and the forest is $1,428. Do not propose two scorers over $26. On non-smokers the equation is slightly closer on RMSE, about $4,612 against $4,811, and that gap is also inside the fold variation. The forest's win is the smoker book.</a:t>
            </a:r>
          </a:p>
          <a:p>
            <a:pPr>
              <a:buNone/>
            </a:pPr>
            <a:r>
              <a:rPr lang="en-US" sz="1200" dirty="0"/>
              <a:t>The outer margin has not gone away. It is the tail, not the typical account. And be straight about it: on the 95 percent absolute error for smokers, the equation is $9,489 and the forest is $9,800. The forest is not tighter there.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6E33B-CF14-6394-B4C6-1CF37F095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5739F-604C-34D4-4A2E-783060D98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0C99DA-ED18-358A-435E-C359B28E6DD9}"/>
              </a:ext>
            </a:extLst>
          </p:cNvPr>
          <p:cNvSpPr>
            <a:spLocks noGrp="1"/>
          </p:cNvSpPr>
          <p:nvPr>
            <p:ph type="body" idx="1"/>
          </p:nvPr>
        </p:nvSpPr>
        <p:spPr/>
        <p:txBody>
          <a:bodyPr/>
          <a:lstStyle/>
          <a:p>
            <a:r>
              <a:rPr lang="en-US" sz="1200" dirty="0"/>
              <a:t>16:20 to 17:20. </a:t>
            </a:r>
            <a:r>
              <a:rPr lang="en-US" dirty="0"/>
              <a:t>This slide breaks the prediction error down by smoking status so we can see where the random forest is actually helping.</a:t>
            </a:r>
          </a:p>
          <a:p>
            <a:r>
              <a:rPr lang="en-US" dirty="0"/>
              <a:t>Remember, lower RMSE is better.</a:t>
            </a:r>
          </a:p>
          <a:p>
            <a:r>
              <a:rPr lang="en-US" dirty="0"/>
              <a:t>For nonsmokers, the models are fairly close. In fact, on the 10-fold cross-validation, the explanation equation is slightly better than the random forest about </a:t>
            </a:r>
            <a:r>
              <a:rPr lang="en-US" b="0" dirty="0"/>
              <a:t>$4,612 versus $4,811</a:t>
            </a:r>
            <a:r>
              <a:rPr lang="en-US" dirty="0"/>
              <a:t>. That difference is also small relative to the amount of variation across the folds.</a:t>
            </a:r>
          </a:p>
          <a:p>
            <a:r>
              <a:rPr lang="en-US" dirty="0"/>
              <a:t>The bigger difference appears among smokers. The random forest performs much better there because it can follow the nonlinear pattern we saw earlier, where smoker charges rise with BMI and then begin to level off instead of continuing in a straight line.</a:t>
            </a:r>
          </a:p>
          <a:p>
            <a:r>
              <a:rPr lang="en-US" dirty="0"/>
              <a:t>So the random forest’s overall advantage is not coming equally from every customer. </a:t>
            </a:r>
            <a:r>
              <a:rPr lang="en-US" b="0" dirty="0"/>
              <a:t>Most of the gain is coming from better predictions for smokers.</a:t>
            </a:r>
          </a:p>
          <a:p>
            <a:r>
              <a:rPr lang="en-US" dirty="0"/>
              <a:t>That’s why we still prefer the random forest for pricing, even though the regression remains very competitive for nonsmokers.</a:t>
            </a:r>
          </a:p>
          <a:p>
            <a:pPr>
              <a:buNone/>
            </a:pPr>
            <a:r>
              <a:rPr lang="en-US" sz="1200" dirty="0"/>
              <a:t>.</a:t>
            </a:r>
          </a:p>
        </p:txBody>
      </p:sp>
      <p:sp>
        <p:nvSpPr>
          <p:cNvPr id="4" name="Slide Number Placeholder 3">
            <a:extLst>
              <a:ext uri="{FF2B5EF4-FFF2-40B4-BE49-F238E27FC236}">
                <a16:creationId xmlns:a16="http://schemas.microsoft.com/office/drawing/2014/main" id="{6821E50B-D7DF-C520-1D8F-C89128BAE35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398255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17:20 to 18:30. This is the decision. Two jobs, two tools. Say the $192 out loud so nobody leaves thinking the forest is a different business.</a:t>
            </a:r>
          </a:p>
          <a:p>
            <a:pPr>
              <a:buNone/>
            </a:pPr>
            <a:r>
              <a:rPr lang="en-US" sz="1200" dirty="0"/>
              <a:t>Explain with the equation. Age, children, a smoker gap that depends on BMI, and a regional level shift. Quote the paired bootstrap interval for the age slope and for the smoker gap at BMI 30. Do not quote the smoker coefficient. It is the gap at BMI 0. Do not call the southeast expensive after smoking and BMI are held fixed.</a:t>
            </a:r>
          </a:p>
          <a:p>
            <a:pPr>
              <a:buNone/>
            </a:pPr>
            <a:r>
              <a:rPr lang="en-US" sz="1200" dirty="0"/>
              <a:t>Price with the forest. Lowest RMSE on both checks. Use it because the quote levels off with the smoker cloud instead of climbing past it, and because the typical smoker is about $2,900 closer. It does not assume one residual spread. It also cannot say what a year of age is worth. Do not describe it as an explanation.</a:t>
            </a:r>
          </a:p>
          <a:p>
            <a:pPr>
              <a:buNone/>
            </a:pPr>
            <a:r>
              <a:rPr lang="en-US" sz="1200" dirty="0"/>
              <a:t>The limit, in one sentence. On the holdout, 16 non-smokers have bills above $15,000. The equation misses that group by about $14,036 on average. The forest misses them by about $13,554. A more flexible scorer does not explain those accounts.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18:30 to 20:00. Four limits, then stop. Do not add a method you did not run.</a:t>
            </a:r>
          </a:p>
          <a:p>
            <a:pPr>
              <a:buNone/>
            </a:pPr>
            <a:r>
              <a:rPr lang="en-US" sz="1200" dirty="0"/>
              <a:t>Scope. Four region labels in this file. No household, plan, or year, so independence is an assumption, not a result. Generalizing past these labels is a guess.</a:t>
            </a:r>
          </a:p>
          <a:p>
            <a:pPr>
              <a:buNone/>
            </a:pPr>
            <a:r>
              <a:rPr lang="en-US" sz="1200" dirty="0"/>
              <a:t>Cause. Smoking, BMI, and region were not assigned. $22,833 is a contrast in this file with age, children, and region held fixed. It is not an estimate of what the bill would do if a particular person stopped smoking.</a:t>
            </a:r>
          </a:p>
          <a:p>
            <a:pPr>
              <a:buNone/>
            </a:pPr>
            <a:r>
              <a:rPr lang="en-US" sz="1200" dirty="0"/>
              <a:t>The margin. Ninety-five percent of left-out smoker bills fell within $9,800 of the forest quote, and 95 percent of non-smoker bills within $12,486. That is a percentile of absolute errors, not a confidence interval, and not a percent of the average bill. The equation is as tight or tighter for smokers, at $9,489.</a:t>
            </a:r>
          </a:p>
          <a:p>
            <a:pPr>
              <a:buNone/>
            </a:pPr>
            <a:r>
              <a:rPr lang="en-US" sz="1200" dirty="0"/>
              <a:t>More time. Diagnosis, plan design, deductible, and whether the charge is one year or many. Then a later book of accounts, not another split of this one, before treating a $192 edge as stable. Stop. The backup stays down unless someone asks how the penalty or the neighborhood behaved.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9:10 to 10:50. Read both contrasts almost as written. Do not drop the holding-fixed clause. This is the interpretation.</a:t>
            </a:r>
          </a:p>
          <a:p>
            <a:pPr>
              <a:buNone/>
            </a:pPr>
            <a:r>
              <a:rPr lang="en-US" sz="1200" dirty="0"/>
              <a:t>Age. One more year, with BMI, smoking, children, and region held fixed, is associated with $264 higher mean charges. Ordinary 95 percent interval $245 to $283. The paired bootstrap, which redraws whole accounts and keeps each person with their own residual, gives the same interval. Same slope in both groups. About 2 percent of the average bill.</a:t>
            </a:r>
          </a:p>
          <a:p>
            <a:pPr>
              <a:buNone/>
            </a:pPr>
            <a:r>
              <a:rPr lang="en-US" sz="1200" dirty="0"/>
              <a:t>Smoker gap at BMI 30. Holding age, children, and region fixed, the contrast is $22,833. The paired bootstrap interval we would quote is $22,045 to $23,566. The ordinary interval is $22,182 to $23,484. They agree because the contrast is many standard errors from zero. The ordinary interval is still approximate, because residual spread is wider for smokers. At BMI 25 the gap is $15,643. At BMI 35 it is $30,024. This describes the file. It is not the effect of a person quitting.</a:t>
            </a:r>
          </a:p>
          <a:p>
            <a:pPr>
              <a:buNone/>
            </a:pPr>
            <a:r>
              <a:rPr lang="en-US" sz="1200" dirty="0"/>
              <a:t>If asked. Children are $512, ordinary interval $296 to $729. Northwest versus northeast is about minus $578, and that interval includes zero. Southeast minus $1,207, interval minus $1,959 to minus $455. Southwest minus $1,228, interval minus $1,978 to minus $477.</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dirty="0"/>
              <a:t>Do not present this unless asked. It is the backup for two pictures in the brief.</a:t>
            </a:r>
          </a:p>
          <a:p>
            <a:pPr>
              <a:buNone/>
            </a:pPr>
            <a:r>
              <a:rPr lang="en-US" sz="1200" dirty="0"/>
              <a:t>Left, the penalty path. Cross-validated squared error stays flat between the minimum and the one-standard-error penalty we keep, then climbs once signal starts coming out. We keep 14 of 33 terms. There is no t-test on a term the penalty has already set to zero.</a:t>
            </a:r>
          </a:p>
          <a:p>
            <a:pPr>
              <a:buNone/>
            </a:pPr>
            <a:r>
              <a:rPr lang="en-US" sz="1200" dirty="0"/>
              <a:t>Right, neighborhood size. One neighbor is unstable, with a cross-validated RMSE of about $6,460. Thirty neighbors average people who are not alike, about $5,879. The size the cross-validation chose is k = 7, at $5,384, and it still loses to the explanation equation.</a:t>
            </a:r>
          </a:p>
          <a:p>
            <a:pPr>
              <a:buNone/>
            </a:pPr>
            <a:r>
              <a:rPr lang="en-US" sz="1200" dirty="0"/>
              <a:t>Full tables, the coefficient list, and the code are in the knitted brief.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A22"/>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F1EADA"/>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A8A08E"/>
                </a:solidFill>
                <a:latin typeface="Calibri" pitchFamily="34" charset="0"/>
                <a:ea typeface="Calibri" pitchFamily="34" charset="-122"/>
                <a:cs typeface="Calibri" pitchFamily="34" charset="-120"/>
              </a:rPr>
              <a:t>A DECISION BRIEF</a:t>
            </a:r>
            <a:endParaRPr lang="en-US" sz="1100" dirty="0"/>
          </a:p>
        </p:txBody>
      </p:sp>
      <p:sp>
        <p:nvSpPr>
          <p:cNvPr id="6" name="Text 4"/>
          <p:cNvSpPr/>
          <p:nvPr/>
        </p:nvSpPr>
        <p:spPr>
          <a:xfrm>
            <a:off x="502920" y="4160520"/>
            <a:ext cx="8412480" cy="640080"/>
          </a:xfrm>
          <a:prstGeom prst="rect">
            <a:avLst/>
          </a:prstGeom>
          <a:noFill/>
          <a:ln/>
        </p:spPr>
        <p:txBody>
          <a:bodyPr wrap="square" lIns="0" tIns="0" rIns="0" bIns="0" rtlCol="0" anchor="ctr"/>
          <a:lstStyle/>
          <a:p>
            <a:pPr marL="0" indent="0">
              <a:buNone/>
            </a:pPr>
            <a:r>
              <a:rPr lang="en-US" sz="1800" dirty="0">
                <a:solidFill>
                  <a:srgbClr val="F1EADA"/>
                </a:solidFill>
                <a:latin typeface="Calibri" pitchFamily="34" charset="0"/>
                <a:ea typeface="Calibri" pitchFamily="34" charset="-122"/>
                <a:cs typeface="Calibri" pitchFamily="34" charset="-120"/>
              </a:rPr>
              <a:t>What is associated with the bill, and how we would price the next customer.</a:t>
            </a:r>
            <a:endParaRPr lang="en-US" sz="1800" dirty="0"/>
          </a:p>
        </p:txBody>
      </p:sp>
      <p:sp>
        <p:nvSpPr>
          <p:cNvPr id="7" name="Text 5"/>
          <p:cNvSpPr/>
          <p:nvPr/>
        </p:nvSpPr>
        <p:spPr>
          <a:xfrm>
            <a:off x="502920" y="5212080"/>
            <a:ext cx="7315200" cy="292608"/>
          </a:xfrm>
          <a:prstGeom prst="rect">
            <a:avLst/>
          </a:prstGeom>
          <a:noFill/>
          <a:ln/>
        </p:spPr>
        <p:txBody>
          <a:bodyPr wrap="square" lIns="0" tIns="0" rIns="0" bIns="0" rtlCol="0" anchor="ctr"/>
          <a:lstStyle/>
          <a:p>
            <a:pPr marL="0" indent="0">
              <a:buNone/>
            </a:pPr>
            <a:r>
              <a:rPr lang="en-US" sz="1600" dirty="0">
                <a:solidFill>
                  <a:srgbClr val="F1EADA"/>
                </a:solidFill>
                <a:latin typeface="Georgia" pitchFamily="34" charset="0"/>
                <a:ea typeface="Georgia" pitchFamily="34" charset="-122"/>
                <a:cs typeface="Georgia" pitchFamily="34" charset="-120"/>
              </a:rPr>
              <a:t>Aaron Powell  and  Thuan-Andy Bui</a:t>
            </a:r>
            <a:endParaRPr lang="en-US" sz="1600" dirty="0"/>
          </a:p>
        </p:txBody>
      </p:sp>
      <p:sp>
        <p:nvSpPr>
          <p:cNvPr id="8" name="Text 6"/>
          <p:cNvSpPr/>
          <p:nvPr/>
        </p:nvSpPr>
        <p:spPr>
          <a:xfrm>
            <a:off x="502920" y="5559552"/>
            <a:ext cx="5486400" cy="256032"/>
          </a:xfrm>
          <a:prstGeom prst="rect">
            <a:avLst/>
          </a:prstGeom>
          <a:noFill/>
          <a:ln/>
        </p:spPr>
        <p:txBody>
          <a:bodyPr wrap="square" lIns="0" tIns="0" rIns="0" bIns="0" rtlCol="0" anchor="ctr"/>
          <a:lstStyle/>
          <a:p>
            <a:pPr marL="0" indent="0">
              <a:buNone/>
            </a:pPr>
            <a:r>
              <a:rPr lang="en-US" sz="1400" dirty="0">
                <a:solidFill>
                  <a:srgbClr val="A8A08E"/>
                </a:solidFill>
                <a:latin typeface="Calibri" pitchFamily="34" charset="0"/>
                <a:ea typeface="Calibri" pitchFamily="34" charset="-122"/>
                <a:cs typeface="Calibri" pitchFamily="34" charset="-120"/>
              </a:rPr>
              <a:t>26 September 2026</a:t>
            </a:r>
            <a:endParaRPr lang="en-US" sz="1400" dirty="0"/>
          </a:p>
        </p:txBody>
      </p:sp>
      <p:sp>
        <p:nvSpPr>
          <p:cNvPr id="9" name="Text 7"/>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A8A08E"/>
                </a:solidFill>
                <a:latin typeface="Calibri" pitchFamily="34" charset="0"/>
                <a:ea typeface="Calibri" pitchFamily="34" charset="-122"/>
                <a:cs typeface="Calibri" pitchFamily="34" charset="-120"/>
              </a:rPr>
              <a:t>HEALTH-ACCOUNT CHARGES</a:t>
            </a:r>
            <a:endParaRPr lang="en-US" sz="1000" dirty="0"/>
          </a:p>
        </p:txBody>
      </p:sp>
      <p:sp>
        <p:nvSpPr>
          <p:cNvPr id="10" name="Text 8"/>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A8A08E"/>
                </a:solidFill>
                <a:latin typeface="Calibri" pitchFamily="34" charset="0"/>
                <a:ea typeface="Calibri" pitchFamily="34" charset="-122"/>
                <a:cs typeface="Calibri" pitchFamily="34" charset="-120"/>
              </a:rPr>
              <a:t>01  /  15</a:t>
            </a:r>
            <a:endParaRPr lang="en-US" sz="1000" dirty="0"/>
          </a:p>
        </p:txBody>
      </p:sp>
      <p:pic>
        <p:nvPicPr>
          <p:cNvPr id="20" name="Picture 19">
            <a:extLst>
              <a:ext uri="{FF2B5EF4-FFF2-40B4-BE49-F238E27FC236}">
                <a16:creationId xmlns:a16="http://schemas.microsoft.com/office/drawing/2014/main" id="{DB3042C4-2442-EC8B-6C88-9EB1D3AFCC27}"/>
              </a:ext>
            </a:extLst>
          </p:cNvPr>
          <p:cNvPicPr>
            <a:picLocks noChangeAspect="1"/>
          </p:cNvPicPr>
          <p:nvPr/>
        </p:nvPicPr>
        <p:blipFill>
          <a:blip r:embed="rId3">
            <a:duotone>
              <a:prstClr val="black"/>
              <a:srgbClr val="314A3D">
                <a:alpha val="1176"/>
                <a:tint val="45000"/>
                <a:satMod val="400000"/>
              </a:srgbClr>
            </a:duotone>
            <a:alphaModFix amt="35000"/>
          </a:blip>
          <a:srcRect r="10299" b="23389"/>
          <a:stretch>
            <a:fillRect/>
          </a:stretch>
        </p:blipFill>
        <p:spPr>
          <a:xfrm>
            <a:off x="3989741" y="512064"/>
            <a:ext cx="8202259" cy="6345936"/>
          </a:xfrm>
          <a:prstGeom prst="rect">
            <a:avLst/>
          </a:prstGeom>
        </p:spPr>
      </p:pic>
      <p:sp>
        <p:nvSpPr>
          <p:cNvPr id="5" name="Text 3"/>
          <p:cNvSpPr/>
          <p:nvPr/>
        </p:nvSpPr>
        <p:spPr>
          <a:xfrm>
            <a:off x="502920" y="2057400"/>
            <a:ext cx="9144000" cy="1965960"/>
          </a:xfrm>
          <a:prstGeom prst="rect">
            <a:avLst/>
          </a:prstGeom>
          <a:noFill/>
          <a:ln/>
        </p:spPr>
        <p:txBody>
          <a:bodyPr wrap="square" lIns="0" tIns="0" rIns="0" bIns="0" rtlCol="0" anchor="ctr"/>
          <a:lstStyle/>
          <a:p>
            <a:pPr marL="0" indent="0">
              <a:buNone/>
            </a:pPr>
            <a:r>
              <a:rPr lang="en-US" sz="5400" dirty="0">
                <a:solidFill>
                  <a:srgbClr val="F1EADA"/>
                </a:solidFill>
                <a:latin typeface="Georgia" pitchFamily="34" charset="0"/>
                <a:ea typeface="Georgia" pitchFamily="34" charset="-122"/>
                <a:cs typeface="Georgia" pitchFamily="34" charset="-120"/>
              </a:rPr>
              <a:t>Health Account</a:t>
            </a:r>
            <a:endParaRPr lang="en-US" sz="5400" dirty="0"/>
          </a:p>
          <a:p>
            <a:pPr marL="0" indent="0">
              <a:buNone/>
            </a:pPr>
            <a:r>
              <a:rPr lang="en-US" sz="5400" dirty="0">
                <a:solidFill>
                  <a:srgbClr val="F1EADA"/>
                </a:solidFill>
                <a:latin typeface="Georgia" pitchFamily="34" charset="0"/>
                <a:ea typeface="Georgia" pitchFamily="34" charset="-122"/>
                <a:cs typeface="Georgia" pitchFamily="34" charset="-120"/>
              </a:rPr>
              <a:t>Charges.</a:t>
            </a:r>
            <a:endParaRPr lang="en-US" sz="5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ADA"/>
        </a:solidFill>
        <a:effectLst/>
      </p:bgPr>
    </p:bg>
    <p:spTree>
      <p:nvGrpSpPr>
        <p:cNvPr id="1" name=""/>
        <p:cNvGrpSpPr/>
        <p:nvPr/>
      </p:nvGrpSpPr>
      <p:grpSpPr>
        <a:xfrm>
          <a:off x="0" y="0"/>
          <a:ext cx="0" cy="0"/>
          <a:chOff x="0" y="0"/>
          <a:chExt cx="0" cy="0"/>
        </a:xfrm>
      </p:grpSpPr>
      <p:sp>
        <p:nvSpPr>
          <p:cNvPr id="37" name="Shape 11">
            <a:extLst>
              <a:ext uri="{FF2B5EF4-FFF2-40B4-BE49-F238E27FC236}">
                <a16:creationId xmlns:a16="http://schemas.microsoft.com/office/drawing/2014/main" id="{BC704AB2-9A2F-42BA-1C57-EC38B4B49C8B}"/>
              </a:ext>
            </a:extLst>
          </p:cNvPr>
          <p:cNvSpPr/>
          <p:nvPr/>
        </p:nvSpPr>
        <p:spPr>
          <a:xfrm>
            <a:off x="6247982"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a:p>
        </p:txBody>
      </p:sp>
      <p:sp>
        <p:nvSpPr>
          <p:cNvPr id="36" name="Shape 7">
            <a:extLst>
              <a:ext uri="{FF2B5EF4-FFF2-40B4-BE49-F238E27FC236}">
                <a16:creationId xmlns:a16="http://schemas.microsoft.com/office/drawing/2014/main" id="{B842459B-B502-253F-7A52-568F4E51CA74}"/>
              </a:ext>
            </a:extLst>
          </p:cNvPr>
          <p:cNvSpPr/>
          <p:nvPr/>
        </p:nvSpPr>
        <p:spPr>
          <a:xfrm>
            <a:off x="3351963"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dirty="0"/>
          </a:p>
        </p:txBody>
      </p:sp>
      <p:sp>
        <p:nvSpPr>
          <p:cNvPr id="5" name="Shape 3"/>
          <p:cNvSpPr/>
          <p:nvPr/>
        </p:nvSpPr>
        <p:spPr>
          <a:xfrm>
            <a:off x="455944" y="1415975"/>
            <a:ext cx="2743200" cy="4160520"/>
          </a:xfrm>
          <a:prstGeom prst="rect">
            <a:avLst/>
          </a:prstGeom>
          <a:solidFill>
            <a:srgbClr val="F7F1E2"/>
          </a:solidFill>
          <a:ln w="12700">
            <a:solidFill>
              <a:srgbClr val="E4D8C4"/>
            </a:solidFill>
            <a:prstDash val="solid"/>
          </a:ln>
          <a:effectLst>
            <a:outerShdw blurRad="50800" dist="38100" dir="8100000" algn="tr" rotWithShape="0">
              <a:prstClr val="black">
                <a:alpha val="40000"/>
              </a:prstClr>
            </a:outerShdw>
          </a:effectLst>
        </p:spPr>
        <p:txBody>
          <a:bodyPr/>
          <a:lstStyle/>
          <a:p>
            <a:endParaRPr lang="en-US" dirty="0"/>
          </a:p>
        </p:txBody>
      </p:sp>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4" name="Text 2"/>
          <p:cNvSpPr/>
          <p:nvPr/>
        </p:nvSpPr>
        <p:spPr>
          <a:xfrm>
            <a:off x="502920" y="713232"/>
            <a:ext cx="10972800" cy="438912"/>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Insurance insights</a:t>
            </a:r>
            <a:endParaRPr lang="en-US" sz="2800" dirty="0"/>
          </a:p>
        </p:txBody>
      </p:sp>
      <p:sp>
        <p:nvSpPr>
          <p:cNvPr id="17" name="Shape 15"/>
          <p:cNvSpPr/>
          <p:nvPr/>
        </p:nvSpPr>
        <p:spPr>
          <a:xfrm>
            <a:off x="9144000" y="1415975"/>
            <a:ext cx="2743200" cy="4160520"/>
          </a:xfrm>
          <a:prstGeom prst="rect">
            <a:avLst/>
          </a:prstGeom>
          <a:solidFill>
            <a:srgbClr val="1C2A22"/>
          </a:solidFill>
          <a:ln w="12700">
            <a:solidFill>
              <a:srgbClr val="1C2A22"/>
            </a:solidFill>
            <a:prstDash val="solid"/>
          </a:ln>
          <a:effectLst>
            <a:outerShdw blurRad="50800" dist="38100" dir="8100000" algn="tr" rotWithShape="0">
              <a:prstClr val="black">
                <a:alpha val="40000"/>
              </a:prstClr>
            </a:outerShdw>
          </a:effectLst>
        </p:spPr>
        <p:txBody>
          <a:bodyPr/>
          <a:lstStyle/>
          <a:p>
            <a:endParaRPr lang="en-US"/>
          </a:p>
        </p:txBody>
      </p:sp>
      <p:pic>
        <p:nvPicPr>
          <p:cNvPr id="23" name="Picture 22">
            <a:extLst>
              <a:ext uri="{FF2B5EF4-FFF2-40B4-BE49-F238E27FC236}">
                <a16:creationId xmlns:a16="http://schemas.microsoft.com/office/drawing/2014/main" id="{DEC177A2-EB9E-C623-A2D1-E75C6B413C7A}"/>
              </a:ext>
            </a:extLst>
          </p:cNvPr>
          <p:cNvPicPr>
            <a:picLocks noChangeAspect="1"/>
          </p:cNvPicPr>
          <p:nvPr/>
        </p:nvPicPr>
        <p:blipFill>
          <a:blip r:embed="rId3">
            <a:duotone>
              <a:prstClr val="black"/>
              <a:srgbClr val="314A3D">
                <a:alpha val="1176"/>
                <a:tint val="45000"/>
                <a:satMod val="400000"/>
              </a:srgbClr>
            </a:duotone>
            <a:alphaModFix amt="35000"/>
          </a:blip>
          <a:srcRect l="15826" r="34602" b="23389"/>
          <a:stretch>
            <a:fillRect/>
          </a:stretch>
        </p:blipFill>
        <p:spPr>
          <a:xfrm>
            <a:off x="9144001" y="1737360"/>
            <a:ext cx="2743200" cy="3840480"/>
          </a:xfrm>
          <a:prstGeom prst="rect">
            <a:avLst/>
          </a:prstGeom>
        </p:spPr>
      </p:pic>
      <p:sp>
        <p:nvSpPr>
          <p:cNvPr id="18" name="Text 16"/>
          <p:cNvSpPr/>
          <p:nvPr/>
        </p:nvSpPr>
        <p:spPr>
          <a:xfrm>
            <a:off x="9290304" y="1600200"/>
            <a:ext cx="2450592" cy="640080"/>
          </a:xfrm>
          <a:prstGeom prst="rect">
            <a:avLst/>
          </a:prstGeom>
          <a:noFill/>
          <a:ln/>
        </p:spPr>
        <p:txBody>
          <a:bodyPr wrap="square" lIns="0" tIns="0" rIns="0" bIns="0" rtlCol="0" anchor="ctr"/>
          <a:lstStyle/>
          <a:p>
            <a:pPr marL="0" indent="0">
              <a:buNone/>
            </a:pPr>
            <a:r>
              <a:rPr lang="en-US" sz="2800" dirty="0">
                <a:solidFill>
                  <a:srgbClr val="F1EADA"/>
                </a:solidFill>
                <a:latin typeface="Georgia" pitchFamily="34" charset="0"/>
                <a:ea typeface="Georgia" pitchFamily="34" charset="-122"/>
                <a:cs typeface="Georgia" pitchFamily="34" charset="-120"/>
              </a:rPr>
              <a:t>$512</a:t>
            </a:r>
            <a:endParaRPr lang="en-US" sz="2800" dirty="0"/>
          </a:p>
        </p:txBody>
      </p:sp>
      <p:sp>
        <p:nvSpPr>
          <p:cNvPr id="19" name="Text 17"/>
          <p:cNvSpPr/>
          <p:nvPr/>
        </p:nvSpPr>
        <p:spPr>
          <a:xfrm>
            <a:off x="9290304" y="2286000"/>
            <a:ext cx="2450592" cy="640080"/>
          </a:xfrm>
          <a:prstGeom prst="rect">
            <a:avLst/>
          </a:prstGeom>
          <a:noFill/>
          <a:ln/>
        </p:spPr>
        <p:txBody>
          <a:bodyPr wrap="square" lIns="0" tIns="0" rIns="0" bIns="0" rtlCol="0" anchor="ctr"/>
          <a:lstStyle/>
          <a:p>
            <a:pPr marL="0" indent="0">
              <a:buNone/>
            </a:pPr>
            <a:r>
              <a:rPr lang="en-US" sz="1500" b="1" dirty="0">
                <a:solidFill>
                  <a:srgbClr val="B79A68"/>
                </a:solidFill>
                <a:latin typeface="Calibri" pitchFamily="34" charset="0"/>
                <a:ea typeface="Calibri" pitchFamily="34" charset="-122"/>
                <a:cs typeface="Calibri" pitchFamily="34" charset="-120"/>
              </a:rPr>
              <a:t>Per child</a:t>
            </a:r>
            <a:endParaRPr lang="en-US" sz="1500" dirty="0"/>
          </a:p>
        </p:txBody>
      </p:sp>
      <p:sp>
        <p:nvSpPr>
          <p:cNvPr id="21" name="Text 1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2" name="Text 2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02  /  15</a:t>
            </a:r>
            <a:endParaRPr lang="en-US" sz="1000" dirty="0"/>
          </a:p>
        </p:txBody>
      </p:sp>
      <p:sp>
        <p:nvSpPr>
          <p:cNvPr id="10" name="Text 8"/>
          <p:cNvSpPr/>
          <p:nvPr/>
        </p:nvSpPr>
        <p:spPr>
          <a:xfrm>
            <a:off x="6409944" y="1598856"/>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$264</a:t>
            </a:r>
            <a:endParaRPr lang="en-US" sz="2800" dirty="0"/>
          </a:p>
        </p:txBody>
      </p:sp>
      <p:sp>
        <p:nvSpPr>
          <p:cNvPr id="11" name="Text 9"/>
          <p:cNvSpPr/>
          <p:nvPr/>
        </p:nvSpPr>
        <p:spPr>
          <a:xfrm>
            <a:off x="640994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ea typeface="Calibri" pitchFamily="34" charset="-122"/>
                <a:cs typeface="Calibri" pitchFamily="34" charset="-120"/>
              </a:rPr>
              <a:t>Per year of age</a:t>
            </a:r>
            <a:endParaRPr lang="en-US" sz="1500" dirty="0"/>
          </a:p>
        </p:txBody>
      </p:sp>
      <p:sp>
        <p:nvSpPr>
          <p:cNvPr id="12" name="Text 10"/>
          <p:cNvSpPr/>
          <p:nvPr/>
        </p:nvSpPr>
        <p:spPr>
          <a:xfrm>
            <a:off x="6409944" y="3108960"/>
            <a:ext cx="2450592" cy="2194560"/>
          </a:xfrm>
          <a:prstGeom prst="rect">
            <a:avLst/>
          </a:prstGeom>
          <a:noFill/>
          <a:ln/>
        </p:spPr>
        <p:txBody>
          <a:bodyPr wrap="square" lIns="0" tIns="0" rIns="0" bIns="0" rtlCol="0" anchor="ctr"/>
          <a:lstStyle/>
          <a:p>
            <a:pPr marL="0" indent="0">
              <a:buNone/>
            </a:pPr>
            <a:r>
              <a:rPr lang="en-US" sz="1400" dirty="0">
                <a:solidFill>
                  <a:srgbClr val="4E463C"/>
                </a:solidFill>
                <a:latin typeface="Calibri" pitchFamily="34" charset="0"/>
                <a:ea typeface="Calibri" pitchFamily="34" charset="-122"/>
                <a:cs typeface="Calibri" pitchFamily="34" charset="-120"/>
              </a:rPr>
              <a:t>2% of the average bill. </a:t>
            </a:r>
          </a:p>
          <a:p>
            <a:pPr marL="0" indent="0">
              <a:buNone/>
            </a:pPr>
            <a:endParaRPr lang="en-US" sz="1400" dirty="0">
              <a:solidFill>
                <a:srgbClr val="4E463C"/>
              </a:solidFill>
              <a:latin typeface="Calibri" pitchFamily="34" charset="0"/>
              <a:ea typeface="Calibri" pitchFamily="34" charset="-122"/>
              <a:cs typeface="Calibri" pitchFamily="34" charset="-120"/>
            </a:endParaRPr>
          </a:p>
          <a:p>
            <a:pPr marL="0" indent="0">
              <a:buNone/>
            </a:pPr>
            <a:r>
              <a:rPr lang="en-US" sz="1400" dirty="0">
                <a:solidFill>
                  <a:srgbClr val="4E463C"/>
                </a:solidFill>
                <a:latin typeface="Calibri" pitchFamily="34" charset="0"/>
                <a:ea typeface="Calibri" pitchFamily="34" charset="-122"/>
                <a:cs typeface="Calibri" pitchFamily="34" charset="-120"/>
              </a:rPr>
              <a:t>Same slope for smokers and non-smokers. Range $245 to $283.</a:t>
            </a:r>
            <a:endParaRPr lang="en-US" sz="1400" dirty="0"/>
          </a:p>
        </p:txBody>
      </p:sp>
      <p:sp>
        <p:nvSpPr>
          <p:cNvPr id="6" name="Text 4"/>
          <p:cNvSpPr/>
          <p:nvPr/>
        </p:nvSpPr>
        <p:spPr>
          <a:xfrm>
            <a:off x="3529584" y="1600200"/>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$1,461</a:t>
            </a:r>
            <a:endParaRPr lang="en-US" sz="2800" dirty="0"/>
          </a:p>
        </p:txBody>
      </p:sp>
      <p:sp>
        <p:nvSpPr>
          <p:cNvPr id="8" name="Text 6"/>
          <p:cNvSpPr/>
          <p:nvPr/>
        </p:nvSpPr>
        <p:spPr>
          <a:xfrm>
            <a:off x="3529584" y="3108960"/>
            <a:ext cx="2450592" cy="2194560"/>
          </a:xfrm>
          <a:prstGeom prst="rect">
            <a:avLst/>
          </a:prstGeom>
          <a:noFill/>
          <a:ln/>
        </p:spPr>
        <p:txBody>
          <a:bodyPr wrap="square" lIns="0" tIns="0" rIns="0" bIns="0" rtlCol="0" anchor="ctr"/>
          <a:lstStyle/>
          <a:p>
            <a:r>
              <a:rPr lang="en-US" sz="1400" dirty="0">
                <a:solidFill>
                  <a:srgbClr val="4E463C"/>
                </a:solidFill>
                <a:latin typeface="Calibri" pitchFamily="34" charset="0"/>
                <a:cs typeface="Calibri" pitchFamily="34" charset="-120"/>
              </a:rPr>
              <a:t>$22,833 gap between smokers and non-smokers at BMI 30.</a:t>
            </a:r>
          </a:p>
          <a:p>
            <a:endParaRPr lang="en-US" sz="1400" dirty="0">
              <a:solidFill>
                <a:srgbClr val="4E463C"/>
              </a:solidFill>
              <a:latin typeface="Calibri" pitchFamily="34" charset="0"/>
              <a:cs typeface="Calibri" pitchFamily="34" charset="-120"/>
            </a:endParaRPr>
          </a:p>
          <a:p>
            <a:r>
              <a:rPr lang="en-US" sz="1400" dirty="0">
                <a:solidFill>
                  <a:srgbClr val="4E463C"/>
                </a:solidFill>
                <a:latin typeface="Calibri" pitchFamily="34" charset="0"/>
                <a:cs typeface="Calibri" pitchFamily="34" charset="-120"/>
              </a:rPr>
              <a:t>Among non-smokers, BMI is not a predictor of charges.</a:t>
            </a:r>
          </a:p>
        </p:txBody>
      </p:sp>
      <p:sp>
        <p:nvSpPr>
          <p:cNvPr id="24" name="Text 4">
            <a:extLst>
              <a:ext uri="{FF2B5EF4-FFF2-40B4-BE49-F238E27FC236}">
                <a16:creationId xmlns:a16="http://schemas.microsoft.com/office/drawing/2014/main" id="{DBDCACB5-4871-C02D-6E94-C1B08865EB0A}"/>
              </a:ext>
            </a:extLst>
          </p:cNvPr>
          <p:cNvSpPr/>
          <p:nvPr/>
        </p:nvSpPr>
        <p:spPr>
          <a:xfrm>
            <a:off x="676118" y="1598856"/>
            <a:ext cx="2450592" cy="6400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rPr>
              <a:t>3.8x</a:t>
            </a:r>
            <a:endParaRPr lang="en-US" sz="2800" dirty="0"/>
          </a:p>
        </p:txBody>
      </p:sp>
      <p:sp>
        <p:nvSpPr>
          <p:cNvPr id="25" name="Text 5">
            <a:extLst>
              <a:ext uri="{FF2B5EF4-FFF2-40B4-BE49-F238E27FC236}">
                <a16:creationId xmlns:a16="http://schemas.microsoft.com/office/drawing/2014/main" id="{5D6A9614-0F27-DC10-FED8-D529F1B5F387}"/>
              </a:ext>
            </a:extLst>
          </p:cNvPr>
          <p:cNvSpPr/>
          <p:nvPr/>
        </p:nvSpPr>
        <p:spPr>
          <a:xfrm>
            <a:off x="64922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cs typeface="Calibri" pitchFamily="34" charset="-120"/>
              </a:rPr>
              <a:t>Average smoker charges</a:t>
            </a:r>
            <a:endParaRPr lang="en-US" sz="1500" dirty="0"/>
          </a:p>
        </p:txBody>
      </p:sp>
      <p:sp>
        <p:nvSpPr>
          <p:cNvPr id="27" name="Text 5">
            <a:extLst>
              <a:ext uri="{FF2B5EF4-FFF2-40B4-BE49-F238E27FC236}">
                <a16:creationId xmlns:a16="http://schemas.microsoft.com/office/drawing/2014/main" id="{C9D78CCC-5E3D-0371-9138-517DF0B377CE}"/>
              </a:ext>
            </a:extLst>
          </p:cNvPr>
          <p:cNvSpPr/>
          <p:nvPr/>
        </p:nvSpPr>
        <p:spPr>
          <a:xfrm>
            <a:off x="3529584" y="2286000"/>
            <a:ext cx="2450592" cy="640080"/>
          </a:xfrm>
          <a:prstGeom prst="rect">
            <a:avLst/>
          </a:prstGeom>
          <a:noFill/>
          <a:ln/>
        </p:spPr>
        <p:txBody>
          <a:bodyPr wrap="square" lIns="0" tIns="0" rIns="0" bIns="0" rtlCol="0" anchor="ctr"/>
          <a:lstStyle/>
          <a:p>
            <a:pPr marL="0" indent="0">
              <a:buNone/>
            </a:pPr>
            <a:r>
              <a:rPr lang="en-US" sz="1500" b="1" dirty="0">
                <a:solidFill>
                  <a:srgbClr val="8B1E2C"/>
                </a:solidFill>
                <a:latin typeface="Calibri" pitchFamily="34" charset="0"/>
                <a:ea typeface="Calibri" pitchFamily="34" charset="-122"/>
                <a:cs typeface="Calibri" pitchFamily="34" charset="-120"/>
              </a:rPr>
              <a:t>Per BMI point among smokers</a:t>
            </a:r>
            <a:endParaRPr lang="en-US" sz="1500" dirty="0"/>
          </a:p>
        </p:txBody>
      </p:sp>
      <p:sp>
        <p:nvSpPr>
          <p:cNvPr id="28" name="Text 6">
            <a:extLst>
              <a:ext uri="{FF2B5EF4-FFF2-40B4-BE49-F238E27FC236}">
                <a16:creationId xmlns:a16="http://schemas.microsoft.com/office/drawing/2014/main" id="{E4D5EC98-BAE0-9F0E-4EA3-EC826D6BD564}"/>
              </a:ext>
            </a:extLst>
          </p:cNvPr>
          <p:cNvSpPr/>
          <p:nvPr/>
        </p:nvSpPr>
        <p:spPr>
          <a:xfrm>
            <a:off x="649224" y="3108960"/>
            <a:ext cx="2450592" cy="2194560"/>
          </a:xfrm>
          <a:prstGeom prst="rect">
            <a:avLst/>
          </a:prstGeom>
          <a:noFill/>
          <a:ln/>
        </p:spPr>
        <p:txBody>
          <a:bodyPr wrap="square" lIns="0" tIns="0" rIns="0" bIns="0" rtlCol="0" anchor="ctr"/>
          <a:lstStyle/>
          <a:p>
            <a:pPr marL="0" indent="0">
              <a:buNone/>
            </a:pPr>
            <a:r>
              <a:rPr lang="en-US" sz="1400" dirty="0">
                <a:solidFill>
                  <a:srgbClr val="4E463C"/>
                </a:solidFill>
                <a:latin typeface="Calibri" pitchFamily="34" charset="0"/>
                <a:ea typeface="Calibri" pitchFamily="34" charset="-122"/>
                <a:cs typeface="Calibri" pitchFamily="34" charset="-120"/>
              </a:rPr>
              <a:t>$32,050 average smoker annual charges.</a:t>
            </a:r>
          </a:p>
          <a:p>
            <a:pPr marL="0" indent="0">
              <a:buNone/>
            </a:pPr>
            <a:endParaRPr lang="en-US" sz="1400" dirty="0">
              <a:solidFill>
                <a:srgbClr val="4E463C"/>
              </a:solidFill>
              <a:latin typeface="Calibri" pitchFamily="34" charset="0"/>
              <a:ea typeface="Calibri" pitchFamily="34" charset="-122"/>
              <a:cs typeface="Calibri" pitchFamily="34" charset="-120"/>
            </a:endParaRPr>
          </a:p>
          <a:p>
            <a:pPr marL="0" indent="0">
              <a:buNone/>
            </a:pPr>
            <a:r>
              <a:rPr lang="en-US" sz="1400" dirty="0">
                <a:solidFill>
                  <a:srgbClr val="4E463C"/>
                </a:solidFill>
                <a:latin typeface="Calibri" pitchFamily="34" charset="0"/>
                <a:ea typeface="Calibri" pitchFamily="34" charset="-122"/>
                <a:cs typeface="Calibri" pitchFamily="34" charset="-120"/>
              </a:rPr>
              <a:t>$8,441 average non-smoker annual charges.</a:t>
            </a:r>
            <a:endParaRPr lang="en-US" sz="1400" dirty="0"/>
          </a:p>
        </p:txBody>
      </p:sp>
      <p:sp>
        <p:nvSpPr>
          <p:cNvPr id="29" name="Text 18">
            <a:extLst>
              <a:ext uri="{FF2B5EF4-FFF2-40B4-BE49-F238E27FC236}">
                <a16:creationId xmlns:a16="http://schemas.microsoft.com/office/drawing/2014/main" id="{44334281-DFD9-AFDB-C197-C36721D37948}"/>
              </a:ext>
            </a:extLst>
          </p:cNvPr>
          <p:cNvSpPr/>
          <p:nvPr/>
        </p:nvSpPr>
        <p:spPr>
          <a:xfrm>
            <a:off x="9290304" y="3108960"/>
            <a:ext cx="2450592" cy="2194560"/>
          </a:xfrm>
          <a:prstGeom prst="rect">
            <a:avLst/>
          </a:prstGeom>
          <a:noFill/>
          <a:ln/>
        </p:spPr>
        <p:txBody>
          <a:bodyPr wrap="square" lIns="0" tIns="0" rIns="0" bIns="0" rtlCol="0" anchor="ctr"/>
          <a:lstStyle/>
          <a:p>
            <a:pPr marL="0" indent="0">
              <a:buNone/>
            </a:pPr>
            <a:r>
              <a:rPr lang="en-US" sz="1400" dirty="0">
                <a:solidFill>
                  <a:srgbClr val="F1EADA"/>
                </a:solidFill>
                <a:latin typeface="Calibri" pitchFamily="34" charset="0"/>
                <a:ea typeface="Calibri" pitchFamily="34" charset="-122"/>
                <a:cs typeface="Calibri" pitchFamily="34" charset="-120"/>
              </a:rPr>
              <a:t>Sex is not clearly associated with charges (p-value = .062). </a:t>
            </a:r>
          </a:p>
          <a:p>
            <a:pPr marL="0" indent="0">
              <a:buNone/>
            </a:pPr>
            <a:endParaRPr lang="en-US" sz="1400" dirty="0">
              <a:solidFill>
                <a:srgbClr val="F1EADA"/>
              </a:solidFill>
              <a:latin typeface="Calibri" pitchFamily="34" charset="0"/>
              <a:cs typeface="Calibri" pitchFamily="34" charset="-120"/>
            </a:endParaRPr>
          </a:p>
          <a:p>
            <a:pPr marL="0" indent="0">
              <a:buNone/>
            </a:pPr>
            <a:r>
              <a:rPr lang="en-US" sz="1400" dirty="0">
                <a:solidFill>
                  <a:srgbClr val="F1EADA"/>
                </a:solidFill>
                <a:latin typeface="Calibri" pitchFamily="34" charset="0"/>
                <a:cs typeface="Calibri" pitchFamily="34" charset="-120"/>
              </a:rPr>
              <a:t>Adjusted, southeast is $1,207 lower and southwest $1,228 lower than northeast region.</a:t>
            </a:r>
            <a:endParaRPr lang="en-US" sz="1400" dirty="0"/>
          </a:p>
        </p:txBody>
      </p:sp>
      <p:sp>
        <p:nvSpPr>
          <p:cNvPr id="30" name="Text 4">
            <a:extLst>
              <a:ext uri="{FF2B5EF4-FFF2-40B4-BE49-F238E27FC236}">
                <a16:creationId xmlns:a16="http://schemas.microsoft.com/office/drawing/2014/main" id="{E9D42FD5-525B-E0E1-076D-3D999784D1E8}"/>
              </a:ext>
            </a:extLst>
          </p:cNvPr>
          <p:cNvSpPr/>
          <p:nvPr/>
        </p:nvSpPr>
        <p:spPr>
          <a:xfrm>
            <a:off x="502920" y="5623560"/>
            <a:ext cx="11384280" cy="800100"/>
          </a:xfrm>
          <a:prstGeom prst="rect">
            <a:avLst/>
          </a:prstGeom>
          <a:noFill/>
          <a:ln/>
        </p:spPr>
        <p:txBody>
          <a:bodyPr wrap="square" lIns="0" tIns="0" rIns="0" bIns="0" rtlCol="0" anchor="ctr"/>
          <a:lstStyle/>
          <a:p>
            <a:r>
              <a:rPr lang="en-US" sz="1400" dirty="0">
                <a:solidFill>
                  <a:srgbClr val="4E463C"/>
                </a:solidFill>
                <a:latin typeface="Calibri" pitchFamily="34" charset="0"/>
                <a:cs typeface="Calibri" pitchFamily="34" charset="-120"/>
              </a:rPr>
              <a:t>Analysis supports an association in these customers. It does not support a national rate or a causal effect.</a:t>
            </a:r>
          </a:p>
          <a:p>
            <a:r>
              <a:rPr lang="en-US" sz="1400" dirty="0">
                <a:solidFill>
                  <a:srgbClr val="4E463C"/>
                </a:solidFill>
                <a:latin typeface="Calibri" pitchFamily="34" charset="0"/>
                <a:cs typeface="Calibri" pitchFamily="34" charset="-120"/>
              </a:rPr>
              <a:t>Reported as contrasts – all other variables held constant.   </a:t>
            </a:r>
          </a:p>
        </p:txBody>
      </p:sp>
      <p:pic>
        <p:nvPicPr>
          <p:cNvPr id="32" name="Graphic 31" descr="Smoking outline">
            <a:extLst>
              <a:ext uri="{FF2B5EF4-FFF2-40B4-BE49-F238E27FC236}">
                <a16:creationId xmlns:a16="http://schemas.microsoft.com/office/drawing/2014/main" id="{21FAFD38-5941-8223-6F6B-592354F641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81628" y="1714500"/>
            <a:ext cx="457200" cy="457200"/>
          </a:xfrm>
          <a:prstGeom prst="rect">
            <a:avLst/>
          </a:prstGeom>
        </p:spPr>
      </p:pic>
      <p:pic>
        <p:nvPicPr>
          <p:cNvPr id="35" name="Graphic 34" descr="Smoking outline">
            <a:extLst>
              <a:ext uri="{FF2B5EF4-FFF2-40B4-BE49-F238E27FC236}">
                <a16:creationId xmlns:a16="http://schemas.microsoft.com/office/drawing/2014/main" id="{EE361FCD-86E0-9C20-B469-DF502D4884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95948" y="1714500"/>
            <a:ext cx="457200" cy="457200"/>
          </a:xfrm>
          <a:prstGeom prst="rect">
            <a:avLst/>
          </a:prstGeom>
        </p:spPr>
      </p:pic>
      <p:pic>
        <p:nvPicPr>
          <p:cNvPr id="40" name="Graphic 39" descr="Man with cane outline">
            <a:extLst>
              <a:ext uri="{FF2B5EF4-FFF2-40B4-BE49-F238E27FC236}">
                <a16:creationId xmlns:a16="http://schemas.microsoft.com/office/drawing/2014/main" id="{0F6AF01E-5588-D8CB-8C85-C49CEEC64B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13928" y="1714500"/>
            <a:ext cx="457200" cy="457200"/>
          </a:xfrm>
          <a:prstGeom prst="rect">
            <a:avLst/>
          </a:prstGeom>
        </p:spPr>
      </p:pic>
      <p:pic>
        <p:nvPicPr>
          <p:cNvPr id="42" name="Graphic 41" descr="Family with two children outline">
            <a:extLst>
              <a:ext uri="{FF2B5EF4-FFF2-40B4-BE49-F238E27FC236}">
                <a16:creationId xmlns:a16="http://schemas.microsoft.com/office/drawing/2014/main" id="{AE78768F-CFB0-B700-2BBD-18F73946070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830078" y="1696885"/>
            <a:ext cx="457200" cy="457200"/>
          </a:xfrm>
          <a:prstGeom prst="rect">
            <a:avLst/>
          </a:prstGeom>
        </p:spPr>
      </p:pic>
      <p:pic>
        <p:nvPicPr>
          <p:cNvPr id="44" name="Graphic 43" descr="Scale outline">
            <a:extLst>
              <a:ext uri="{FF2B5EF4-FFF2-40B4-BE49-F238E27FC236}">
                <a16:creationId xmlns:a16="http://schemas.microsoft.com/office/drawing/2014/main" id="{A726AB88-7179-DB2D-0588-877F517CC9F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23563" y="1737360"/>
            <a:ext cx="457200" cy="457200"/>
          </a:xfrm>
          <a:prstGeom prst="rect">
            <a:avLst/>
          </a:prstGeom>
        </p:spPr>
      </p:pic>
      <p:sp>
        <p:nvSpPr>
          <p:cNvPr id="7" name="Text 1">
            <a:extLst>
              <a:ext uri="{FF2B5EF4-FFF2-40B4-BE49-F238E27FC236}">
                <a16:creationId xmlns:a16="http://schemas.microsoft.com/office/drawing/2014/main" id="{C55F79E5-A105-DF7A-58DD-72EE85D2B274}"/>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cs typeface="Calibri" pitchFamily="34" charset="-120"/>
              </a:rPr>
              <a:t>THE BIG PICTURE</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cs typeface="Calibri" pitchFamily="34" charset="-120"/>
              </a:rPr>
              <a:t>DATA SUMMARY</a:t>
            </a:r>
            <a:endParaRPr lang="en-US" sz="1100" dirty="0"/>
          </a:p>
        </p:txBody>
      </p:sp>
      <p:sp>
        <p:nvSpPr>
          <p:cNvPr id="7" name="Text 5"/>
          <p:cNvSpPr/>
          <p:nvPr/>
        </p:nvSpPr>
        <p:spPr>
          <a:xfrm>
            <a:off x="6766560" y="1414629"/>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Age</a:t>
            </a:r>
            <a:endParaRPr lang="en-US" sz="1500" dirty="0"/>
          </a:p>
        </p:txBody>
      </p:sp>
      <p:sp>
        <p:nvSpPr>
          <p:cNvPr id="8" name="Text 6"/>
          <p:cNvSpPr/>
          <p:nvPr/>
        </p:nvSpPr>
        <p:spPr>
          <a:xfrm>
            <a:off x="8869680" y="1414629"/>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Years, 18 to 64</a:t>
            </a:r>
            <a:endParaRPr lang="en-US" sz="1500" dirty="0"/>
          </a:p>
        </p:txBody>
      </p:sp>
      <p:sp>
        <p:nvSpPr>
          <p:cNvPr id="9" name="Text 7"/>
          <p:cNvSpPr/>
          <p:nvPr/>
        </p:nvSpPr>
        <p:spPr>
          <a:xfrm>
            <a:off x="6766560" y="2072997"/>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Sex</a:t>
            </a:r>
            <a:endParaRPr lang="en-US" sz="1500" dirty="0"/>
          </a:p>
        </p:txBody>
      </p:sp>
      <p:sp>
        <p:nvSpPr>
          <p:cNvPr id="10" name="Text 8"/>
          <p:cNvSpPr/>
          <p:nvPr/>
        </p:nvSpPr>
        <p:spPr>
          <a:xfrm>
            <a:off x="8869680" y="2072997"/>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675 male, 662 female</a:t>
            </a:r>
            <a:endParaRPr lang="en-US" sz="1500" dirty="0"/>
          </a:p>
        </p:txBody>
      </p:sp>
      <p:sp>
        <p:nvSpPr>
          <p:cNvPr id="11" name="Text 9"/>
          <p:cNvSpPr/>
          <p:nvPr/>
        </p:nvSpPr>
        <p:spPr>
          <a:xfrm>
            <a:off x="6766560" y="2731365"/>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BMI</a:t>
            </a:r>
            <a:endParaRPr lang="en-US" sz="1500" dirty="0"/>
          </a:p>
        </p:txBody>
      </p:sp>
      <p:sp>
        <p:nvSpPr>
          <p:cNvPr id="12" name="Text 10"/>
          <p:cNvSpPr/>
          <p:nvPr/>
        </p:nvSpPr>
        <p:spPr>
          <a:xfrm>
            <a:off x="8869680" y="2731365"/>
            <a:ext cx="2834640" cy="365760"/>
          </a:xfrm>
          <a:prstGeom prst="rect">
            <a:avLst/>
          </a:prstGeom>
          <a:noFill/>
          <a:ln/>
        </p:spPr>
        <p:txBody>
          <a:bodyPr wrap="square" lIns="0" tIns="0" rIns="0" bIns="0" rtlCol="0" anchor="ctr"/>
          <a:lstStyle/>
          <a:p>
            <a:r>
              <a:rPr lang="en-US" sz="1500" dirty="0">
                <a:solidFill>
                  <a:srgbClr val="4E463C"/>
                </a:solidFill>
                <a:latin typeface="Calibri" pitchFamily="34" charset="0"/>
                <a:cs typeface="Calibri" pitchFamily="34" charset="-120"/>
              </a:rPr>
              <a:t>Slope differs by smoker</a:t>
            </a:r>
            <a:endParaRPr lang="en-US" sz="1500" dirty="0"/>
          </a:p>
        </p:txBody>
      </p:sp>
      <p:sp>
        <p:nvSpPr>
          <p:cNvPr id="13" name="Text 11"/>
          <p:cNvSpPr/>
          <p:nvPr/>
        </p:nvSpPr>
        <p:spPr>
          <a:xfrm>
            <a:off x="6766560" y="3389733"/>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Children</a:t>
            </a:r>
            <a:endParaRPr lang="en-US" sz="1500" dirty="0"/>
          </a:p>
        </p:txBody>
      </p:sp>
      <p:sp>
        <p:nvSpPr>
          <p:cNvPr id="14" name="Text 12"/>
          <p:cNvSpPr/>
          <p:nvPr/>
        </p:nvSpPr>
        <p:spPr>
          <a:xfrm>
            <a:off x="8869680" y="3389733"/>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$512 each. Thin past 3.</a:t>
            </a:r>
            <a:endParaRPr lang="en-US" sz="1500" dirty="0"/>
          </a:p>
        </p:txBody>
      </p:sp>
      <p:sp>
        <p:nvSpPr>
          <p:cNvPr id="15" name="Text 13"/>
          <p:cNvSpPr/>
          <p:nvPr/>
        </p:nvSpPr>
        <p:spPr>
          <a:xfrm>
            <a:off x="6766560" y="4048101"/>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Smoker</a:t>
            </a:r>
            <a:endParaRPr lang="en-US" sz="1500" dirty="0"/>
          </a:p>
        </p:txBody>
      </p:sp>
      <p:sp>
        <p:nvSpPr>
          <p:cNvPr id="16" name="Text 14"/>
          <p:cNvSpPr/>
          <p:nvPr/>
        </p:nvSpPr>
        <p:spPr>
          <a:xfrm>
            <a:off x="8869680" y="4048101"/>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20.5% of the book</a:t>
            </a:r>
            <a:endParaRPr lang="en-US" sz="1500" dirty="0"/>
          </a:p>
        </p:txBody>
      </p:sp>
      <p:sp>
        <p:nvSpPr>
          <p:cNvPr id="17" name="Text 15"/>
          <p:cNvSpPr/>
          <p:nvPr/>
        </p:nvSpPr>
        <p:spPr>
          <a:xfrm>
            <a:off x="6766560" y="4706469"/>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Region</a:t>
            </a:r>
            <a:endParaRPr lang="en-US" sz="1500" dirty="0"/>
          </a:p>
        </p:txBody>
      </p:sp>
      <p:sp>
        <p:nvSpPr>
          <p:cNvPr id="18" name="Text 16"/>
          <p:cNvSpPr/>
          <p:nvPr/>
        </p:nvSpPr>
        <p:spPr>
          <a:xfrm>
            <a:off x="8869680" y="4706469"/>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Adjusted level shift</a:t>
            </a:r>
            <a:endParaRPr lang="en-US" sz="1500" dirty="0"/>
          </a:p>
        </p:txBody>
      </p:sp>
      <p:sp>
        <p:nvSpPr>
          <p:cNvPr id="19" name="Text 17"/>
          <p:cNvSpPr/>
          <p:nvPr/>
        </p:nvSpPr>
        <p:spPr>
          <a:xfrm>
            <a:off x="6766560" y="5364837"/>
            <a:ext cx="2103120" cy="365760"/>
          </a:xfrm>
          <a:prstGeom prst="rect">
            <a:avLst/>
          </a:prstGeom>
          <a:noFill/>
          <a:ln/>
        </p:spPr>
        <p:txBody>
          <a:bodyPr wrap="square" lIns="0" tIns="0" rIns="0" bIns="0" rtlCol="0" anchor="ctr"/>
          <a:lstStyle/>
          <a:p>
            <a:pPr marL="0" indent="0">
              <a:buNone/>
            </a:pPr>
            <a:r>
              <a:rPr lang="en-US" sz="1500" b="1" dirty="0">
                <a:solidFill>
                  <a:srgbClr val="1C2A22"/>
                </a:solidFill>
                <a:latin typeface="Calibri" pitchFamily="34" charset="0"/>
                <a:ea typeface="Calibri" pitchFamily="34" charset="-122"/>
                <a:cs typeface="Calibri" pitchFamily="34" charset="-120"/>
              </a:rPr>
              <a:t>Charges</a:t>
            </a:r>
            <a:endParaRPr lang="en-US" sz="1500" dirty="0"/>
          </a:p>
        </p:txBody>
      </p:sp>
      <p:sp>
        <p:nvSpPr>
          <p:cNvPr id="20" name="Text 18"/>
          <p:cNvSpPr/>
          <p:nvPr/>
        </p:nvSpPr>
        <p:spPr>
          <a:xfrm>
            <a:off x="8869680" y="5364837"/>
            <a:ext cx="2834640" cy="3657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Skewed. Median $9,386</a:t>
            </a:r>
            <a:endParaRPr lang="en-US" sz="1500" dirty="0"/>
          </a:p>
        </p:txBody>
      </p:sp>
      <p:sp>
        <p:nvSpPr>
          <p:cNvPr id="21" name="Text 1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2" name="Text 2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03  /  15</a:t>
            </a:r>
            <a:endParaRPr lang="en-US" sz="1000" dirty="0"/>
          </a:p>
        </p:txBody>
      </p:sp>
      <p:sp>
        <p:nvSpPr>
          <p:cNvPr id="23" name="Text 2">
            <a:extLst>
              <a:ext uri="{FF2B5EF4-FFF2-40B4-BE49-F238E27FC236}">
                <a16:creationId xmlns:a16="http://schemas.microsoft.com/office/drawing/2014/main" id="{5FFDAFC7-7D60-1CE6-ADEF-D5D31C3ECFF5}"/>
              </a:ext>
            </a:extLst>
          </p:cNvPr>
          <p:cNvSpPr/>
          <p:nvPr/>
        </p:nvSpPr>
        <p:spPr>
          <a:xfrm>
            <a:off x="502920" y="713232"/>
            <a:ext cx="10972800" cy="438912"/>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1,337 customer accounts</a:t>
            </a:r>
            <a:endParaRPr lang="en-US" sz="2800" dirty="0"/>
          </a:p>
        </p:txBody>
      </p:sp>
      <p:sp>
        <p:nvSpPr>
          <p:cNvPr id="27" name="Table caption"/>
          <p:cNvSpPr/>
          <p:nvPr/>
        </p:nvSpPr>
        <p:spPr>
          <a:xfrm>
            <a:off x="457200" y="3320346"/>
            <a:ext cx="5852160" cy="538422"/>
          </a:xfrm>
          <a:prstGeom prst="rect">
            <a:avLst/>
          </a:prstGeom>
          <a:noFill/>
        </p:spPr>
        <p:txBody>
          <a:bodyPr wrap="square" lIns="0" tIns="0" rIns="0" bIns="0" rtlCol="0" anchor="ctr"/>
          <a:lstStyle/>
          <a:p>
            <a:pPr algn="l">
              <a:lnSpc>
                <a:spcPct val="100000"/>
              </a:lnSpc>
              <a:buNone/>
            </a:pPr>
            <a:r>
              <a:rPr lang="en-US" sz="1400" b="0" dirty="0">
                <a:solidFill>
                  <a:srgbClr val="1C2A22"/>
                </a:solidFill>
                <a:latin typeface="Calibri"/>
              </a:rPr>
              <a:t>Mean bill </a:t>
            </a:r>
            <a:r>
              <a:rPr lang="en-US" sz="1400" b="1" dirty="0">
                <a:solidFill>
                  <a:srgbClr val="1C2A22"/>
                </a:solidFill>
                <a:latin typeface="Calibri"/>
              </a:rPr>
              <a:t>$13,279</a:t>
            </a:r>
            <a:r>
              <a:rPr lang="en-US" sz="1400" b="0" dirty="0">
                <a:solidFill>
                  <a:srgbClr val="1C2A22"/>
                </a:solidFill>
                <a:latin typeface="Calibri"/>
              </a:rPr>
              <a:t>. Median </a:t>
            </a:r>
            <a:r>
              <a:rPr lang="en-US" sz="1400" b="1" dirty="0">
                <a:solidFill>
                  <a:srgbClr val="1C2A22"/>
                </a:solidFill>
                <a:latin typeface="Calibri"/>
              </a:rPr>
              <a:t>$9,386</a:t>
            </a:r>
            <a:r>
              <a:rPr lang="en-US" sz="1400" b="0" dirty="0">
                <a:solidFill>
                  <a:srgbClr val="1C2A22"/>
                </a:solidFill>
                <a:latin typeface="Calibri"/>
              </a:rPr>
              <a:t>. </a:t>
            </a:r>
          </a:p>
        </p:txBody>
      </p:sp>
      <p:graphicFrame>
        <p:nvGraphicFramePr>
          <p:cNvPr id="24" name="Table 23">
            <a:extLst>
              <a:ext uri="{FF2B5EF4-FFF2-40B4-BE49-F238E27FC236}">
                <a16:creationId xmlns:a16="http://schemas.microsoft.com/office/drawing/2014/main" id="{75A3DE35-ECE0-7E87-0B6A-D18FDB6FEA30}"/>
              </a:ext>
            </a:extLst>
          </p:cNvPr>
          <p:cNvGraphicFramePr>
            <a:graphicFrameLocks noGrp="1"/>
          </p:cNvGraphicFramePr>
          <p:nvPr>
            <p:extLst>
              <p:ext uri="{D42A27DB-BD31-4B8C-83A1-F6EECF244321}">
                <p14:modId xmlns:p14="http://schemas.microsoft.com/office/powerpoint/2010/main" val="3864051867"/>
              </p:ext>
            </p:extLst>
          </p:nvPr>
        </p:nvGraphicFramePr>
        <p:xfrm>
          <a:off x="457200" y="3858768"/>
          <a:ext cx="5852160" cy="2286000"/>
        </p:xfrm>
        <a:graphic>
          <a:graphicData uri="http://schemas.openxmlformats.org/drawingml/2006/table">
            <a:tbl>
              <a:tblPr>
                <a:effectLst>
                  <a:outerShdw blurRad="50800" dist="38100" dir="8100000" algn="tr" rotWithShape="0">
                    <a:prstClr val="black">
                      <a:alpha val="40000"/>
                    </a:prstClr>
                  </a:outerShdw>
                </a:effectLst>
              </a:tblPr>
              <a:tblGrid>
                <a:gridCol w="1417320">
                  <a:extLst>
                    <a:ext uri="{9D8B030D-6E8A-4147-A177-3AD203B41FA5}">
                      <a16:colId xmlns:a16="http://schemas.microsoft.com/office/drawing/2014/main" val="267671257"/>
                    </a:ext>
                  </a:extLst>
                </a:gridCol>
                <a:gridCol w="886968">
                  <a:extLst>
                    <a:ext uri="{9D8B030D-6E8A-4147-A177-3AD203B41FA5}">
                      <a16:colId xmlns:a16="http://schemas.microsoft.com/office/drawing/2014/main" val="3151027109"/>
                    </a:ext>
                  </a:extLst>
                </a:gridCol>
                <a:gridCol w="886968">
                  <a:extLst>
                    <a:ext uri="{9D8B030D-6E8A-4147-A177-3AD203B41FA5}">
                      <a16:colId xmlns:a16="http://schemas.microsoft.com/office/drawing/2014/main" val="234024101"/>
                    </a:ext>
                  </a:extLst>
                </a:gridCol>
                <a:gridCol w="886968">
                  <a:extLst>
                    <a:ext uri="{9D8B030D-6E8A-4147-A177-3AD203B41FA5}">
                      <a16:colId xmlns:a16="http://schemas.microsoft.com/office/drawing/2014/main" val="1315846312"/>
                    </a:ext>
                  </a:extLst>
                </a:gridCol>
                <a:gridCol w="886968">
                  <a:extLst>
                    <a:ext uri="{9D8B030D-6E8A-4147-A177-3AD203B41FA5}">
                      <a16:colId xmlns:a16="http://schemas.microsoft.com/office/drawing/2014/main" val="2050502561"/>
                    </a:ext>
                  </a:extLst>
                </a:gridCol>
                <a:gridCol w="886968">
                  <a:extLst>
                    <a:ext uri="{9D8B030D-6E8A-4147-A177-3AD203B41FA5}">
                      <a16:colId xmlns:a16="http://schemas.microsoft.com/office/drawing/2014/main" val="1283960217"/>
                    </a:ext>
                  </a:extLst>
                </a:gridCol>
              </a:tblGrid>
              <a:tr h="384048">
                <a:tc>
                  <a:txBody>
                    <a:bodyPr/>
                    <a:lstStyle/>
                    <a:p>
                      <a:pPr algn="l" fontAlgn="ctr">
                        <a:spcAft>
                          <a:spcPts val="0"/>
                        </a:spcAft>
                        <a:buNone/>
                      </a:pPr>
                      <a:r>
                        <a:rPr lang="en-US" sz="1300" b="1" kern="1200" dirty="0">
                          <a:solidFill>
                            <a:srgbClr val="F1EADA"/>
                          </a:solidFill>
                          <a:effectLst/>
                          <a:latin typeface="Calibri"/>
                          <a:ea typeface="+mn-ea"/>
                          <a:cs typeface="+mn-cs"/>
                        </a:rPr>
                        <a:t>Fact</a:t>
                      </a: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Mean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SD</a:t>
                      </a:r>
                      <a:endParaRPr lang="en-US" sz="1300" b="0" i="0" dirty="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Min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Median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Max</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extLst>
                  <a:ext uri="{0D108BD9-81ED-4DB2-BD59-A6C34878D82A}">
                    <a16:rowId xmlns:a16="http://schemas.microsoft.com/office/drawing/2014/main" val="2395393524"/>
                  </a:ext>
                </a:extLst>
              </a:tr>
              <a:tr h="475488">
                <a:tc>
                  <a:txBody>
                    <a:bodyPr/>
                    <a:lstStyle/>
                    <a:p>
                      <a:pPr algn="l" fontAlgn="ctr">
                        <a:spcAft>
                          <a:spcPts val="0"/>
                        </a:spcAft>
                        <a:buNone/>
                      </a:pPr>
                      <a:r>
                        <a:rPr lang="en-US" sz="1400" b="1" dirty="0">
                          <a:solidFill>
                            <a:srgbClr val="1C2A22"/>
                          </a:solidFill>
                          <a:effectLst/>
                          <a:latin typeface="Calibri"/>
                        </a:rPr>
                        <a:t>Charges ($)</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$13,279</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$12,110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$1,122</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$9,386</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$63,770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extLst>
                  <a:ext uri="{0D108BD9-81ED-4DB2-BD59-A6C34878D82A}">
                    <a16:rowId xmlns:a16="http://schemas.microsoft.com/office/drawing/2014/main" val="3188457146"/>
                  </a:ext>
                </a:extLst>
              </a:tr>
              <a:tr h="475488">
                <a:tc>
                  <a:txBody>
                    <a:bodyPr/>
                    <a:lstStyle/>
                    <a:p>
                      <a:pPr algn="l" fontAlgn="ctr">
                        <a:spcAft>
                          <a:spcPts val="0"/>
                        </a:spcAft>
                        <a:buNone/>
                      </a:pPr>
                      <a:r>
                        <a:rPr lang="en-US" sz="1400" b="0" dirty="0">
                          <a:solidFill>
                            <a:srgbClr val="1C2A22"/>
                          </a:solidFill>
                          <a:effectLst/>
                          <a:latin typeface="Calibri"/>
                        </a:rPr>
                        <a:t>Age (years)</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14.0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18</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39</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64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3881150986"/>
                  </a:ext>
                </a:extLst>
              </a:tr>
              <a:tr h="475488">
                <a:tc>
                  <a:txBody>
                    <a:bodyPr/>
                    <a:lstStyle/>
                    <a:p>
                      <a:pPr algn="l" fontAlgn="ctr">
                        <a:spcAft>
                          <a:spcPts val="0"/>
                        </a:spcAft>
                        <a:buNone/>
                      </a:pPr>
                      <a:r>
                        <a:rPr lang="en-US" sz="1400" b="0" dirty="0">
                          <a:solidFill>
                            <a:srgbClr val="1C2A22"/>
                          </a:solidFill>
                          <a:effectLst/>
                          <a:latin typeface="Calibri"/>
                        </a:rPr>
                        <a:t>BMI</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30.7</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6.1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16.0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30.4</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53.1</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54310050"/>
                  </a:ext>
                </a:extLst>
              </a:tr>
              <a:tr h="475488">
                <a:tc>
                  <a:txBody>
                    <a:bodyPr/>
                    <a:lstStyle/>
                    <a:p>
                      <a:pPr algn="l" fontAlgn="ctr">
                        <a:spcAft>
                          <a:spcPts val="0"/>
                        </a:spcAft>
                        <a:buNone/>
                      </a:pPr>
                      <a:r>
                        <a:rPr lang="en-US" sz="1400" b="0" dirty="0">
                          <a:solidFill>
                            <a:srgbClr val="1C2A22"/>
                          </a:solidFill>
                          <a:effectLst/>
                          <a:latin typeface="Calibri"/>
                        </a:rPr>
                        <a:t>Children</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0</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5</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2868067663"/>
                  </a:ext>
                </a:extLst>
              </a:tr>
            </a:tbl>
          </a:graphicData>
        </a:graphic>
      </p:graphicFrame>
      <p:graphicFrame>
        <p:nvGraphicFramePr>
          <p:cNvPr id="26" name="Table 25">
            <a:extLst>
              <a:ext uri="{FF2B5EF4-FFF2-40B4-BE49-F238E27FC236}">
                <a16:creationId xmlns:a16="http://schemas.microsoft.com/office/drawing/2014/main" id="{5A1282F9-8F6E-09FE-F0A4-992C8DC1B131}"/>
              </a:ext>
            </a:extLst>
          </p:cNvPr>
          <p:cNvGraphicFramePr>
            <a:graphicFrameLocks noGrp="1"/>
          </p:cNvGraphicFramePr>
          <p:nvPr>
            <p:extLst>
              <p:ext uri="{D42A27DB-BD31-4B8C-83A1-F6EECF244321}">
                <p14:modId xmlns:p14="http://schemas.microsoft.com/office/powerpoint/2010/main" val="973349249"/>
              </p:ext>
            </p:extLst>
          </p:nvPr>
        </p:nvGraphicFramePr>
        <p:xfrm>
          <a:off x="457200" y="1400107"/>
          <a:ext cx="5852160" cy="1920240"/>
        </p:xfrm>
        <a:graphic>
          <a:graphicData uri="http://schemas.openxmlformats.org/drawingml/2006/table">
            <a:tbl>
              <a:tblPr>
                <a:effectLst>
                  <a:outerShdw blurRad="50800" dist="38100" dir="8100000" algn="tr" rotWithShape="0">
                    <a:prstClr val="black">
                      <a:alpha val="40000"/>
                    </a:prstClr>
                  </a:outerShdw>
                </a:effectLst>
                <a:tableStyleId>{5C22544A-7EE6-4342-B048-85BDC9FD1C3A}</a:tableStyleId>
              </a:tblPr>
              <a:tblGrid>
                <a:gridCol w="1325880">
                  <a:extLst>
                    <a:ext uri="{9D8B030D-6E8A-4147-A177-3AD203B41FA5}">
                      <a16:colId xmlns:a16="http://schemas.microsoft.com/office/drawing/2014/main" val="4035302251"/>
                    </a:ext>
                  </a:extLst>
                </a:gridCol>
                <a:gridCol w="960120">
                  <a:extLst>
                    <a:ext uri="{9D8B030D-6E8A-4147-A177-3AD203B41FA5}">
                      <a16:colId xmlns:a16="http://schemas.microsoft.com/office/drawing/2014/main" val="975766701"/>
                    </a:ext>
                  </a:extLst>
                </a:gridCol>
                <a:gridCol w="1188720">
                  <a:extLst>
                    <a:ext uri="{9D8B030D-6E8A-4147-A177-3AD203B41FA5}">
                      <a16:colId xmlns:a16="http://schemas.microsoft.com/office/drawing/2014/main" val="2096130608"/>
                    </a:ext>
                  </a:extLst>
                </a:gridCol>
                <a:gridCol w="1188720">
                  <a:extLst>
                    <a:ext uri="{9D8B030D-6E8A-4147-A177-3AD203B41FA5}">
                      <a16:colId xmlns:a16="http://schemas.microsoft.com/office/drawing/2014/main" val="1293226064"/>
                    </a:ext>
                  </a:extLst>
                </a:gridCol>
                <a:gridCol w="1188720">
                  <a:extLst>
                    <a:ext uri="{9D8B030D-6E8A-4147-A177-3AD203B41FA5}">
                      <a16:colId xmlns:a16="http://schemas.microsoft.com/office/drawing/2014/main" val="3593431168"/>
                    </a:ext>
                  </a:extLst>
                </a:gridCol>
              </a:tblGrid>
              <a:tr h="365760">
                <a:tc>
                  <a:txBody>
                    <a:bodyPr/>
                    <a:lstStyle/>
                    <a:p>
                      <a:pPr algn="l" fontAlgn="ctr">
                        <a:spcAft>
                          <a:spcPts val="0"/>
                        </a:spcAft>
                        <a:buNone/>
                      </a:pPr>
                      <a:r>
                        <a:rPr lang="en-US" sz="1300" b="1" kern="1200" dirty="0">
                          <a:solidFill>
                            <a:srgbClr val="F1EADA"/>
                          </a:solidFill>
                          <a:effectLst/>
                          <a:latin typeface="Calibri"/>
                          <a:ea typeface="+mn-ea"/>
                          <a:cs typeface="+mn-cs"/>
                        </a:rPr>
                        <a:t>Group</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Customers</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Average</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Median</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tc>
                  <a:txBody>
                    <a:bodyPr/>
                    <a:lstStyle/>
                    <a:p>
                      <a:pPr algn="r" fontAlgn="ctr">
                        <a:spcAft>
                          <a:spcPts val="0"/>
                        </a:spcAft>
                        <a:buNone/>
                      </a:pPr>
                      <a:r>
                        <a:rPr lang="en-US" sz="1300" b="1" kern="1200" dirty="0">
                          <a:solidFill>
                            <a:srgbClr val="F1EADA"/>
                          </a:solidFill>
                          <a:effectLst/>
                          <a:latin typeface="Calibri"/>
                          <a:ea typeface="+mn-ea"/>
                          <a:cs typeface="+mn-cs"/>
                        </a:rPr>
                        <a:t>SD</a:t>
                      </a: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C2A22"/>
                    </a:solidFill>
                  </a:tcPr>
                </a:tc>
                <a:extLst>
                  <a:ext uri="{0D108BD9-81ED-4DB2-BD59-A6C34878D82A}">
                    <a16:rowId xmlns:a16="http://schemas.microsoft.com/office/drawing/2014/main" val="710723707"/>
                  </a:ext>
                </a:extLst>
              </a:tr>
              <a:tr h="777240">
                <a:tc>
                  <a:txBody>
                    <a:bodyPr/>
                    <a:lstStyle/>
                    <a:p>
                      <a:pPr algn="l" fontAlgn="ctr">
                        <a:spcAft>
                          <a:spcPts val="0"/>
                        </a:spcAft>
                        <a:buNone/>
                      </a:pPr>
                      <a:r>
                        <a:rPr lang="en-US" sz="1800" b="0" dirty="0">
                          <a:effectLst/>
                        </a:rPr>
                        <a:t>Non-smoker</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1,063</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$8,441</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$7,346</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tc>
                  <a:txBody>
                    <a:bodyPr/>
                    <a:lstStyle/>
                    <a:p>
                      <a:pPr algn="r" fontAlgn="ctr">
                        <a:spcAft>
                          <a:spcPts val="0"/>
                        </a:spcAft>
                        <a:buNone/>
                      </a:pPr>
                      <a:r>
                        <a:rPr lang="en-US" sz="1800" b="0" dirty="0">
                          <a:effectLst/>
                        </a:rPr>
                        <a:t>$5,993</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7F1E2"/>
                    </a:solidFill>
                  </a:tcPr>
                </a:tc>
                <a:extLst>
                  <a:ext uri="{0D108BD9-81ED-4DB2-BD59-A6C34878D82A}">
                    <a16:rowId xmlns:a16="http://schemas.microsoft.com/office/drawing/2014/main" val="1991661574"/>
                  </a:ext>
                </a:extLst>
              </a:tr>
              <a:tr h="777240">
                <a:tc>
                  <a:txBody>
                    <a:bodyPr/>
                    <a:lstStyle/>
                    <a:p>
                      <a:pPr algn="l" fontAlgn="ctr">
                        <a:spcAft>
                          <a:spcPts val="0"/>
                        </a:spcAft>
                        <a:buNone/>
                      </a:pPr>
                      <a:r>
                        <a:rPr lang="en-US" sz="1800" b="1" dirty="0">
                          <a:effectLst/>
                        </a:rPr>
                        <a:t>Smoker</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274</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$32,050</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$34,456</a:t>
                      </a:r>
                      <a:endParaRPr lang="en-US" sz="1800" b="0" i="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tc>
                  <a:txBody>
                    <a:bodyPr/>
                    <a:lstStyle/>
                    <a:p>
                      <a:pPr algn="r" fontAlgn="ctr">
                        <a:spcAft>
                          <a:spcPts val="0"/>
                        </a:spcAft>
                        <a:buNone/>
                      </a:pPr>
                      <a:r>
                        <a:rPr lang="en-US" sz="1800" b="1" dirty="0">
                          <a:effectLst/>
                        </a:rPr>
                        <a:t>$11,542</a:t>
                      </a:r>
                      <a:endParaRPr lang="en-US" sz="1800" b="0" i="0" dirty="0">
                        <a:solidFill>
                          <a:srgbClr val="333333"/>
                        </a:solidFill>
                        <a:effectLst/>
                        <a:latin typeface="Helvetica Neue" panose="02000503000000020004" pitchFamily="2" charset="0"/>
                      </a:endParaRPr>
                    </a:p>
                  </a:txBody>
                  <a:tcPr marL="47625" marR="47625"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3C4"/>
                    </a:solidFill>
                  </a:tcPr>
                </a:tc>
                <a:extLst>
                  <a:ext uri="{0D108BD9-81ED-4DB2-BD59-A6C34878D82A}">
                    <a16:rowId xmlns:a16="http://schemas.microsoft.com/office/drawing/2014/main" val="231550982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DATA SUMMARY</a:t>
            </a:r>
            <a:endParaRPr lang="en-US" sz="1100" dirty="0"/>
          </a:p>
        </p:txBody>
      </p:sp>
      <p:sp>
        <p:nvSpPr>
          <p:cNvPr id="7" name="Text 3"/>
          <p:cNvSpPr/>
          <p:nvPr/>
        </p:nvSpPr>
        <p:spPr>
          <a:xfrm>
            <a:off x="464748" y="4595992"/>
            <a:ext cx="5403902" cy="141732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Age correlation is 0.63 for non-smokers and 0.37 for smokers. The lines are roughly parallel. Smoking is a level shift of tens of thousands of dollars. Age is a few hundred a year.</a:t>
            </a:r>
            <a:endParaRPr lang="en-US" sz="1500" dirty="0"/>
          </a:p>
        </p:txBody>
      </p:sp>
      <p:sp>
        <p:nvSpPr>
          <p:cNvPr id="8" name="Text 4"/>
          <p:cNvSpPr/>
          <p:nvPr/>
        </p:nvSpPr>
        <p:spPr>
          <a:xfrm>
            <a:off x="6309360" y="4595992"/>
            <a:ext cx="5417892" cy="141732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BMI correlation is 0.81 for smokers and 0.08 for non-smokers. One smoker number would average a steep line and a flat line into a sentence that is true for neither group.</a:t>
            </a:r>
            <a:endParaRPr lang="en-US" sz="1500" dirty="0"/>
          </a:p>
        </p:txBody>
      </p:sp>
      <p:sp>
        <p:nvSpPr>
          <p:cNvPr id="9" name="Text 5"/>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0" name="Text 6"/>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04  /  15</a:t>
            </a:r>
            <a:endParaRPr lang="en-US" sz="1000" dirty="0"/>
          </a:p>
        </p:txBody>
      </p:sp>
      <p:pic>
        <p:nvPicPr>
          <p:cNvPr id="12" name="Picture 11">
            <a:extLst>
              <a:ext uri="{FF2B5EF4-FFF2-40B4-BE49-F238E27FC236}">
                <a16:creationId xmlns:a16="http://schemas.microsoft.com/office/drawing/2014/main" id="{0BB707B5-0A33-21D5-2EC9-5F7BA26CC826}"/>
              </a:ext>
            </a:extLst>
          </p:cNvPr>
          <p:cNvPicPr>
            <a:picLocks noChangeAspect="1"/>
          </p:cNvPicPr>
          <p:nvPr/>
        </p:nvPicPr>
        <p:blipFill>
          <a:blip r:embed="rId3"/>
          <a:stretch>
            <a:fillRect/>
          </a:stretch>
        </p:blipFill>
        <p:spPr>
          <a:xfrm>
            <a:off x="6309360" y="1440779"/>
            <a:ext cx="5394960" cy="2959735"/>
          </a:xfrm>
          <a:prstGeom prst="round2DiagRect">
            <a:avLst/>
          </a:prstGeom>
          <a:effectLst>
            <a:outerShdw blurRad="50800" dist="38100" dir="8100000" algn="tr" rotWithShape="0">
              <a:prstClr val="black">
                <a:alpha val="40000"/>
              </a:prstClr>
            </a:outerShdw>
          </a:effectLst>
        </p:spPr>
      </p:pic>
      <p:pic>
        <p:nvPicPr>
          <p:cNvPr id="14" name="Picture 13">
            <a:extLst>
              <a:ext uri="{FF2B5EF4-FFF2-40B4-BE49-F238E27FC236}">
                <a16:creationId xmlns:a16="http://schemas.microsoft.com/office/drawing/2014/main" id="{21064ECE-BF54-34D6-8659-3EE55EDC833B}"/>
              </a:ext>
            </a:extLst>
          </p:cNvPr>
          <p:cNvPicPr>
            <a:picLocks noChangeAspect="1"/>
          </p:cNvPicPr>
          <p:nvPr/>
        </p:nvPicPr>
        <p:blipFill>
          <a:blip r:embed="rId4"/>
          <a:srcRect l="722" r="887"/>
          <a:stretch>
            <a:fillRect/>
          </a:stretch>
        </p:blipFill>
        <p:spPr>
          <a:xfrm>
            <a:off x="464748" y="1428491"/>
            <a:ext cx="5554185" cy="2959734"/>
          </a:xfrm>
          <a:prstGeom prst="round2DiagRect">
            <a:avLst/>
          </a:prstGeom>
          <a:effectLst>
            <a:outerShdw blurRad="50800" dist="38100" dir="8100000" algn="tr" rotWithShape="0">
              <a:prstClr val="black">
                <a:alpha val="40000"/>
              </a:prstClr>
            </a:outerShdw>
          </a:effectLst>
        </p:spPr>
      </p:pic>
      <p:sp>
        <p:nvSpPr>
          <p:cNvPr id="17" name="Text 2">
            <a:extLst>
              <a:ext uri="{FF2B5EF4-FFF2-40B4-BE49-F238E27FC236}">
                <a16:creationId xmlns:a16="http://schemas.microsoft.com/office/drawing/2014/main" id="{0B78F03C-499B-51C9-B93D-89F6A6408739}"/>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Age lifts both groups. BMI lifts smokers.</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EADA"/>
        </a:solidFill>
        <a:effectLst/>
      </p:bgPr>
    </p:bg>
    <p:spTree>
      <p:nvGrpSpPr>
        <p:cNvPr id="1" name="">
          <a:extLst>
            <a:ext uri="{FF2B5EF4-FFF2-40B4-BE49-F238E27FC236}">
              <a16:creationId xmlns:a16="http://schemas.microsoft.com/office/drawing/2014/main" id="{0168F29F-DA7E-4513-26F4-A2865A9362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6D4A2C-D392-D544-E5B8-C30CBFB987C9}"/>
              </a:ext>
            </a:extLst>
          </p:cNvPr>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a:extLst>
              <a:ext uri="{FF2B5EF4-FFF2-40B4-BE49-F238E27FC236}">
                <a16:creationId xmlns:a16="http://schemas.microsoft.com/office/drawing/2014/main" id="{C3DC8E1D-E6D2-8E8A-8DF9-C31864521563}"/>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DATA SUMMARY</a:t>
            </a:r>
            <a:endParaRPr lang="en-US" sz="1100" dirty="0"/>
          </a:p>
        </p:txBody>
      </p:sp>
      <p:sp>
        <p:nvSpPr>
          <p:cNvPr id="7" name="Text 3">
            <a:extLst>
              <a:ext uri="{FF2B5EF4-FFF2-40B4-BE49-F238E27FC236}">
                <a16:creationId xmlns:a16="http://schemas.microsoft.com/office/drawing/2014/main" id="{6FF1DCE7-0B55-3D49-6E12-A078B8A6C672}"/>
              </a:ext>
            </a:extLst>
          </p:cNvPr>
          <p:cNvSpPr/>
          <p:nvPr/>
        </p:nvSpPr>
        <p:spPr>
          <a:xfrm>
            <a:off x="464748" y="4595992"/>
            <a:ext cx="5403902" cy="1417320"/>
          </a:xfrm>
          <a:prstGeom prst="rect">
            <a:avLst/>
          </a:prstGeom>
          <a:noFill/>
          <a:ln/>
        </p:spPr>
        <p:txBody>
          <a:bodyPr wrap="square" lIns="0" tIns="0" rIns="0" bIns="0" rtlCol="0" anchor="ctr"/>
          <a:lstStyle/>
          <a:p>
            <a:r>
              <a:rPr lang="en-US" sz="1500" dirty="0">
                <a:solidFill>
                  <a:srgbClr val="4E463C"/>
                </a:solidFill>
                <a:latin typeface="Calibri" pitchFamily="34" charset="0"/>
                <a:cs typeface="Calibri" pitchFamily="34" charset="-120"/>
              </a:rPr>
              <a:t>Southeast smokers average $34,845 before any adjustment. Northeast smokers average $29,674. </a:t>
            </a:r>
          </a:p>
          <a:p>
            <a:endParaRPr lang="en-US" sz="1500" dirty="0">
              <a:solidFill>
                <a:srgbClr val="4E463C"/>
              </a:solidFill>
              <a:latin typeface="Calibri" pitchFamily="34" charset="0"/>
              <a:cs typeface="Calibri" pitchFamily="34" charset="-120"/>
            </a:endParaRPr>
          </a:p>
          <a:p>
            <a:r>
              <a:rPr lang="en-US" sz="1500" dirty="0">
                <a:solidFill>
                  <a:srgbClr val="4E463C"/>
                </a:solidFill>
                <a:latin typeface="Calibri" pitchFamily="34" charset="0"/>
                <a:cs typeface="Calibri" pitchFamily="34" charset="-120"/>
              </a:rPr>
              <a:t>Region is mostly who is in the band, plus a level shift once smoking and BMI are held fixed. </a:t>
            </a:r>
          </a:p>
        </p:txBody>
      </p:sp>
      <p:sp>
        <p:nvSpPr>
          <p:cNvPr id="8" name="Text 4">
            <a:extLst>
              <a:ext uri="{FF2B5EF4-FFF2-40B4-BE49-F238E27FC236}">
                <a16:creationId xmlns:a16="http://schemas.microsoft.com/office/drawing/2014/main" id="{CEECE1C2-27FC-A02F-C04B-B42ECE8BFAAD}"/>
              </a:ext>
            </a:extLst>
          </p:cNvPr>
          <p:cNvSpPr/>
          <p:nvPr/>
        </p:nvSpPr>
        <p:spPr>
          <a:xfrm>
            <a:off x="6309360" y="4595992"/>
            <a:ext cx="5417892" cy="2005976"/>
          </a:xfrm>
          <a:prstGeom prst="rect">
            <a:avLst/>
          </a:prstGeom>
          <a:noFill/>
          <a:ln/>
        </p:spPr>
        <p:txBody>
          <a:bodyPr wrap="square" lIns="0" tIns="0" rIns="0" bIns="0" rtlCol="0" anchor="ctr"/>
          <a:lstStyle/>
          <a:p>
            <a:r>
              <a:rPr lang="en-US" sz="1500" dirty="0">
                <a:solidFill>
                  <a:srgbClr val="4E463C"/>
                </a:solidFill>
                <a:latin typeface="Calibri" pitchFamily="34" charset="0"/>
                <a:cs typeface="Calibri" pitchFamily="34" charset="-120"/>
              </a:rPr>
              <a:t>The smoker gap does not depend on region (p = 0.31). The age slope does not (p = 0.28), nor the smoker BMI slope (p = 0.20).</a:t>
            </a:r>
          </a:p>
          <a:p>
            <a:endParaRPr lang="en-US" sz="1500" dirty="0">
              <a:solidFill>
                <a:srgbClr val="4E463C"/>
              </a:solidFill>
              <a:latin typeface="Calibri" pitchFamily="34" charset="0"/>
              <a:cs typeface="Calibri" pitchFamily="34" charset="-120"/>
            </a:endParaRPr>
          </a:p>
          <a:p>
            <a:r>
              <a:rPr lang="en-US" sz="1500" dirty="0">
                <a:solidFill>
                  <a:srgbClr val="4E463C"/>
                </a:solidFill>
                <a:latin typeface="Calibri" pitchFamily="34" charset="0"/>
                <a:cs typeface="Calibri" pitchFamily="34" charset="-120"/>
              </a:rPr>
              <a:t>Southeast has the highest unadjusted average bill, the highest average BMI, and the highest smoker share. </a:t>
            </a:r>
          </a:p>
          <a:p>
            <a:pPr marL="0" indent="0">
              <a:buNone/>
            </a:pPr>
            <a:endParaRPr lang="en-US" sz="1500" dirty="0"/>
          </a:p>
        </p:txBody>
      </p:sp>
      <p:sp>
        <p:nvSpPr>
          <p:cNvPr id="9" name="Text 5">
            <a:extLst>
              <a:ext uri="{FF2B5EF4-FFF2-40B4-BE49-F238E27FC236}">
                <a16:creationId xmlns:a16="http://schemas.microsoft.com/office/drawing/2014/main" id="{8BD77204-EE0F-2767-8150-E272BED17389}"/>
              </a:ext>
            </a:extLst>
          </p:cNvPr>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0" name="Text 6">
            <a:extLst>
              <a:ext uri="{FF2B5EF4-FFF2-40B4-BE49-F238E27FC236}">
                <a16:creationId xmlns:a16="http://schemas.microsoft.com/office/drawing/2014/main" id="{D14AD953-84B3-D68E-3AFD-88700BA1365B}"/>
              </a:ext>
            </a:extLst>
          </p:cNvPr>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05  /  15</a:t>
            </a:r>
            <a:endParaRPr lang="en-US" sz="1000" dirty="0"/>
          </a:p>
        </p:txBody>
      </p:sp>
      <p:pic>
        <p:nvPicPr>
          <p:cNvPr id="12" name="Picture 11">
            <a:extLst>
              <a:ext uri="{FF2B5EF4-FFF2-40B4-BE49-F238E27FC236}">
                <a16:creationId xmlns:a16="http://schemas.microsoft.com/office/drawing/2014/main" id="{74C68CE5-D23C-89E0-A468-88F651B34D2F}"/>
              </a:ext>
            </a:extLst>
          </p:cNvPr>
          <p:cNvPicPr>
            <a:picLocks noChangeAspect="1"/>
          </p:cNvPicPr>
          <p:nvPr/>
        </p:nvPicPr>
        <p:blipFill>
          <a:blip r:embed="rId3"/>
          <a:srcRect t="157" b="157"/>
          <a:stretch/>
        </p:blipFill>
        <p:spPr>
          <a:xfrm>
            <a:off x="6309360" y="1440779"/>
            <a:ext cx="5394960" cy="2959735"/>
          </a:xfrm>
          <a:prstGeom prst="round2DiagRect">
            <a:avLst/>
          </a:prstGeom>
          <a:effectLst>
            <a:outerShdw blurRad="50800" dist="38100" dir="8100000" algn="tr" rotWithShape="0">
              <a:prstClr val="black">
                <a:alpha val="40000"/>
              </a:prstClr>
            </a:outerShdw>
          </a:effectLst>
        </p:spPr>
      </p:pic>
      <p:sp>
        <p:nvSpPr>
          <p:cNvPr id="17" name="Text 2">
            <a:extLst>
              <a:ext uri="{FF2B5EF4-FFF2-40B4-BE49-F238E27FC236}">
                <a16:creationId xmlns:a16="http://schemas.microsoft.com/office/drawing/2014/main" id="{6AAECBED-9F17-7841-CB27-3E16CD0E9E23}"/>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Region shift</a:t>
            </a:r>
            <a:endParaRPr lang="en-US" sz="2800" dirty="0"/>
          </a:p>
        </p:txBody>
      </p:sp>
      <p:graphicFrame>
        <p:nvGraphicFramePr>
          <p:cNvPr id="4" name="Table 3">
            <a:extLst>
              <a:ext uri="{FF2B5EF4-FFF2-40B4-BE49-F238E27FC236}">
                <a16:creationId xmlns:a16="http://schemas.microsoft.com/office/drawing/2014/main" id="{4552D113-DC35-3B90-AFB3-42309A4C0401}"/>
              </a:ext>
            </a:extLst>
          </p:cNvPr>
          <p:cNvGraphicFramePr>
            <a:graphicFrameLocks noGrp="1"/>
          </p:cNvGraphicFramePr>
          <p:nvPr>
            <p:extLst>
              <p:ext uri="{D42A27DB-BD31-4B8C-83A1-F6EECF244321}">
                <p14:modId xmlns:p14="http://schemas.microsoft.com/office/powerpoint/2010/main" val="2807438381"/>
              </p:ext>
            </p:extLst>
          </p:nvPr>
        </p:nvGraphicFramePr>
        <p:xfrm>
          <a:off x="502920" y="1874520"/>
          <a:ext cx="5486400" cy="2139696"/>
        </p:xfrm>
        <a:graphic>
          <a:graphicData uri="http://schemas.openxmlformats.org/drawingml/2006/table">
            <a:tbl>
              <a:tblPr>
                <a:effectLst>
                  <a:outerShdw blurRad="50800" dist="38100" dir="8100000" algn="tr" rotWithShape="0">
                    <a:prstClr val="black">
                      <a:alpha val="40000"/>
                    </a:prstClr>
                  </a:outerShdw>
                </a:effectLst>
              </a:tblPr>
              <a:tblGrid>
                <a:gridCol w="1097280">
                  <a:extLst>
                    <a:ext uri="{9D8B030D-6E8A-4147-A177-3AD203B41FA5}">
                      <a16:colId xmlns:a16="http://schemas.microsoft.com/office/drawing/2014/main" val="494075696"/>
                    </a:ext>
                  </a:extLst>
                </a:gridCol>
                <a:gridCol w="1005840">
                  <a:extLst>
                    <a:ext uri="{9D8B030D-6E8A-4147-A177-3AD203B41FA5}">
                      <a16:colId xmlns:a16="http://schemas.microsoft.com/office/drawing/2014/main" val="3827039068"/>
                    </a:ext>
                  </a:extLst>
                </a:gridCol>
                <a:gridCol w="1115568">
                  <a:extLst>
                    <a:ext uri="{9D8B030D-6E8A-4147-A177-3AD203B41FA5}">
                      <a16:colId xmlns:a16="http://schemas.microsoft.com/office/drawing/2014/main" val="1752571979"/>
                    </a:ext>
                  </a:extLst>
                </a:gridCol>
                <a:gridCol w="1207008">
                  <a:extLst>
                    <a:ext uri="{9D8B030D-6E8A-4147-A177-3AD203B41FA5}">
                      <a16:colId xmlns:a16="http://schemas.microsoft.com/office/drawing/2014/main" val="3417635037"/>
                    </a:ext>
                  </a:extLst>
                </a:gridCol>
                <a:gridCol w="1060704">
                  <a:extLst>
                    <a:ext uri="{9D8B030D-6E8A-4147-A177-3AD203B41FA5}">
                      <a16:colId xmlns:a16="http://schemas.microsoft.com/office/drawing/2014/main" val="1724532567"/>
                    </a:ext>
                  </a:extLst>
                </a:gridCol>
              </a:tblGrid>
              <a:tr h="384048">
                <a:tc>
                  <a:txBody>
                    <a:bodyPr/>
                    <a:lstStyle/>
                    <a:p>
                      <a:pPr algn="l" fontAlgn="ctr">
                        <a:spcAft>
                          <a:spcPts val="0"/>
                        </a:spcAft>
                        <a:buNone/>
                      </a:pPr>
                      <a:r>
                        <a:rPr lang="en-US" sz="1300" b="1" dirty="0">
                          <a:solidFill>
                            <a:srgbClr val="F1EADA"/>
                          </a:solidFill>
                          <a:effectLst/>
                          <a:latin typeface="Calibri"/>
                        </a:rPr>
                        <a:t>Region</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Customers</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Average BMI</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Smoker share</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tc>
                  <a:txBody>
                    <a:bodyPr/>
                    <a:lstStyle/>
                    <a:p>
                      <a:pPr algn="r" fontAlgn="ctr">
                        <a:spcAft>
                          <a:spcPts val="0"/>
                        </a:spcAft>
                        <a:buNone/>
                      </a:pPr>
                      <a:r>
                        <a:rPr lang="en-US" sz="1300" b="1" dirty="0">
                          <a:solidFill>
                            <a:srgbClr val="F1EADA"/>
                          </a:solidFill>
                          <a:effectLst/>
                          <a:latin typeface="Calibri"/>
                        </a:rPr>
                        <a:t>Average bill</a:t>
                      </a:r>
                      <a:endParaRPr lang="en-US" sz="1300" b="0" i="0">
                        <a:solidFill>
                          <a:srgbClr val="333333"/>
                        </a:solidFill>
                        <a:effectLst/>
                        <a:latin typeface="Helvetica Neue" panose="02000503000000020004" pitchFamily="2" charset="0"/>
                      </a:endParaRPr>
                    </a:p>
                  </a:txBody>
                  <a:tcPr marL="47625" marR="47625" marT="47625" marB="47625" anchor="ctr">
                    <a:solidFill>
                      <a:srgbClr val="1C2A22"/>
                    </a:solidFill>
                  </a:tcPr>
                </a:tc>
                <a:extLst>
                  <a:ext uri="{0D108BD9-81ED-4DB2-BD59-A6C34878D82A}">
                    <a16:rowId xmlns:a16="http://schemas.microsoft.com/office/drawing/2014/main" val="4132324964"/>
                  </a:ext>
                </a:extLst>
              </a:tr>
              <a:tr h="438912">
                <a:tc>
                  <a:txBody>
                    <a:bodyPr/>
                    <a:lstStyle/>
                    <a:p>
                      <a:pPr algn="l" fontAlgn="ctr">
                        <a:spcAft>
                          <a:spcPts val="0"/>
                        </a:spcAft>
                        <a:buNone/>
                      </a:pPr>
                      <a:r>
                        <a:rPr lang="en-US" sz="1400" b="0" dirty="0">
                          <a:solidFill>
                            <a:srgbClr val="1C2A22"/>
                          </a:solidFill>
                          <a:effectLst/>
                          <a:latin typeface="Calibri"/>
                        </a:rPr>
                        <a:t>Northeast</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20.7%</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$13,406</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1394868736"/>
                  </a:ext>
                </a:extLst>
              </a:tr>
              <a:tr h="438912">
                <a:tc>
                  <a:txBody>
                    <a:bodyPr/>
                    <a:lstStyle/>
                    <a:p>
                      <a:pPr algn="l" fontAlgn="ctr">
                        <a:spcAft>
                          <a:spcPts val="0"/>
                        </a:spcAft>
                        <a:buNone/>
                      </a:pPr>
                      <a:r>
                        <a:rPr lang="en-US" sz="1400" b="0" dirty="0">
                          <a:solidFill>
                            <a:srgbClr val="1C2A22"/>
                          </a:solidFill>
                          <a:effectLst/>
                          <a:latin typeface="Calibri"/>
                        </a:rPr>
                        <a:t>Northwest</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324</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29.2</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17.9%</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$12,451</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2616377724"/>
                  </a:ext>
                </a:extLst>
              </a:tr>
              <a:tr h="438912">
                <a:tc>
                  <a:txBody>
                    <a:bodyPr/>
                    <a:lstStyle/>
                    <a:p>
                      <a:pPr algn="l" fontAlgn="ctr">
                        <a:spcAft>
                          <a:spcPts val="0"/>
                        </a:spcAft>
                        <a:buNone/>
                      </a:pPr>
                      <a:r>
                        <a:rPr lang="en-US" sz="1400" b="1" dirty="0">
                          <a:solidFill>
                            <a:srgbClr val="1C2A22"/>
                          </a:solidFill>
                          <a:effectLst/>
                          <a:latin typeface="Calibri"/>
                        </a:rPr>
                        <a:t>Southeast</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364</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33.4</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25.0%</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tc>
                  <a:txBody>
                    <a:bodyPr/>
                    <a:lstStyle/>
                    <a:p>
                      <a:pPr algn="r" fontAlgn="ctr">
                        <a:spcAft>
                          <a:spcPts val="0"/>
                        </a:spcAft>
                        <a:buNone/>
                      </a:pPr>
                      <a:r>
                        <a:rPr lang="en-US" sz="1400" b="1" dirty="0">
                          <a:solidFill>
                            <a:srgbClr val="1C2A22"/>
                          </a:solidFill>
                          <a:effectLst/>
                          <a:latin typeface="Calibri"/>
                        </a:rPr>
                        <a:t>$14,735</a:t>
                      </a:r>
                      <a:endParaRPr lang="en-US" sz="1400" b="0" i="0">
                        <a:solidFill>
                          <a:srgbClr val="333333"/>
                        </a:solidFill>
                        <a:effectLst/>
                        <a:latin typeface="Helvetica Neue" panose="02000503000000020004" pitchFamily="2" charset="0"/>
                      </a:endParaRPr>
                    </a:p>
                  </a:txBody>
                  <a:tcPr marL="47625" marR="47625" marT="47625" marB="47625" anchor="ctr">
                    <a:solidFill>
                      <a:srgbClr val="E7D3C4"/>
                    </a:solidFill>
                  </a:tcPr>
                </a:tc>
                <a:extLst>
                  <a:ext uri="{0D108BD9-81ED-4DB2-BD59-A6C34878D82A}">
                    <a16:rowId xmlns:a16="http://schemas.microsoft.com/office/drawing/2014/main" val="2363780100"/>
                  </a:ext>
                </a:extLst>
              </a:tr>
              <a:tr h="438912">
                <a:tc>
                  <a:txBody>
                    <a:bodyPr/>
                    <a:lstStyle/>
                    <a:p>
                      <a:pPr algn="l" fontAlgn="ctr">
                        <a:spcAft>
                          <a:spcPts val="0"/>
                        </a:spcAft>
                        <a:buNone/>
                      </a:pPr>
                      <a:r>
                        <a:rPr lang="en-US" sz="1400" b="0" dirty="0">
                          <a:solidFill>
                            <a:srgbClr val="1C2A22"/>
                          </a:solidFill>
                          <a:effectLst/>
                          <a:latin typeface="Calibri"/>
                        </a:rPr>
                        <a:t>Southwest</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325</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30.6</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17.8%</a:t>
                      </a:r>
                      <a:endParaRPr lang="en-US" sz="1400" b="0" i="0">
                        <a:solidFill>
                          <a:srgbClr val="333333"/>
                        </a:solidFill>
                        <a:effectLst/>
                        <a:latin typeface="Helvetica Neue" panose="02000503000000020004" pitchFamily="2" charset="0"/>
                      </a:endParaRPr>
                    </a:p>
                  </a:txBody>
                  <a:tcPr marL="47625" marR="47625" marT="47625" marB="47625" anchor="ctr">
                    <a:solidFill>
                      <a:srgbClr val="F7F1E2"/>
                    </a:solidFill>
                  </a:tcPr>
                </a:tc>
                <a:tc>
                  <a:txBody>
                    <a:bodyPr/>
                    <a:lstStyle/>
                    <a:p>
                      <a:pPr algn="r" fontAlgn="ctr">
                        <a:spcAft>
                          <a:spcPts val="0"/>
                        </a:spcAft>
                        <a:buNone/>
                      </a:pPr>
                      <a:r>
                        <a:rPr lang="en-US" sz="1400" b="0" dirty="0">
                          <a:solidFill>
                            <a:srgbClr val="1C2A22"/>
                          </a:solidFill>
                          <a:effectLst/>
                          <a:latin typeface="Calibri"/>
                        </a:rPr>
                        <a:t>$12,347</a:t>
                      </a:r>
                      <a:endParaRPr lang="en-US" sz="1400" b="0" i="0" dirty="0">
                        <a:solidFill>
                          <a:srgbClr val="333333"/>
                        </a:solidFill>
                        <a:effectLst/>
                        <a:latin typeface="Helvetica Neue" panose="02000503000000020004" pitchFamily="2" charset="0"/>
                      </a:endParaRPr>
                    </a:p>
                  </a:txBody>
                  <a:tcPr marL="47625" marR="47625" marT="47625" marB="47625" anchor="ctr">
                    <a:solidFill>
                      <a:srgbClr val="F7F1E2"/>
                    </a:solidFill>
                  </a:tcPr>
                </a:tc>
                <a:extLst>
                  <a:ext uri="{0D108BD9-81ED-4DB2-BD59-A6C34878D82A}">
                    <a16:rowId xmlns:a16="http://schemas.microsoft.com/office/drawing/2014/main" val="781695866"/>
                  </a:ext>
                </a:extLst>
              </a:tr>
            </a:tbl>
          </a:graphicData>
        </a:graphic>
      </p:graphicFrame>
    </p:spTree>
    <p:extLst>
      <p:ext uri="{BB962C8B-B14F-4D97-AF65-F5344CB8AC3E}">
        <p14:creationId xmlns:p14="http://schemas.microsoft.com/office/powerpoint/2010/main" val="178644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1EADA"/>
        </a:solidFill>
        <a:effectLst/>
      </p:bgPr>
    </p:bg>
    <p:spTree>
      <p:nvGrpSpPr>
        <p:cNvPr id="1" name=""/>
        <p:cNvGrpSpPr/>
        <p:nvPr/>
      </p:nvGrpSpPr>
      <p:grpSpPr>
        <a:xfrm>
          <a:off x="0" y="0"/>
          <a:ext cx="0" cy="0"/>
          <a:chOff x="0" y="0"/>
          <a:chExt cx="0" cy="0"/>
        </a:xfrm>
      </p:grpSpPr>
      <p:sp>
        <p:nvSpPr>
          <p:cNvPr id="5" name="Shape 3"/>
          <p:cNvSpPr/>
          <p:nvPr/>
        </p:nvSpPr>
        <p:spPr>
          <a:xfrm>
            <a:off x="502920" y="1325880"/>
            <a:ext cx="11155680" cy="105156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pic>
        <p:nvPicPr>
          <p:cNvPr id="24" name="Picture 23">
            <a:extLst>
              <a:ext uri="{FF2B5EF4-FFF2-40B4-BE49-F238E27FC236}">
                <a16:creationId xmlns:a16="http://schemas.microsoft.com/office/drawing/2014/main" id="{A1AF6034-47A4-65AA-B583-80DC5FF3CECB}"/>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sp>
        <p:nvSpPr>
          <p:cNvPr id="6" name="Text 4"/>
          <p:cNvSpPr/>
          <p:nvPr/>
        </p:nvSpPr>
        <p:spPr>
          <a:xfrm>
            <a:off x="685800" y="1463040"/>
            <a:ext cx="10789920" cy="777240"/>
          </a:xfrm>
          <a:prstGeom prst="rect">
            <a:avLst/>
          </a:prstGeom>
          <a:noFill/>
          <a:ln/>
        </p:spPr>
        <p:txBody>
          <a:bodyPr wrap="square" lIns="0" tIns="0" rIns="0" bIns="0" rtlCol="0" anchor="ctr"/>
          <a:lstStyle/>
          <a:p>
            <a:pPr marL="0" indent="0">
              <a:buNone/>
            </a:pPr>
            <a:r>
              <a:rPr lang="en-US" sz="2000" dirty="0">
                <a:solidFill>
                  <a:srgbClr val="F1EADA"/>
                </a:solidFill>
                <a:latin typeface="Georgia" pitchFamily="34" charset="0"/>
                <a:ea typeface="Georgia" pitchFamily="34" charset="-122"/>
                <a:cs typeface="Georgia" pitchFamily="34" charset="-120"/>
              </a:rPr>
              <a:t>Charges  =  age  +  children  +  BMI  +  smoker  +  (BMI × smoker)  +  region</a:t>
            </a:r>
            <a:endParaRPr lang="en-US" sz="2000" dirty="0"/>
          </a:p>
        </p:txBody>
      </p:sp>
      <p:sp>
        <p:nvSpPr>
          <p:cNvPr id="7" name="Text 5"/>
          <p:cNvSpPr/>
          <p:nvPr/>
        </p:nvSpPr>
        <p:spPr>
          <a:xfrm>
            <a:off x="502920" y="2560320"/>
            <a:ext cx="11155680" cy="548640"/>
          </a:xfrm>
          <a:prstGeom prst="rect">
            <a:avLst/>
          </a:prstGeom>
          <a:noFill/>
          <a:ln/>
        </p:spPr>
        <p:txBody>
          <a:bodyPr wrap="square" lIns="0" tIns="0" rIns="0" bIns="0" rtlCol="0" anchor="ctr"/>
          <a:lstStyle/>
          <a:p>
            <a:pPr marL="0" indent="0">
              <a:buNone/>
            </a:pPr>
            <a:r>
              <a:rPr lang="en-US" sz="1600" dirty="0">
                <a:solidFill>
                  <a:srgbClr val="4E463C"/>
                </a:solidFill>
                <a:latin typeface="Calibri" pitchFamily="34" charset="0"/>
                <a:ea typeface="Calibri" pitchFamily="34" charset="-122"/>
                <a:cs typeface="Calibri" pitchFamily="34" charset="-120"/>
              </a:rPr>
              <a:t>Non-smoker and northeast are the reference. </a:t>
            </a:r>
            <a:endParaRPr lang="en-US" sz="1600" dirty="0"/>
          </a:p>
        </p:txBody>
      </p:sp>
      <p:sp>
        <p:nvSpPr>
          <p:cNvPr id="8" name="Text 6"/>
          <p:cNvSpPr/>
          <p:nvPr/>
        </p:nvSpPr>
        <p:spPr>
          <a:xfrm>
            <a:off x="502920" y="3246120"/>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9" name="Text 7"/>
          <p:cNvSpPr/>
          <p:nvPr/>
        </p:nvSpPr>
        <p:spPr>
          <a:xfrm>
            <a:off x="1965960" y="3246120"/>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Age, one slope for both groups</a:t>
            </a:r>
            <a:endParaRPr lang="en-US" sz="1500" dirty="0"/>
          </a:p>
        </p:txBody>
      </p:sp>
      <p:sp>
        <p:nvSpPr>
          <p:cNvPr id="10" name="Text 8"/>
          <p:cNvSpPr/>
          <p:nvPr/>
        </p:nvSpPr>
        <p:spPr>
          <a:xfrm>
            <a:off x="502920" y="3630168"/>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1" name="Text 9"/>
          <p:cNvSpPr/>
          <p:nvPr/>
        </p:nvSpPr>
        <p:spPr>
          <a:xfrm>
            <a:off x="1965960" y="3630168"/>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Children, about $512 each</a:t>
            </a:r>
            <a:endParaRPr lang="en-US" sz="1500" dirty="0"/>
          </a:p>
        </p:txBody>
      </p:sp>
      <p:sp>
        <p:nvSpPr>
          <p:cNvPr id="12" name="Text 10"/>
          <p:cNvSpPr/>
          <p:nvPr/>
        </p:nvSpPr>
        <p:spPr>
          <a:xfrm>
            <a:off x="502920" y="4014216"/>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3" name="Text 11"/>
          <p:cNvSpPr/>
          <p:nvPr/>
        </p:nvSpPr>
        <p:spPr>
          <a:xfrm>
            <a:off x="1965960" y="4014216"/>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BMI slope only where it exists: smokers</a:t>
            </a:r>
            <a:endParaRPr lang="en-US" sz="1500" dirty="0"/>
          </a:p>
        </p:txBody>
      </p:sp>
      <p:sp>
        <p:nvSpPr>
          <p:cNvPr id="14" name="Text 12"/>
          <p:cNvSpPr/>
          <p:nvPr/>
        </p:nvSpPr>
        <p:spPr>
          <a:xfrm>
            <a:off x="502920" y="4398264"/>
            <a:ext cx="1371600" cy="347472"/>
          </a:xfrm>
          <a:prstGeom prst="rect">
            <a:avLst/>
          </a:prstGeom>
          <a:noFill/>
          <a:ln/>
        </p:spPr>
        <p:txBody>
          <a:bodyPr wrap="square" lIns="0" tIns="0" rIns="0" bIns="0" rtlCol="0" anchor="ctr"/>
          <a:lstStyle/>
          <a:p>
            <a:pPr marL="0" indent="0">
              <a:buNone/>
            </a:pPr>
            <a:r>
              <a:rPr lang="en-US" sz="1400" b="1" dirty="0">
                <a:solidFill>
                  <a:srgbClr val="1C2A22"/>
                </a:solidFill>
                <a:latin typeface="Calibri" pitchFamily="34" charset="0"/>
                <a:ea typeface="Calibri" pitchFamily="34" charset="-122"/>
                <a:cs typeface="Calibri" pitchFamily="34" charset="-120"/>
              </a:rPr>
              <a:t>Kept</a:t>
            </a:r>
            <a:endParaRPr lang="en-US" sz="1400" dirty="0"/>
          </a:p>
        </p:txBody>
      </p:sp>
      <p:sp>
        <p:nvSpPr>
          <p:cNvPr id="15" name="Text 13"/>
          <p:cNvSpPr/>
          <p:nvPr/>
        </p:nvSpPr>
        <p:spPr>
          <a:xfrm>
            <a:off x="1965960" y="4398264"/>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Region as a level shift</a:t>
            </a:r>
            <a:endParaRPr lang="en-US" sz="1500" dirty="0"/>
          </a:p>
        </p:txBody>
      </p:sp>
      <p:sp>
        <p:nvSpPr>
          <p:cNvPr id="16" name="Text 14"/>
          <p:cNvSpPr/>
          <p:nvPr/>
        </p:nvSpPr>
        <p:spPr>
          <a:xfrm>
            <a:off x="502920" y="4782312"/>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17" name="Text 15"/>
          <p:cNvSpPr/>
          <p:nvPr/>
        </p:nvSpPr>
        <p:spPr>
          <a:xfrm>
            <a:off x="1965960" y="4782312"/>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Sex. p = 0.062 after other facts</a:t>
            </a:r>
            <a:endParaRPr lang="en-US" sz="1500" dirty="0"/>
          </a:p>
        </p:txBody>
      </p:sp>
      <p:sp>
        <p:nvSpPr>
          <p:cNvPr id="18" name="Text 16"/>
          <p:cNvSpPr/>
          <p:nvPr/>
        </p:nvSpPr>
        <p:spPr>
          <a:xfrm>
            <a:off x="502920" y="5166360"/>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19" name="Text 17"/>
          <p:cNvSpPr/>
          <p:nvPr/>
        </p:nvSpPr>
        <p:spPr>
          <a:xfrm>
            <a:off x="1965960" y="5166360"/>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different smoker gap by region. p = 0.31</a:t>
            </a:r>
            <a:endParaRPr lang="en-US" sz="1500" dirty="0"/>
          </a:p>
        </p:txBody>
      </p:sp>
      <p:sp>
        <p:nvSpPr>
          <p:cNvPr id="20" name="Text 18"/>
          <p:cNvSpPr/>
          <p:nvPr/>
        </p:nvSpPr>
        <p:spPr>
          <a:xfrm>
            <a:off x="502920" y="5550408"/>
            <a:ext cx="1371600" cy="347472"/>
          </a:xfrm>
          <a:prstGeom prst="rect">
            <a:avLst/>
          </a:prstGeom>
          <a:noFill/>
          <a:ln/>
        </p:spPr>
        <p:txBody>
          <a:bodyPr wrap="square" lIns="0" tIns="0" rIns="0" bIns="0" rtlCol="0" anchor="ctr"/>
          <a:lstStyle/>
          <a:p>
            <a:pPr marL="0" indent="0">
              <a:buNone/>
            </a:pPr>
            <a:r>
              <a:rPr lang="en-US" sz="1400" b="1" dirty="0">
                <a:solidFill>
                  <a:srgbClr val="8B1E2C"/>
                </a:solidFill>
                <a:latin typeface="Calibri" pitchFamily="34" charset="0"/>
                <a:ea typeface="Calibri" pitchFamily="34" charset="-122"/>
                <a:cs typeface="Calibri" pitchFamily="34" charset="-120"/>
              </a:rPr>
              <a:t>Left out</a:t>
            </a:r>
            <a:endParaRPr lang="en-US" sz="1400" dirty="0"/>
          </a:p>
        </p:txBody>
      </p:sp>
      <p:sp>
        <p:nvSpPr>
          <p:cNvPr id="21" name="Text 19"/>
          <p:cNvSpPr/>
          <p:nvPr/>
        </p:nvSpPr>
        <p:spPr>
          <a:xfrm>
            <a:off x="1965960" y="5550408"/>
            <a:ext cx="9144000" cy="347472"/>
          </a:xfrm>
          <a:prstGeom prst="rect">
            <a:avLst/>
          </a:prstGeom>
          <a:noFill/>
          <a:ln/>
        </p:spPr>
        <p:txBody>
          <a:bodyPr wrap="square" lIns="0" tIns="0" rIns="0" bIns="0" rtlCol="0" anchor="ctr"/>
          <a:lstStyle/>
          <a:p>
            <a:pPr marL="0" indent="0">
              <a:buNone/>
            </a:pPr>
            <a:r>
              <a:rPr lang="en-US" sz="1500" dirty="0">
                <a:solidFill>
                  <a:srgbClr val="1C2A22"/>
                </a:solidFill>
                <a:latin typeface="Calibri" pitchFamily="34" charset="0"/>
                <a:ea typeface="Calibri" pitchFamily="34" charset="-122"/>
                <a:cs typeface="Calibri" pitchFamily="34" charset="-120"/>
              </a:rPr>
              <a:t>A different age slope by region, or by smoker</a:t>
            </a:r>
            <a:endParaRPr lang="en-US" sz="1500" dirty="0"/>
          </a:p>
        </p:txBody>
      </p:sp>
      <p:sp>
        <p:nvSpPr>
          <p:cNvPr id="22" name="Text 20"/>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23" name="Text 21"/>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06  /  15</a:t>
            </a:r>
            <a:endParaRPr lang="en-US" sz="1000" dirty="0"/>
          </a:p>
        </p:txBody>
      </p:sp>
      <p:sp>
        <p:nvSpPr>
          <p:cNvPr id="27" name="Text 2">
            <a:extLst>
              <a:ext uri="{FF2B5EF4-FFF2-40B4-BE49-F238E27FC236}">
                <a16:creationId xmlns:a16="http://schemas.microsoft.com/office/drawing/2014/main" id="{2E943105-53DB-BC8A-BDD5-FFA5D6DABD6D}"/>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The equation we would defend.</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pic>
        <p:nvPicPr>
          <p:cNvPr id="5" name="Image 0"/>
          <p:cNvPicPr>
            <a:picLocks noChangeAspect="1"/>
          </p:cNvPicPr>
          <p:nvPr/>
        </p:nvPicPr>
        <p:blipFill>
          <a:blip r:embed="rId3"/>
          <a:srcRect t="-1040" b="-655"/>
          <a:stretch>
            <a:fillRect/>
          </a:stretch>
        </p:blipFill>
        <p:spPr>
          <a:xfrm>
            <a:off x="365760" y="1325880"/>
            <a:ext cx="6537960" cy="3485963"/>
          </a:xfrm>
          <a:prstGeom prst="round2DiagRect">
            <a:avLst/>
          </a:prstGeom>
          <a:effectLst>
            <a:outerShdw blurRad="50800" dist="38100" dir="8100000" algn="tr" rotWithShape="0">
              <a:prstClr val="black">
                <a:alpha val="40000"/>
              </a:prstClr>
            </a:outerShdw>
          </a:effectLst>
        </p:spPr>
      </p:pic>
      <p:sp>
        <p:nvSpPr>
          <p:cNvPr id="6" name="Text 3"/>
          <p:cNvSpPr/>
          <p:nvPr/>
        </p:nvSpPr>
        <p:spPr>
          <a:xfrm>
            <a:off x="7132320" y="132588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$5,717</a:t>
            </a:r>
            <a:endParaRPr lang="en-US" sz="2600" dirty="0"/>
          </a:p>
        </p:txBody>
      </p:sp>
      <p:sp>
        <p:nvSpPr>
          <p:cNvPr id="7" name="Text 4"/>
          <p:cNvSpPr/>
          <p:nvPr/>
        </p:nvSpPr>
        <p:spPr>
          <a:xfrm>
            <a:off x="7132320" y="176479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Smoker residual SD.</a:t>
            </a:r>
            <a:endParaRPr lang="en-US" sz="1500" dirty="0"/>
          </a:p>
        </p:txBody>
      </p:sp>
      <p:sp>
        <p:nvSpPr>
          <p:cNvPr id="8" name="Text 5"/>
          <p:cNvSpPr/>
          <p:nvPr/>
        </p:nvSpPr>
        <p:spPr>
          <a:xfrm>
            <a:off x="7132320" y="274320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$4,588</a:t>
            </a:r>
            <a:endParaRPr lang="en-US" sz="2600" dirty="0"/>
          </a:p>
        </p:txBody>
      </p:sp>
      <p:sp>
        <p:nvSpPr>
          <p:cNvPr id="9" name="Text 6"/>
          <p:cNvSpPr/>
          <p:nvPr/>
        </p:nvSpPr>
        <p:spPr>
          <a:xfrm>
            <a:off x="7132320" y="318211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Non-smoker residual SD.</a:t>
            </a:r>
            <a:endParaRPr lang="en-US" sz="1500" dirty="0"/>
          </a:p>
        </p:txBody>
      </p:sp>
      <p:sp>
        <p:nvSpPr>
          <p:cNvPr id="10" name="Text 7"/>
          <p:cNvSpPr/>
          <p:nvPr/>
        </p:nvSpPr>
        <p:spPr>
          <a:xfrm>
            <a:off x="7132320" y="4160520"/>
            <a:ext cx="4572000" cy="41148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48 people</a:t>
            </a:r>
            <a:endParaRPr lang="en-US" sz="2600" dirty="0"/>
          </a:p>
        </p:txBody>
      </p:sp>
      <p:sp>
        <p:nvSpPr>
          <p:cNvPr id="11" name="Text 8"/>
          <p:cNvSpPr/>
          <p:nvPr/>
        </p:nvSpPr>
        <p:spPr>
          <a:xfrm>
            <a:off x="7132320" y="4599432"/>
            <a:ext cx="4572000" cy="77724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Studentized residual beyond 3. Almost all are non-smokers. Nothing in the file explains them.</a:t>
            </a:r>
            <a:endParaRPr lang="en-US" sz="1500" dirty="0"/>
          </a:p>
        </p:txBody>
      </p:sp>
      <p:sp>
        <p:nvSpPr>
          <p:cNvPr id="12" name="Text 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3" name="Text 1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08  /  15</a:t>
            </a:r>
            <a:endParaRPr lang="en-US" sz="1000" dirty="0"/>
          </a:p>
        </p:txBody>
      </p:sp>
      <p:sp>
        <p:nvSpPr>
          <p:cNvPr id="15" name="Text 2">
            <a:extLst>
              <a:ext uri="{FF2B5EF4-FFF2-40B4-BE49-F238E27FC236}">
                <a16:creationId xmlns:a16="http://schemas.microsoft.com/office/drawing/2014/main" id="{1D88A589-B9A2-72F3-153A-0D7E2667F59E}"/>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Unique variation</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83619015"/>
              </p:ext>
            </p:extLst>
          </p:nvPr>
        </p:nvGraphicFramePr>
        <p:xfrm>
          <a:off x="502920" y="1355463"/>
          <a:ext cx="11155680" cy="3794760"/>
        </p:xfrm>
        <a:graphic>
          <a:graphicData uri="http://schemas.openxmlformats.org/drawingml/2006/table">
            <a:tbl>
              <a:tblPr/>
              <a:tblGrid>
                <a:gridCol w="4937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74345">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10-fold CV RMSE</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tc>
                  <a:txBody>
                    <a:bodyPr/>
                    <a:lstStyle/>
                    <a:p>
                      <a:pPr marL="0" indent="0" algn="l">
                        <a:buNone/>
                      </a:pPr>
                      <a:r>
                        <a:rPr lang="en-US" sz="1400" b="1" dirty="0">
                          <a:solidFill>
                            <a:srgbClr val="F1EADA"/>
                          </a:solidFill>
                          <a:latin typeface="Calibri" pitchFamily="34" charset="0"/>
                          <a:ea typeface="Calibri" pitchFamily="34" charset="-122"/>
                          <a:cs typeface="Calibri" pitchFamily="34" charset="-120"/>
                        </a:rPr>
                        <a:t>Holdout RMSE</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1C2A22"/>
                    </a:solidFill>
                  </a:tcPr>
                </a:tc>
                <a:extLst>
                  <a:ext uri="{0D108BD9-81ED-4DB2-BD59-A6C34878D82A}">
                    <a16:rowId xmlns:a16="http://schemas.microsoft.com/office/drawing/2014/main" val="10000"/>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Explanation equation</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$4,816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$4,714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1"/>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All two-way products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$4,842</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$4,761</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2"/>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Term search</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$4,836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$4,781</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3"/>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Shrunk equation</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$5,050</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$4,842</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4"/>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Nearest neighbors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$5,384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$5,165</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7F1E2"/>
                    </a:solidFill>
                  </a:tcPr>
                </a:tc>
                <a:extLst>
                  <a:ext uri="{0D108BD9-81ED-4DB2-BD59-A6C34878D82A}">
                    <a16:rowId xmlns:a16="http://schemas.microsoft.com/office/drawing/2014/main" val="10005"/>
                  </a:ext>
                </a:extLst>
              </a:tr>
              <a:tr h="474345">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Averaged trees</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$4,867</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tc>
                  <a:txBody>
                    <a:bodyPr/>
                    <a:lstStyle/>
                    <a:p>
                      <a:pPr marL="0" indent="0" algn="l">
                        <a:buNone/>
                      </a:pPr>
                      <a:r>
                        <a:rPr lang="en-US" sz="1400" dirty="0">
                          <a:solidFill>
                            <a:srgbClr val="1C2A22"/>
                          </a:solidFill>
                          <a:latin typeface="Calibri" pitchFamily="34" charset="0"/>
                          <a:ea typeface="Calibri" pitchFamily="34" charset="-122"/>
                          <a:cs typeface="Calibri" pitchFamily="34" charset="-120"/>
                        </a:rPr>
                        <a:t>$4,448</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F1EADA"/>
                    </a:solidFill>
                  </a:tcPr>
                </a:tc>
                <a:extLst>
                  <a:ext uri="{0D108BD9-81ED-4DB2-BD59-A6C34878D82A}">
                    <a16:rowId xmlns:a16="http://schemas.microsoft.com/office/drawing/2014/main" val="10006"/>
                  </a:ext>
                </a:extLst>
              </a:tr>
              <a:tr h="474345">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$4,624</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tc>
                  <a:txBody>
                    <a:bodyPr/>
                    <a:lstStyle/>
                    <a:p>
                      <a:pPr marL="0" indent="0" algn="l">
                        <a:buNone/>
                      </a:pPr>
                      <a:r>
                        <a:rPr lang="en-US" sz="1400" b="1" dirty="0">
                          <a:solidFill>
                            <a:srgbClr val="1C2A22"/>
                          </a:solidFill>
                          <a:latin typeface="Calibri" pitchFamily="34" charset="0"/>
                          <a:ea typeface="Calibri" pitchFamily="34" charset="-122"/>
                          <a:cs typeface="Calibri" pitchFamily="34" charset="-120"/>
                        </a:rPr>
                        <a:t>$4,366</a:t>
                      </a:r>
                      <a:endParaRPr lang="en-US" sz="1400" dirty="0">
                        <a:latin typeface="Calibri" charset="0"/>
                        <a:ea typeface="Calibri" charset="0"/>
                        <a:cs typeface="Calibri" charset="0"/>
                      </a:endParaRPr>
                    </a:p>
                  </a:txBody>
                  <a:tcPr anchor="ctr">
                    <a:lnL w="12700" cap="flat" cmpd="sng" algn="ctr">
                      <a:solidFill>
                        <a:srgbClr val="F1EADA"/>
                      </a:solidFill>
                      <a:prstDash val="solid"/>
                      <a:round/>
                      <a:headEnd type="none" w="med" len="med"/>
                      <a:tailEnd type="none" w="med" len="med"/>
                    </a:lnL>
                    <a:lnR w="12700" cap="flat" cmpd="sng" algn="ctr">
                      <a:solidFill>
                        <a:srgbClr val="F1EADA"/>
                      </a:solidFill>
                      <a:prstDash val="solid"/>
                      <a:round/>
                      <a:headEnd type="none" w="med" len="med"/>
                      <a:tailEnd type="none" w="med" len="med"/>
                    </a:lnR>
                    <a:lnT w="12700" cap="flat" cmpd="sng" algn="ctr">
                      <a:solidFill>
                        <a:srgbClr val="F1EADA"/>
                      </a:solidFill>
                      <a:prstDash val="solid"/>
                      <a:round/>
                      <a:headEnd type="none" w="med" len="med"/>
                      <a:tailEnd type="none" w="med" len="med"/>
                    </a:lnT>
                    <a:lnB w="12700" cap="flat" cmpd="sng" algn="ctr">
                      <a:solidFill>
                        <a:srgbClr val="F1EADA"/>
                      </a:solidFill>
                      <a:prstDash val="solid"/>
                      <a:round/>
                      <a:headEnd type="none" w="med" len="med"/>
                      <a:tailEnd type="none" w="med" len="med"/>
                    </a:lnB>
                    <a:solidFill>
                      <a:srgbClr val="E7D3C4"/>
                    </a:solidFill>
                  </a:tcPr>
                </a:tc>
                <a:extLst>
                  <a:ext uri="{0D108BD9-81ED-4DB2-BD59-A6C34878D82A}">
                    <a16:rowId xmlns:a16="http://schemas.microsoft.com/office/drawing/2014/main" val="10007"/>
                  </a:ext>
                </a:extLst>
              </a:tr>
            </a:tbl>
          </a:graphicData>
        </a:graphic>
      </p:graphicFrame>
      <p:sp>
        <p:nvSpPr>
          <p:cNvPr id="6" name="Text 3"/>
          <p:cNvSpPr/>
          <p:nvPr/>
        </p:nvSpPr>
        <p:spPr>
          <a:xfrm>
            <a:off x="502920" y="5166360"/>
            <a:ext cx="11155680" cy="64008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Term search wins on AIC and loses on RMSE. Averaged trees win the holdout and lose the CV. The forest wins both. </a:t>
            </a:r>
            <a:endParaRPr lang="en-US" sz="1500" dirty="0"/>
          </a:p>
        </p:txBody>
      </p:sp>
      <p:sp>
        <p:nvSpPr>
          <p:cNvPr id="7" name="Text 4"/>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8" name="Text 5"/>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09  /  15</a:t>
            </a:r>
            <a:endParaRPr lang="en-US" sz="1000" dirty="0"/>
          </a:p>
        </p:txBody>
      </p:sp>
      <p:pic>
        <p:nvPicPr>
          <p:cNvPr id="5" name="Picture 4">
            <a:extLst>
              <a:ext uri="{FF2B5EF4-FFF2-40B4-BE49-F238E27FC236}">
                <a16:creationId xmlns:a16="http://schemas.microsoft.com/office/drawing/2014/main" id="{E23DFEB4-6938-A701-DCD7-F7A4F5024BFA}"/>
              </a:ext>
            </a:extLst>
          </p:cNvPr>
          <p:cNvPicPr>
            <a:picLocks noChangeAspect="1"/>
          </p:cNvPicPr>
          <p:nvPr/>
        </p:nvPicPr>
        <p:blipFill>
          <a:blip r:embed="rId3">
            <a:duotone>
              <a:prstClr val="black"/>
              <a:srgbClr val="314A3D">
                <a:alpha val="1176"/>
                <a:tint val="45000"/>
                <a:satMod val="400000"/>
              </a:srgbClr>
            </a:duotone>
            <a:alphaModFix amt="11000"/>
          </a:blip>
          <a:srcRect r="10299" b="23389"/>
          <a:stretch>
            <a:fillRect/>
          </a:stretch>
        </p:blipFill>
        <p:spPr>
          <a:xfrm>
            <a:off x="3989741" y="512064"/>
            <a:ext cx="8202259" cy="6345936"/>
          </a:xfrm>
          <a:prstGeom prst="rect">
            <a:avLst/>
          </a:prstGeom>
        </p:spPr>
      </p:pic>
      <p:sp>
        <p:nvSpPr>
          <p:cNvPr id="12" name="Text 2">
            <a:extLst>
              <a:ext uri="{FF2B5EF4-FFF2-40B4-BE49-F238E27FC236}">
                <a16:creationId xmlns:a16="http://schemas.microsoft.com/office/drawing/2014/main" id="{A0470303-7E29-D208-48F0-F0788C1F891E}"/>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Prediction models</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pic>
        <p:nvPicPr>
          <p:cNvPr id="5" name="Image 0" descr="figures/bias_variance.png"/>
          <p:cNvPicPr>
            <a:picLocks noChangeAspect="1"/>
          </p:cNvPicPr>
          <p:nvPr/>
        </p:nvPicPr>
        <p:blipFill>
          <a:blip r:embed="rId3"/>
          <a:stretch>
            <a:fillRect/>
          </a:stretch>
        </p:blipFill>
        <p:spPr>
          <a:xfrm>
            <a:off x="1844040" y="1437437"/>
            <a:ext cx="8503920" cy="4762195"/>
          </a:xfrm>
          <a:prstGeom prst="round2DiagRect">
            <a:avLst/>
          </a:prstGeom>
          <a:effectLst>
            <a:outerShdw blurRad="50800" dist="38100" dir="8100000" algn="tr" rotWithShape="0">
              <a:prstClr val="black">
                <a:alpha val="40000"/>
              </a:prstClr>
            </a:outerShdw>
          </a:effectLst>
        </p:spPr>
      </p:pic>
      <p:sp>
        <p:nvSpPr>
          <p:cNvPr id="6" name="Text 3"/>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10  /  15</a:t>
            </a:r>
            <a:endParaRPr lang="en-US" sz="1000" dirty="0"/>
          </a:p>
        </p:txBody>
      </p:sp>
      <p:sp>
        <p:nvSpPr>
          <p:cNvPr id="11" name="Text 2">
            <a:extLst>
              <a:ext uri="{FF2B5EF4-FFF2-40B4-BE49-F238E27FC236}">
                <a16:creationId xmlns:a16="http://schemas.microsoft.com/office/drawing/2014/main" id="{F9F9AC1C-5789-18EA-3A51-F0FBF0C7D693}"/>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ea typeface="Georgia" pitchFamily="34" charset="-122"/>
                <a:cs typeface="Georgia" pitchFamily="34" charset="-120"/>
              </a:rPr>
              <a:t>Regression overfits – Trees split</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6" name="Text 3"/>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11  /  15</a:t>
            </a:r>
            <a:endParaRPr lang="en-US" sz="1000" dirty="0"/>
          </a:p>
        </p:txBody>
      </p:sp>
      <p:pic>
        <p:nvPicPr>
          <p:cNvPr id="12" name="Image 0">
            <a:extLst>
              <a:ext uri="{FF2B5EF4-FFF2-40B4-BE49-F238E27FC236}">
                <a16:creationId xmlns:a16="http://schemas.microsoft.com/office/drawing/2014/main" id="{CA0BAFFB-C626-E70E-41BA-695AFDE45C96}"/>
              </a:ext>
            </a:extLst>
          </p:cNvPr>
          <p:cNvPicPr>
            <a:picLocks noChangeAspect="1"/>
          </p:cNvPicPr>
          <p:nvPr/>
        </p:nvPicPr>
        <p:blipFill>
          <a:blip r:embed="rId3"/>
          <a:srcRect l="-40" r="57"/>
          <a:stretch>
            <a:fillRect/>
          </a:stretch>
        </p:blipFill>
        <p:spPr>
          <a:xfrm>
            <a:off x="1506071" y="1437437"/>
            <a:ext cx="9170893" cy="4762195"/>
          </a:xfrm>
          <a:prstGeom prst="round2DiagRect">
            <a:avLst/>
          </a:prstGeom>
          <a:effectLst>
            <a:outerShdw blurRad="50800" dist="38100" dir="8100000" algn="tr" rotWithShape="0">
              <a:prstClr val="black">
                <a:alpha val="40000"/>
              </a:prstClr>
            </a:outerShdw>
          </a:effectLst>
        </p:spPr>
      </p:pic>
      <p:sp>
        <p:nvSpPr>
          <p:cNvPr id="13" name="Text 1">
            <a:extLst>
              <a:ext uri="{FF2B5EF4-FFF2-40B4-BE49-F238E27FC236}">
                <a16:creationId xmlns:a16="http://schemas.microsoft.com/office/drawing/2014/main" id="{ED450E6A-86D6-D43D-AE37-989E86C5D299}"/>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sp>
        <p:nvSpPr>
          <p:cNvPr id="15" name="Text 2">
            <a:extLst>
              <a:ext uri="{FF2B5EF4-FFF2-40B4-BE49-F238E27FC236}">
                <a16:creationId xmlns:a16="http://schemas.microsoft.com/office/drawing/2014/main" id="{7A200092-918D-6003-3C6E-B7C7BF90B98A}"/>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rPr>
              <a:t>Average vs typical error</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EADA"/>
        </a:solidFill>
        <a:effectLst/>
      </p:bgPr>
    </p:bg>
    <p:spTree>
      <p:nvGrpSpPr>
        <p:cNvPr id="1" name="">
          <a:extLst>
            <a:ext uri="{FF2B5EF4-FFF2-40B4-BE49-F238E27FC236}">
              <a16:creationId xmlns:a16="http://schemas.microsoft.com/office/drawing/2014/main" id="{90C82EA1-9DD0-D02F-2974-C6DD1EB0B8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B741953-B1F0-8167-B25E-6E2E6D8D982C}"/>
              </a:ext>
            </a:extLst>
          </p:cNvPr>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6" name="Text 3">
            <a:extLst>
              <a:ext uri="{FF2B5EF4-FFF2-40B4-BE49-F238E27FC236}">
                <a16:creationId xmlns:a16="http://schemas.microsoft.com/office/drawing/2014/main" id="{5F317015-E7C0-7109-6649-E38E7BDA8174}"/>
              </a:ext>
            </a:extLst>
          </p:cNvPr>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7" name="Text 4">
            <a:extLst>
              <a:ext uri="{FF2B5EF4-FFF2-40B4-BE49-F238E27FC236}">
                <a16:creationId xmlns:a16="http://schemas.microsoft.com/office/drawing/2014/main" id="{F89FA57C-9A44-A16D-111B-10AFF14779F5}"/>
              </a:ext>
            </a:extLst>
          </p:cNvPr>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11  /  15</a:t>
            </a:r>
            <a:endParaRPr lang="en-US" sz="1000" dirty="0"/>
          </a:p>
        </p:txBody>
      </p:sp>
      <p:pic>
        <p:nvPicPr>
          <p:cNvPr id="12" name="Image 0">
            <a:extLst>
              <a:ext uri="{FF2B5EF4-FFF2-40B4-BE49-F238E27FC236}">
                <a16:creationId xmlns:a16="http://schemas.microsoft.com/office/drawing/2014/main" id="{1BF0FC94-59F9-EFC9-784C-D6F594A112B1}"/>
              </a:ext>
            </a:extLst>
          </p:cNvPr>
          <p:cNvPicPr>
            <a:picLocks noChangeAspect="1"/>
          </p:cNvPicPr>
          <p:nvPr/>
        </p:nvPicPr>
        <p:blipFill>
          <a:blip r:embed="rId3"/>
          <a:srcRect t="86" b="86"/>
          <a:stretch/>
        </p:blipFill>
        <p:spPr>
          <a:xfrm>
            <a:off x="1506071" y="1437437"/>
            <a:ext cx="9170893" cy="4762195"/>
          </a:xfrm>
          <a:prstGeom prst="round2DiagRect">
            <a:avLst/>
          </a:prstGeom>
          <a:effectLst>
            <a:outerShdw blurRad="50800" dist="38100" dir="8100000" algn="tr" rotWithShape="0">
              <a:prstClr val="black">
                <a:alpha val="40000"/>
              </a:prstClr>
            </a:outerShdw>
          </a:effectLst>
        </p:spPr>
      </p:pic>
      <p:sp>
        <p:nvSpPr>
          <p:cNvPr id="13" name="Text 1">
            <a:extLst>
              <a:ext uri="{FF2B5EF4-FFF2-40B4-BE49-F238E27FC236}">
                <a16:creationId xmlns:a16="http://schemas.microsoft.com/office/drawing/2014/main" id="{A8DC0CEA-1D66-2DEB-6C1A-53072F367250}"/>
              </a:ext>
            </a:extLst>
          </p:cNvPr>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PRICING THE NEXT CUSTOMER</a:t>
            </a:r>
            <a:endParaRPr lang="en-US" sz="1100" dirty="0"/>
          </a:p>
        </p:txBody>
      </p:sp>
      <p:sp>
        <p:nvSpPr>
          <p:cNvPr id="15" name="Text 2">
            <a:extLst>
              <a:ext uri="{FF2B5EF4-FFF2-40B4-BE49-F238E27FC236}">
                <a16:creationId xmlns:a16="http://schemas.microsoft.com/office/drawing/2014/main" id="{2F919E49-B43A-5D05-9B73-456CBBB2A804}"/>
              </a:ext>
            </a:extLst>
          </p:cNvPr>
          <p:cNvSpPr/>
          <p:nvPr/>
        </p:nvSpPr>
        <p:spPr>
          <a:xfrm>
            <a:off x="502920" y="713232"/>
            <a:ext cx="10972800" cy="438912"/>
          </a:xfrm>
          <a:prstGeom prst="rect">
            <a:avLst/>
          </a:prstGeom>
          <a:noFill/>
          <a:ln/>
        </p:spPr>
        <p:txBody>
          <a:bodyPr wrap="square" lIns="0" tIns="0" rIns="0" bIns="0" rtlCol="0" anchor="ctr"/>
          <a:lstStyle/>
          <a:p>
            <a:r>
              <a:rPr lang="en-US" sz="2800" dirty="0">
                <a:solidFill>
                  <a:srgbClr val="1C2A22"/>
                </a:solidFill>
                <a:latin typeface="Georgia" pitchFamily="34" charset="0"/>
              </a:rPr>
              <a:t>Random forest's RMSE advantage comes from smokers</a:t>
            </a:r>
            <a:endParaRPr lang="en-US" sz="2800" dirty="0"/>
          </a:p>
        </p:txBody>
      </p:sp>
    </p:spTree>
    <p:extLst>
      <p:ext uri="{BB962C8B-B14F-4D97-AF65-F5344CB8AC3E}">
        <p14:creationId xmlns:p14="http://schemas.microsoft.com/office/powerpoint/2010/main" val="4100175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DECISION</a:t>
            </a:r>
            <a:endParaRPr lang="en-US" sz="1100" dirty="0"/>
          </a:p>
        </p:txBody>
      </p:sp>
      <p:sp>
        <p:nvSpPr>
          <p:cNvPr id="4" name="Text 2"/>
          <p:cNvSpPr/>
          <p:nvPr/>
        </p:nvSpPr>
        <p:spPr>
          <a:xfrm>
            <a:off x="502920" y="685800"/>
            <a:ext cx="10972800" cy="438912"/>
          </a:xfrm>
          <a:prstGeom prst="rect">
            <a:avLst/>
          </a:prstGeom>
          <a:noFill/>
          <a:ln/>
        </p:spPr>
        <p:txBody>
          <a:bodyPr wrap="square" lIns="0" tIns="0" rIns="0" bIns="0" rtlCol="0" anchor="ctr"/>
          <a:lstStyle/>
          <a:p>
            <a:pPr marL="0" indent="0">
              <a:buNone/>
            </a:pPr>
            <a:r>
              <a:rPr lang="en-US" sz="3000" dirty="0">
                <a:solidFill>
                  <a:srgbClr val="1C2A22"/>
                </a:solidFill>
                <a:latin typeface="Georgia" pitchFamily="34" charset="0"/>
                <a:ea typeface="Georgia" pitchFamily="34" charset="-122"/>
                <a:cs typeface="Georgia" pitchFamily="34" charset="-120"/>
              </a:rPr>
              <a:t>Two jobs. Two tools.</a:t>
            </a:r>
            <a:endParaRPr lang="en-US" sz="3000" dirty="0"/>
          </a:p>
        </p:txBody>
      </p:sp>
      <p:sp>
        <p:nvSpPr>
          <p:cNvPr id="5" name="Shape 3"/>
          <p:cNvSpPr/>
          <p:nvPr/>
        </p:nvSpPr>
        <p:spPr>
          <a:xfrm>
            <a:off x="502920" y="1371600"/>
            <a:ext cx="5486400" cy="4434840"/>
          </a:xfrm>
          <a:prstGeom prst="rect">
            <a:avLst/>
          </a:prstGeom>
          <a:solidFill>
            <a:srgbClr val="F7F1E2"/>
          </a:solidFill>
          <a:ln/>
          <a:effectLst>
            <a:outerShdw blurRad="50800" dist="38100" dir="8100000" algn="tr" rotWithShape="0">
              <a:prstClr val="black">
                <a:alpha val="40000"/>
              </a:prstClr>
            </a:outerShdw>
          </a:effectLst>
        </p:spPr>
        <p:txBody>
          <a:bodyPr/>
          <a:lstStyle/>
          <a:p>
            <a:endParaRPr lang="en-US"/>
          </a:p>
        </p:txBody>
      </p:sp>
      <p:sp>
        <p:nvSpPr>
          <p:cNvPr id="6" name="Text 4"/>
          <p:cNvSpPr/>
          <p:nvPr/>
        </p:nvSpPr>
        <p:spPr>
          <a:xfrm>
            <a:off x="731520" y="1554480"/>
            <a:ext cx="5029200" cy="256032"/>
          </a:xfrm>
          <a:prstGeom prst="rect">
            <a:avLst/>
          </a:prstGeom>
          <a:noFill/>
          <a:ln/>
        </p:spPr>
        <p:txBody>
          <a:bodyPr wrap="square" lIns="0" tIns="0" rIns="0" bIns="0" rtlCol="0" anchor="ctr"/>
          <a:lstStyle/>
          <a:p>
            <a:pPr marL="0" indent="0">
              <a:buNone/>
            </a:pPr>
            <a:r>
              <a:rPr lang="en-US" sz="1300" b="1" kern="0" spc="150" dirty="0">
                <a:solidFill>
                  <a:srgbClr val="9D7D3B"/>
                </a:solidFill>
                <a:latin typeface="Calibri" pitchFamily="34" charset="0"/>
                <a:ea typeface="Calibri" pitchFamily="34" charset="-122"/>
                <a:cs typeface="Calibri" pitchFamily="34" charset="-120"/>
              </a:rPr>
              <a:t>EXPLAIN</a:t>
            </a:r>
            <a:endParaRPr lang="en-US" sz="1300" dirty="0"/>
          </a:p>
        </p:txBody>
      </p:sp>
      <p:sp>
        <p:nvSpPr>
          <p:cNvPr id="7" name="Text 5"/>
          <p:cNvSpPr/>
          <p:nvPr/>
        </p:nvSpPr>
        <p:spPr>
          <a:xfrm>
            <a:off x="731520" y="1920240"/>
            <a:ext cx="5029200" cy="411480"/>
          </a:xfrm>
          <a:prstGeom prst="rect">
            <a:avLst/>
          </a:prstGeom>
          <a:noFill/>
          <a:ln/>
        </p:spPr>
        <p:txBody>
          <a:bodyPr wrap="square" lIns="0" tIns="0" rIns="0" bIns="0" rtlCol="0" anchor="ctr"/>
          <a:lstStyle/>
          <a:p>
            <a:pPr marL="0" indent="0">
              <a:buNone/>
            </a:pPr>
            <a:r>
              <a:rPr lang="en-US" sz="2400" dirty="0">
                <a:solidFill>
                  <a:srgbClr val="1C2A22"/>
                </a:solidFill>
                <a:latin typeface="Georgia" pitchFamily="34" charset="0"/>
                <a:ea typeface="Georgia" pitchFamily="34" charset="-122"/>
                <a:cs typeface="Georgia" pitchFamily="34" charset="-120"/>
              </a:rPr>
              <a:t>The equation.</a:t>
            </a:r>
            <a:endParaRPr lang="en-US" sz="2400" dirty="0"/>
          </a:p>
        </p:txBody>
      </p:sp>
      <p:sp>
        <p:nvSpPr>
          <p:cNvPr id="9" name="Shape 7"/>
          <p:cNvSpPr/>
          <p:nvPr/>
        </p:nvSpPr>
        <p:spPr>
          <a:xfrm>
            <a:off x="6217920" y="1371600"/>
            <a:ext cx="5486400" cy="443484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sp>
        <p:nvSpPr>
          <p:cNvPr id="13" name="Text 11"/>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4" name="Text 12"/>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13  /  15</a:t>
            </a:r>
            <a:endParaRPr lang="en-US" sz="1000" dirty="0"/>
          </a:p>
        </p:txBody>
      </p:sp>
      <p:pic>
        <p:nvPicPr>
          <p:cNvPr id="15" name="Picture 14">
            <a:extLst>
              <a:ext uri="{FF2B5EF4-FFF2-40B4-BE49-F238E27FC236}">
                <a16:creationId xmlns:a16="http://schemas.microsoft.com/office/drawing/2014/main" id="{9863A973-5FCE-A127-5AB1-FFC99ABB0519}"/>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
        <p:nvSpPr>
          <p:cNvPr id="12" name="Text 10"/>
          <p:cNvSpPr/>
          <p:nvPr/>
        </p:nvSpPr>
        <p:spPr>
          <a:xfrm>
            <a:off x="6446520" y="2468880"/>
            <a:ext cx="5029200" cy="1828800"/>
          </a:xfrm>
          <a:prstGeom prst="rect">
            <a:avLst/>
          </a:prstGeom>
          <a:noFill/>
          <a:ln/>
        </p:spPr>
        <p:txBody>
          <a:bodyPr wrap="square" lIns="0" tIns="0" rIns="0" bIns="0" rtlCol="0" anchor="ctr"/>
          <a:lstStyle/>
          <a:p>
            <a:pPr marL="0" indent="0">
              <a:buNone/>
            </a:pPr>
            <a:r>
              <a:rPr lang="en-US" sz="1600" dirty="0">
                <a:solidFill>
                  <a:srgbClr val="F1EADA"/>
                </a:solidFill>
                <a:latin typeface="Calibri" pitchFamily="34" charset="0"/>
                <a:ea typeface="Calibri" pitchFamily="34" charset="-122"/>
                <a:cs typeface="Calibri" pitchFamily="34" charset="-120"/>
              </a:rPr>
              <a:t>Lowest RMSE on the 10-fold CV and the holdout. The CV edge is $192, inside a $763 fold SD. The gain is the typical smoker, about $1,111 versus $4,035. One residual spread does not fit both groups. This is not an explanation.</a:t>
            </a:r>
            <a:endParaRPr lang="en-US" sz="1600" dirty="0"/>
          </a:p>
        </p:txBody>
      </p:sp>
      <p:sp>
        <p:nvSpPr>
          <p:cNvPr id="11" name="Text 9"/>
          <p:cNvSpPr/>
          <p:nvPr/>
        </p:nvSpPr>
        <p:spPr>
          <a:xfrm>
            <a:off x="6446520" y="1920240"/>
            <a:ext cx="5029200" cy="411480"/>
          </a:xfrm>
          <a:prstGeom prst="rect">
            <a:avLst/>
          </a:prstGeom>
          <a:noFill/>
          <a:ln/>
        </p:spPr>
        <p:txBody>
          <a:bodyPr wrap="square" lIns="0" tIns="0" rIns="0" bIns="0" rtlCol="0" anchor="ctr"/>
          <a:lstStyle/>
          <a:p>
            <a:pPr marL="0" indent="0">
              <a:buNone/>
            </a:pPr>
            <a:r>
              <a:rPr lang="en-US" sz="2400" dirty="0">
                <a:solidFill>
                  <a:srgbClr val="F1EADA"/>
                </a:solidFill>
                <a:latin typeface="Georgia" pitchFamily="34" charset="0"/>
                <a:ea typeface="Georgia" pitchFamily="34" charset="-122"/>
                <a:cs typeface="Georgia" pitchFamily="34" charset="-120"/>
              </a:rPr>
              <a:t>The random forest.</a:t>
            </a:r>
            <a:endParaRPr lang="en-US" sz="2400" dirty="0"/>
          </a:p>
        </p:txBody>
      </p:sp>
      <p:sp>
        <p:nvSpPr>
          <p:cNvPr id="10" name="Text 8"/>
          <p:cNvSpPr/>
          <p:nvPr/>
        </p:nvSpPr>
        <p:spPr>
          <a:xfrm>
            <a:off x="6446520" y="1554480"/>
            <a:ext cx="5029200" cy="256032"/>
          </a:xfrm>
          <a:prstGeom prst="rect">
            <a:avLst/>
          </a:prstGeom>
          <a:noFill/>
          <a:ln/>
        </p:spPr>
        <p:txBody>
          <a:bodyPr wrap="square" lIns="0" tIns="0" rIns="0" bIns="0" rtlCol="0" anchor="ctr"/>
          <a:lstStyle/>
          <a:p>
            <a:pPr marL="0" indent="0">
              <a:buNone/>
            </a:pPr>
            <a:r>
              <a:rPr lang="en-US" sz="1300" b="1" kern="0" spc="150" dirty="0">
                <a:solidFill>
                  <a:srgbClr val="B79A68"/>
                </a:solidFill>
                <a:latin typeface="Calibri" pitchFamily="34" charset="0"/>
                <a:ea typeface="Calibri" pitchFamily="34" charset="-122"/>
                <a:cs typeface="Calibri" pitchFamily="34" charset="-120"/>
              </a:rPr>
              <a:t>PRICE</a:t>
            </a:r>
            <a:endParaRPr lang="en-US" sz="1300" dirty="0"/>
          </a:p>
        </p:txBody>
      </p:sp>
      <p:sp>
        <p:nvSpPr>
          <p:cNvPr id="8" name="Text 6"/>
          <p:cNvSpPr/>
          <p:nvPr/>
        </p:nvSpPr>
        <p:spPr>
          <a:xfrm>
            <a:off x="731520" y="2468880"/>
            <a:ext cx="5029200" cy="2011680"/>
          </a:xfrm>
          <a:prstGeom prst="rect">
            <a:avLst/>
          </a:prstGeom>
          <a:noFill/>
          <a:ln/>
        </p:spPr>
        <p:txBody>
          <a:bodyPr wrap="square" lIns="0" tIns="0" rIns="0" bIns="0" rtlCol="0" anchor="ctr"/>
          <a:lstStyle/>
          <a:p>
            <a:pPr marL="0" indent="0">
              <a:buNone/>
            </a:pPr>
            <a:r>
              <a:rPr lang="en-US" sz="1600" dirty="0">
                <a:solidFill>
                  <a:srgbClr val="4E463C"/>
                </a:solidFill>
                <a:latin typeface="Calibri" pitchFamily="34" charset="0"/>
                <a:ea typeface="Calibri" pitchFamily="34" charset="-122"/>
                <a:cs typeface="Calibri" pitchFamily="34" charset="-120"/>
              </a:rPr>
              <a:t>Age, children, a smoker gap that depends on BMI, and a regional level shift. Quote the paired bootstrap interval on age and on the smoker gap at BMI 30. Do not quote the smoker coefficient at BMI 0. Do not call the southeast expensive after smoking and BMI are held fixed.</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1C2A22"/>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F1EADA"/>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A8A08E"/>
                </a:solidFill>
                <a:latin typeface="Calibri" pitchFamily="34" charset="0"/>
                <a:ea typeface="Calibri" pitchFamily="34" charset="-122"/>
                <a:cs typeface="Calibri" pitchFamily="34" charset="-120"/>
              </a:rPr>
              <a:t>WHAT WE WILL NOT CLAIM</a:t>
            </a:r>
            <a:endParaRPr lang="en-US" sz="1100" dirty="0"/>
          </a:p>
        </p:txBody>
      </p:sp>
      <p:sp>
        <p:nvSpPr>
          <p:cNvPr id="4" name="Text 2"/>
          <p:cNvSpPr/>
          <p:nvPr/>
        </p:nvSpPr>
        <p:spPr>
          <a:xfrm>
            <a:off x="502920" y="731520"/>
            <a:ext cx="10972800" cy="1051560"/>
          </a:xfrm>
          <a:prstGeom prst="rect">
            <a:avLst/>
          </a:prstGeom>
          <a:noFill/>
          <a:ln/>
        </p:spPr>
        <p:txBody>
          <a:bodyPr wrap="square" lIns="0" tIns="0" rIns="0" bIns="0" rtlCol="0" anchor="ctr"/>
          <a:lstStyle/>
          <a:p>
            <a:pPr marL="0" indent="0">
              <a:buNone/>
            </a:pPr>
            <a:r>
              <a:rPr lang="en-US" sz="2800" dirty="0">
                <a:solidFill>
                  <a:srgbClr val="F1EADA"/>
                </a:solidFill>
                <a:latin typeface="Georgia" pitchFamily="34" charset="0"/>
                <a:ea typeface="Georgia" pitchFamily="34" charset="-122"/>
                <a:cs typeface="Georgia" pitchFamily="34" charset="-120"/>
              </a:rPr>
              <a:t>The sample supports an association.</a:t>
            </a:r>
            <a:endParaRPr lang="en-US" sz="2800" dirty="0"/>
          </a:p>
          <a:p>
            <a:pPr marL="0" indent="0">
              <a:buNone/>
            </a:pPr>
            <a:r>
              <a:rPr lang="en-US" sz="2800" dirty="0">
                <a:solidFill>
                  <a:srgbClr val="F1EADA"/>
                </a:solidFill>
                <a:latin typeface="Georgia" pitchFamily="34" charset="0"/>
                <a:ea typeface="Georgia" pitchFamily="34" charset="-122"/>
                <a:cs typeface="Georgia" pitchFamily="34" charset="-120"/>
              </a:rPr>
              <a:t>Not a national rate, and not a cause.</a:t>
            </a:r>
            <a:endParaRPr lang="en-US" sz="2800" dirty="0"/>
          </a:p>
        </p:txBody>
      </p:sp>
      <p:sp>
        <p:nvSpPr>
          <p:cNvPr id="5" name="Text 3"/>
          <p:cNvSpPr/>
          <p:nvPr/>
        </p:nvSpPr>
        <p:spPr>
          <a:xfrm>
            <a:off x="502920" y="210312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Scope</a:t>
            </a:r>
            <a:endParaRPr lang="en-US" sz="1400" dirty="0"/>
          </a:p>
        </p:txBody>
      </p:sp>
      <p:sp>
        <p:nvSpPr>
          <p:cNvPr id="6" name="Text 4"/>
          <p:cNvSpPr/>
          <p:nvPr/>
        </p:nvSpPr>
        <p:spPr>
          <a:xfrm>
            <a:off x="502920" y="246888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Four region labels in this file. No household, plan, or year. Independence is an assumption, not a result.</a:t>
            </a:r>
            <a:endParaRPr lang="en-US" sz="1500" dirty="0"/>
          </a:p>
        </p:txBody>
      </p:sp>
      <p:pic>
        <p:nvPicPr>
          <p:cNvPr id="15" name="Picture 14">
            <a:extLst>
              <a:ext uri="{FF2B5EF4-FFF2-40B4-BE49-F238E27FC236}">
                <a16:creationId xmlns:a16="http://schemas.microsoft.com/office/drawing/2014/main" id="{03EF6343-7773-7789-BF91-34310C225476}"/>
              </a:ext>
            </a:extLst>
          </p:cNvPr>
          <p:cNvPicPr>
            <a:picLocks noChangeAspect="1"/>
          </p:cNvPicPr>
          <p:nvPr/>
        </p:nvPicPr>
        <p:blipFill>
          <a:blip r:embed="rId3">
            <a:duotone>
              <a:prstClr val="black"/>
              <a:srgbClr val="314A3D">
                <a:alpha val="1176"/>
                <a:tint val="45000"/>
                <a:satMod val="400000"/>
              </a:srgbClr>
            </a:duotone>
            <a:alphaModFix amt="35000"/>
          </a:blip>
          <a:srcRect r="10299" b="23389"/>
          <a:stretch>
            <a:fillRect/>
          </a:stretch>
        </p:blipFill>
        <p:spPr>
          <a:xfrm>
            <a:off x="3989741" y="512064"/>
            <a:ext cx="8202259" cy="6345936"/>
          </a:xfrm>
          <a:prstGeom prst="rect">
            <a:avLst/>
          </a:prstGeom>
        </p:spPr>
      </p:pic>
      <p:sp>
        <p:nvSpPr>
          <p:cNvPr id="7" name="Text 5"/>
          <p:cNvSpPr/>
          <p:nvPr/>
        </p:nvSpPr>
        <p:spPr>
          <a:xfrm>
            <a:off x="6309360" y="210312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Cause</a:t>
            </a:r>
            <a:endParaRPr lang="en-US" sz="1400" dirty="0"/>
          </a:p>
        </p:txBody>
      </p:sp>
      <p:sp>
        <p:nvSpPr>
          <p:cNvPr id="8" name="Text 6"/>
          <p:cNvSpPr/>
          <p:nvPr/>
        </p:nvSpPr>
        <p:spPr>
          <a:xfrm>
            <a:off x="6309360" y="246888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Smoking was not assigned. $22,833 is a contrast in this file, not the effect of someone quitting.</a:t>
            </a:r>
            <a:endParaRPr lang="en-US" sz="1500" dirty="0"/>
          </a:p>
        </p:txBody>
      </p:sp>
      <p:sp>
        <p:nvSpPr>
          <p:cNvPr id="9" name="Text 7"/>
          <p:cNvSpPr/>
          <p:nvPr/>
        </p:nvSpPr>
        <p:spPr>
          <a:xfrm>
            <a:off x="502920" y="406908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95% prediction-error margin</a:t>
            </a:r>
            <a:endParaRPr lang="en-US" sz="1400" dirty="0"/>
          </a:p>
        </p:txBody>
      </p:sp>
      <p:sp>
        <p:nvSpPr>
          <p:cNvPr id="10" name="Text 8"/>
          <p:cNvSpPr/>
          <p:nvPr/>
        </p:nvSpPr>
        <p:spPr>
          <a:xfrm>
            <a:off x="502920" y="443484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95% of left-out smoker bills fell within $9,800 of the forest quote. Non-smokers, within $12,486. The equation is $9,489 and $13,031 on that cut. Not a tighter smoker margin, and not a percent of the average bill.</a:t>
            </a:r>
            <a:endParaRPr lang="en-US" sz="1500" dirty="0"/>
          </a:p>
        </p:txBody>
      </p:sp>
      <p:sp>
        <p:nvSpPr>
          <p:cNvPr id="11" name="Text 9"/>
          <p:cNvSpPr/>
          <p:nvPr/>
        </p:nvSpPr>
        <p:spPr>
          <a:xfrm>
            <a:off x="6309360" y="4069080"/>
            <a:ext cx="5486400" cy="320040"/>
          </a:xfrm>
          <a:prstGeom prst="rect">
            <a:avLst/>
          </a:prstGeom>
          <a:noFill/>
          <a:ln/>
        </p:spPr>
        <p:txBody>
          <a:bodyPr wrap="square" lIns="0" tIns="0" rIns="0" bIns="0" rtlCol="0" anchor="ctr"/>
          <a:lstStyle/>
          <a:p>
            <a:pPr marL="0" indent="0">
              <a:buNone/>
            </a:pPr>
            <a:r>
              <a:rPr lang="en-US" sz="1400" b="1" dirty="0">
                <a:solidFill>
                  <a:srgbClr val="B79A68"/>
                </a:solidFill>
                <a:latin typeface="Calibri" pitchFamily="34" charset="0"/>
                <a:ea typeface="Calibri" pitchFamily="34" charset="-122"/>
                <a:cs typeface="Calibri" pitchFamily="34" charset="-120"/>
              </a:rPr>
              <a:t>More time</a:t>
            </a:r>
            <a:endParaRPr lang="en-US" sz="1400" dirty="0"/>
          </a:p>
        </p:txBody>
      </p:sp>
      <p:sp>
        <p:nvSpPr>
          <p:cNvPr id="12" name="Text 10"/>
          <p:cNvSpPr/>
          <p:nvPr/>
        </p:nvSpPr>
        <p:spPr>
          <a:xfrm>
            <a:off x="6309360" y="4434840"/>
            <a:ext cx="5486400" cy="1325880"/>
          </a:xfrm>
          <a:prstGeom prst="rect">
            <a:avLst/>
          </a:prstGeom>
          <a:noFill/>
          <a:ln/>
        </p:spPr>
        <p:txBody>
          <a:bodyPr wrap="square" lIns="0" tIns="0" rIns="0" bIns="0" rtlCol="0" anchor="ctr"/>
          <a:lstStyle/>
          <a:p>
            <a:pPr marL="0" indent="0">
              <a:buNone/>
            </a:pPr>
            <a:r>
              <a:rPr lang="en-US" sz="1500" dirty="0">
                <a:solidFill>
                  <a:srgbClr val="F1EADA"/>
                </a:solidFill>
                <a:latin typeface="Calibri" pitchFamily="34" charset="0"/>
                <a:ea typeface="Calibri" pitchFamily="34" charset="-122"/>
                <a:cs typeface="Calibri" pitchFamily="34" charset="-120"/>
              </a:rPr>
              <a:t>What the sample does not contain: diagnosis, plan design, deductible, and whether the charge is one year. </a:t>
            </a:r>
            <a:endParaRPr lang="en-US" sz="1500" dirty="0"/>
          </a:p>
        </p:txBody>
      </p:sp>
      <p:sp>
        <p:nvSpPr>
          <p:cNvPr id="13" name="Text 11"/>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A8A08E"/>
                </a:solidFill>
                <a:latin typeface="Calibri" pitchFamily="34" charset="0"/>
                <a:ea typeface="Calibri" pitchFamily="34" charset="-122"/>
                <a:cs typeface="Calibri" pitchFamily="34" charset="-120"/>
              </a:rPr>
              <a:t>HEALTH-ACCOUNT CHARGES</a:t>
            </a:r>
            <a:endParaRPr lang="en-US" sz="1000" dirty="0"/>
          </a:p>
        </p:txBody>
      </p:sp>
      <p:sp>
        <p:nvSpPr>
          <p:cNvPr id="14" name="Text 12"/>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A8A08E"/>
                </a:solidFill>
                <a:latin typeface="Calibri" pitchFamily="34" charset="0"/>
                <a:ea typeface="Calibri" pitchFamily="34" charset="-122"/>
                <a:cs typeface="Calibri" pitchFamily="34" charset="-120"/>
              </a:rPr>
              <a:t>14  /  15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name="Slide 8">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THE EQUATION</a:t>
            </a:r>
            <a:endParaRPr lang="en-US" sz="1100" dirty="0"/>
          </a:p>
        </p:txBody>
      </p:sp>
      <p:sp>
        <p:nvSpPr>
          <p:cNvPr id="4" name="Text 2"/>
          <p:cNvSpPr/>
          <p:nvPr/>
        </p:nvSpPr>
        <p:spPr>
          <a:xfrm>
            <a:off x="502920" y="685800"/>
            <a:ext cx="10972800" cy="411480"/>
          </a:xfrm>
          <a:prstGeom prst="rect">
            <a:avLst/>
          </a:prstGeom>
          <a:noFill/>
          <a:ln/>
        </p:spPr>
        <p:txBody>
          <a:bodyPr wrap="square" lIns="0" tIns="0" rIns="0" bIns="0" rtlCol="0" anchor="ctr"/>
          <a:lstStyle/>
          <a:p>
            <a:pPr marL="0" indent="0">
              <a:buNone/>
            </a:pPr>
            <a:r>
              <a:rPr lang="en-US" sz="2800" dirty="0">
                <a:solidFill>
                  <a:srgbClr val="1C2A22"/>
                </a:solidFill>
                <a:latin typeface="Georgia" pitchFamily="34" charset="0"/>
                <a:ea typeface="Georgia" pitchFamily="34" charset="-122"/>
                <a:cs typeface="Georgia" pitchFamily="34" charset="-120"/>
              </a:rPr>
              <a:t>Detailed Insights</a:t>
            </a:r>
            <a:endParaRPr lang="en-US" sz="2800" dirty="0"/>
          </a:p>
        </p:txBody>
      </p:sp>
      <p:sp>
        <p:nvSpPr>
          <p:cNvPr id="5" name="Shape 3"/>
          <p:cNvSpPr/>
          <p:nvPr/>
        </p:nvSpPr>
        <p:spPr>
          <a:xfrm>
            <a:off x="502920" y="1325880"/>
            <a:ext cx="11155680" cy="1965960"/>
          </a:xfrm>
          <a:prstGeom prst="rect">
            <a:avLst/>
          </a:prstGeom>
          <a:solidFill>
            <a:srgbClr val="F7F1E2"/>
          </a:solidFill>
          <a:ln/>
          <a:effectLst>
            <a:outerShdw blurRad="50800" dist="38100" dir="8100000" algn="tr" rotWithShape="0">
              <a:prstClr val="black">
                <a:alpha val="40000"/>
              </a:prstClr>
            </a:outerShdw>
          </a:effectLst>
        </p:spPr>
        <p:txBody>
          <a:bodyPr/>
          <a:lstStyle/>
          <a:p>
            <a:endParaRPr lang="en-US"/>
          </a:p>
        </p:txBody>
      </p:sp>
      <p:sp>
        <p:nvSpPr>
          <p:cNvPr id="6" name="Text 4"/>
          <p:cNvSpPr/>
          <p:nvPr/>
        </p:nvSpPr>
        <p:spPr>
          <a:xfrm>
            <a:off x="731520" y="1463040"/>
            <a:ext cx="1828800" cy="256032"/>
          </a:xfrm>
          <a:prstGeom prst="rect">
            <a:avLst/>
          </a:prstGeom>
          <a:noFill/>
          <a:ln/>
        </p:spPr>
        <p:txBody>
          <a:bodyPr wrap="square" lIns="0" tIns="0" rIns="0" bIns="0" rtlCol="0" anchor="ctr"/>
          <a:lstStyle/>
          <a:p>
            <a:pPr marL="0" indent="0">
              <a:buNone/>
            </a:pPr>
            <a:r>
              <a:rPr lang="en-US" sz="1200" b="1" kern="0" spc="140" dirty="0">
                <a:solidFill>
                  <a:srgbClr val="9D7D3B"/>
                </a:solidFill>
                <a:latin typeface="Calibri" pitchFamily="34" charset="0"/>
                <a:ea typeface="Calibri" pitchFamily="34" charset="-122"/>
                <a:cs typeface="Calibri" pitchFamily="34" charset="-120"/>
              </a:rPr>
              <a:t>AGE</a:t>
            </a:r>
            <a:endParaRPr lang="en-US" sz="1200" dirty="0"/>
          </a:p>
        </p:txBody>
      </p:sp>
      <p:sp>
        <p:nvSpPr>
          <p:cNvPr id="7" name="Text 5"/>
          <p:cNvSpPr/>
          <p:nvPr/>
        </p:nvSpPr>
        <p:spPr>
          <a:xfrm>
            <a:off x="731520" y="1783080"/>
            <a:ext cx="10607040" cy="1280160"/>
          </a:xfrm>
          <a:prstGeom prst="rect">
            <a:avLst/>
          </a:prstGeom>
          <a:noFill/>
          <a:ln/>
        </p:spPr>
        <p:txBody>
          <a:bodyPr wrap="square" lIns="0" tIns="0" rIns="0" bIns="0" rtlCol="0" anchor="ctr"/>
          <a:lstStyle/>
          <a:p>
            <a:pPr marL="0" indent="0">
              <a:buNone/>
            </a:pPr>
            <a:r>
              <a:rPr lang="en-US" sz="1600" dirty="0">
                <a:solidFill>
                  <a:srgbClr val="1C2A22"/>
                </a:solidFill>
                <a:latin typeface="Calibri" pitchFamily="34" charset="0"/>
                <a:ea typeface="Calibri" pitchFamily="34" charset="-122"/>
                <a:cs typeface="Calibri" pitchFamily="34" charset="-120"/>
              </a:rPr>
              <a:t>Holding BMI, smoking, children, and region fixed, one more year of age is associated with $264 higher mean charges. Ordinary 95% interval $245 to $283. The paired bootstrap interval is the same. About 2% of the average bill. Same slope in both groups.</a:t>
            </a:r>
            <a:endParaRPr lang="en-US" sz="1600" dirty="0"/>
          </a:p>
        </p:txBody>
      </p:sp>
      <p:sp>
        <p:nvSpPr>
          <p:cNvPr id="8" name="Shape 6"/>
          <p:cNvSpPr/>
          <p:nvPr/>
        </p:nvSpPr>
        <p:spPr>
          <a:xfrm>
            <a:off x="502920" y="3474720"/>
            <a:ext cx="11155680" cy="2148840"/>
          </a:xfrm>
          <a:prstGeom prst="rect">
            <a:avLst/>
          </a:prstGeom>
          <a:solidFill>
            <a:srgbClr val="1C2A22"/>
          </a:solidFill>
          <a:ln/>
          <a:effectLst>
            <a:outerShdw blurRad="50800" dist="38100" dir="8100000" algn="tr" rotWithShape="0">
              <a:prstClr val="black">
                <a:alpha val="40000"/>
              </a:prstClr>
            </a:outerShdw>
          </a:effectLst>
        </p:spPr>
        <p:txBody>
          <a:bodyPr/>
          <a:lstStyle/>
          <a:p>
            <a:endParaRPr lang="en-US"/>
          </a:p>
        </p:txBody>
      </p:sp>
      <p:sp>
        <p:nvSpPr>
          <p:cNvPr id="9" name="Text 7"/>
          <p:cNvSpPr/>
          <p:nvPr/>
        </p:nvSpPr>
        <p:spPr>
          <a:xfrm>
            <a:off x="731520" y="3611880"/>
            <a:ext cx="5486400" cy="256032"/>
          </a:xfrm>
          <a:prstGeom prst="rect">
            <a:avLst/>
          </a:prstGeom>
          <a:noFill/>
          <a:ln/>
        </p:spPr>
        <p:txBody>
          <a:bodyPr wrap="square" lIns="0" tIns="0" rIns="0" bIns="0" rtlCol="0" anchor="ctr"/>
          <a:lstStyle/>
          <a:p>
            <a:pPr marL="0" indent="0">
              <a:buNone/>
            </a:pPr>
            <a:r>
              <a:rPr lang="en-US" sz="1200" b="1" kern="0" spc="140" dirty="0">
                <a:solidFill>
                  <a:srgbClr val="B79A68"/>
                </a:solidFill>
                <a:latin typeface="Calibri" pitchFamily="34" charset="0"/>
                <a:ea typeface="Calibri" pitchFamily="34" charset="-122"/>
                <a:cs typeface="Calibri" pitchFamily="34" charset="-120"/>
              </a:rPr>
              <a:t>SMOKER, AT BMI 30</a:t>
            </a:r>
            <a:endParaRPr lang="en-US" sz="1200" dirty="0"/>
          </a:p>
        </p:txBody>
      </p:sp>
      <p:sp>
        <p:nvSpPr>
          <p:cNvPr id="10" name="Text 8"/>
          <p:cNvSpPr/>
          <p:nvPr/>
        </p:nvSpPr>
        <p:spPr>
          <a:xfrm>
            <a:off x="731520" y="3950208"/>
            <a:ext cx="10607040" cy="1463040"/>
          </a:xfrm>
          <a:prstGeom prst="rect">
            <a:avLst/>
          </a:prstGeom>
          <a:noFill/>
          <a:ln/>
        </p:spPr>
        <p:txBody>
          <a:bodyPr wrap="square" lIns="0" tIns="0" rIns="0" bIns="0" rtlCol="0" anchor="ctr"/>
          <a:lstStyle/>
          <a:p>
            <a:pPr marL="0" indent="0">
              <a:buNone/>
            </a:pPr>
            <a:r>
              <a:rPr lang="en-US" sz="1600" dirty="0">
                <a:solidFill>
                  <a:srgbClr val="F1EADA"/>
                </a:solidFill>
                <a:latin typeface="Calibri" pitchFamily="34" charset="0"/>
                <a:ea typeface="Calibri" pitchFamily="34" charset="-122"/>
                <a:cs typeface="Calibri" pitchFamily="34" charset="-120"/>
              </a:rPr>
              <a:t>Holding age, children, and region fixed, a smoker at BMI 30 has mean charges $22,833 higher than a non-smoker at the same BMI. The paired bootstrap interval is $22,045 to $23,566. At BMI 25 the gap is $15,643. At BMI 35 it is $30,024. This describes the file. It is not what the bill would do if a particular person stopped smoking.</a:t>
            </a:r>
            <a:endParaRPr lang="en-US" sz="1600" dirty="0"/>
          </a:p>
        </p:txBody>
      </p:sp>
      <p:sp>
        <p:nvSpPr>
          <p:cNvPr id="11" name="Text 9"/>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12" name="Text 10"/>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07  /  15</a:t>
            </a:r>
            <a:endParaRPr lang="en-US" sz="1000" dirty="0"/>
          </a:p>
        </p:txBody>
      </p:sp>
      <p:pic>
        <p:nvPicPr>
          <p:cNvPr id="13" name="Picture 12">
            <a:extLst>
              <a:ext uri="{FF2B5EF4-FFF2-40B4-BE49-F238E27FC236}">
                <a16:creationId xmlns:a16="http://schemas.microsoft.com/office/drawing/2014/main" id="{C19FC6FD-9275-B08D-F67F-BC8ECF21BB62}"/>
              </a:ext>
            </a:extLst>
          </p:cNvPr>
          <p:cNvPicPr>
            <a:picLocks noChangeAspect="1"/>
          </p:cNvPicPr>
          <p:nvPr/>
        </p:nvPicPr>
        <p:blipFill>
          <a:blip r:embed="rId3">
            <a:duotone>
              <a:prstClr val="black"/>
              <a:srgbClr val="314A3D">
                <a:alpha val="1176"/>
                <a:tint val="45000"/>
                <a:satMod val="400000"/>
              </a:srgbClr>
            </a:duotone>
            <a:alphaModFix amt="18000"/>
          </a:blip>
          <a:srcRect r="10299" b="23389"/>
          <a:stretch>
            <a:fillRect/>
          </a:stretch>
        </p:blipFill>
        <p:spPr>
          <a:xfrm>
            <a:off x="3989741" y="512064"/>
            <a:ext cx="8202259" cy="634593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name="Slide 16">
    <p:bg>
      <p:bgPr>
        <a:solidFill>
          <a:srgbClr val="F1EADA"/>
        </a:solidFill>
        <a:effectLst/>
      </p:bgPr>
    </p:bg>
    <p:spTree>
      <p:nvGrpSpPr>
        <p:cNvPr id="1" name=""/>
        <p:cNvGrpSpPr/>
        <p:nvPr/>
      </p:nvGrpSpPr>
      <p:grpSpPr>
        <a:xfrm>
          <a:off x="0" y="0"/>
          <a:ext cx="0" cy="0"/>
          <a:chOff x="0" y="0"/>
          <a:chExt cx="0" cy="0"/>
        </a:xfrm>
      </p:grpSpPr>
      <p:sp>
        <p:nvSpPr>
          <p:cNvPr id="2" name="Text 0"/>
          <p:cNvSpPr/>
          <p:nvPr/>
        </p:nvSpPr>
        <p:spPr>
          <a:xfrm>
            <a:off x="502920" y="256032"/>
            <a:ext cx="3840480" cy="256032"/>
          </a:xfrm>
          <a:prstGeom prst="rect">
            <a:avLst/>
          </a:prstGeom>
          <a:noFill/>
          <a:ln/>
        </p:spPr>
        <p:txBody>
          <a:bodyPr wrap="square" lIns="0" tIns="0" rIns="0" bIns="0" rtlCol="0" anchor="ctr"/>
          <a:lstStyle/>
          <a:p>
            <a:pPr marL="0" indent="0">
              <a:buNone/>
            </a:pPr>
            <a:r>
              <a:rPr lang="en-US" sz="1100" b="1" kern="0" spc="160" dirty="0">
                <a:solidFill>
                  <a:srgbClr val="1C2A22"/>
                </a:solidFill>
                <a:latin typeface="Calibri" pitchFamily="34" charset="0"/>
                <a:ea typeface="Calibri" pitchFamily="34" charset="-122"/>
                <a:cs typeface="Calibri" pitchFamily="34" charset="-120"/>
              </a:rPr>
              <a:t>POWELL   ·   BUI</a:t>
            </a:r>
            <a:endParaRPr lang="en-US" sz="11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marL="0" indent="0" algn="r">
              <a:buNone/>
            </a:pPr>
            <a:r>
              <a:rPr lang="en-US" sz="1100" kern="0" spc="140" dirty="0">
                <a:solidFill>
                  <a:srgbClr val="5F7265"/>
                </a:solidFill>
                <a:latin typeface="Calibri" pitchFamily="34" charset="0"/>
                <a:ea typeface="Calibri" pitchFamily="34" charset="-122"/>
                <a:cs typeface="Calibri" pitchFamily="34" charset="-120"/>
              </a:rPr>
              <a:t>IF ASKED</a:t>
            </a:r>
            <a:endParaRPr lang="en-US" sz="1100" dirty="0"/>
          </a:p>
        </p:txBody>
      </p:sp>
      <p:sp>
        <p:nvSpPr>
          <p:cNvPr id="4" name="Text 2"/>
          <p:cNvSpPr/>
          <p:nvPr/>
        </p:nvSpPr>
        <p:spPr>
          <a:xfrm>
            <a:off x="502920" y="640080"/>
            <a:ext cx="10972800" cy="365760"/>
          </a:xfrm>
          <a:prstGeom prst="rect">
            <a:avLst/>
          </a:prstGeom>
          <a:noFill/>
          <a:ln/>
        </p:spPr>
        <p:txBody>
          <a:bodyPr wrap="square" lIns="0" tIns="0" rIns="0" bIns="0" rtlCol="0" anchor="ctr"/>
          <a:lstStyle/>
          <a:p>
            <a:pPr marL="0" indent="0">
              <a:buNone/>
            </a:pPr>
            <a:r>
              <a:rPr lang="en-US" sz="2600" dirty="0">
                <a:solidFill>
                  <a:srgbClr val="1C2A22"/>
                </a:solidFill>
                <a:latin typeface="Georgia" pitchFamily="34" charset="0"/>
                <a:ea typeface="Georgia" pitchFamily="34" charset="-122"/>
                <a:cs typeface="Georgia" pitchFamily="34" charset="-120"/>
              </a:rPr>
              <a:t>The penalty, and the neighborhood.</a:t>
            </a:r>
            <a:endParaRPr lang="en-US" sz="2600" dirty="0"/>
          </a:p>
        </p:txBody>
      </p:sp>
      <p:pic>
        <p:nvPicPr>
          <p:cNvPr id="5" name="Image 0" descr="figures/penalty.png"/>
          <p:cNvPicPr>
            <a:picLocks noChangeAspect="1"/>
          </p:cNvPicPr>
          <p:nvPr/>
        </p:nvPicPr>
        <p:blipFill>
          <a:blip r:embed="rId3"/>
          <a:stretch>
            <a:fillRect/>
          </a:stretch>
        </p:blipFill>
        <p:spPr>
          <a:xfrm>
            <a:off x="320040" y="1143000"/>
            <a:ext cx="5532120" cy="3042666"/>
          </a:xfrm>
          <a:prstGeom prst="rect">
            <a:avLst/>
          </a:prstGeom>
        </p:spPr>
      </p:pic>
      <p:pic>
        <p:nvPicPr>
          <p:cNvPr id="6" name="Image 1" descr="figures/knn_k.png"/>
          <p:cNvPicPr>
            <a:picLocks noChangeAspect="1"/>
          </p:cNvPicPr>
          <p:nvPr/>
        </p:nvPicPr>
        <p:blipFill>
          <a:blip r:embed="rId4"/>
          <a:stretch>
            <a:fillRect/>
          </a:stretch>
        </p:blipFill>
        <p:spPr>
          <a:xfrm>
            <a:off x="6309360" y="1234440"/>
            <a:ext cx="5532120" cy="2766060"/>
          </a:xfrm>
          <a:prstGeom prst="rect">
            <a:avLst/>
          </a:prstGeom>
        </p:spPr>
      </p:pic>
      <p:sp>
        <p:nvSpPr>
          <p:cNvPr id="7" name="Text 3"/>
          <p:cNvSpPr/>
          <p:nvPr/>
        </p:nvSpPr>
        <p:spPr>
          <a:xfrm>
            <a:off x="502920" y="4709160"/>
            <a:ext cx="11155680" cy="822960"/>
          </a:xfrm>
          <a:prstGeom prst="rect">
            <a:avLst/>
          </a:prstGeom>
          <a:noFill/>
          <a:ln/>
        </p:spPr>
        <p:txBody>
          <a:bodyPr wrap="square" lIns="0" tIns="0" rIns="0" bIns="0" rtlCol="0" anchor="ctr"/>
          <a:lstStyle/>
          <a:p>
            <a:pPr marL="0" indent="0">
              <a:buNone/>
            </a:pPr>
            <a:r>
              <a:rPr lang="en-US" sz="1500" dirty="0">
                <a:solidFill>
                  <a:srgbClr val="4E463C"/>
                </a:solidFill>
                <a:latin typeface="Calibri" pitchFamily="34" charset="0"/>
                <a:ea typeface="Calibri" pitchFamily="34" charset="-122"/>
                <a:cs typeface="Calibri" pitchFamily="34" charset="-120"/>
              </a:rPr>
              <a:t>Between the smallest squared error and the penalty we keep, the error barely moves. Farther right, signal starts coming out. Neighbors of 1 and of 30 are both worse than 7, and 7 does not beat the equation.</a:t>
            </a:r>
            <a:endParaRPr lang="en-US" sz="1500" dirty="0"/>
          </a:p>
        </p:txBody>
      </p:sp>
      <p:sp>
        <p:nvSpPr>
          <p:cNvPr id="8" name="Text 4"/>
          <p:cNvSpPr/>
          <p:nvPr/>
        </p:nvSpPr>
        <p:spPr>
          <a:xfrm>
            <a:off x="502920" y="6473952"/>
            <a:ext cx="5943600" cy="237744"/>
          </a:xfrm>
          <a:prstGeom prst="rect">
            <a:avLst/>
          </a:prstGeom>
          <a:noFill/>
          <a:ln/>
        </p:spPr>
        <p:txBody>
          <a:bodyPr wrap="square" lIns="0" tIns="0" rIns="0" bIns="0" rtlCol="0" anchor="ctr"/>
          <a:lstStyle/>
          <a:p>
            <a:pPr marL="0" indent="0">
              <a:buNone/>
            </a:pPr>
            <a:r>
              <a:rPr lang="en-US" sz="1000" dirty="0">
                <a:solidFill>
                  <a:srgbClr val="5F7265"/>
                </a:solidFill>
                <a:latin typeface="Calibri" pitchFamily="34" charset="0"/>
                <a:ea typeface="Calibri" pitchFamily="34" charset="-122"/>
                <a:cs typeface="Calibri" pitchFamily="34" charset="-120"/>
              </a:rPr>
              <a:t>HEALTH-ACCOUNT CHARGES</a:t>
            </a:r>
            <a:endParaRPr lang="en-US" sz="1000" dirty="0"/>
          </a:p>
        </p:txBody>
      </p:sp>
      <p:sp>
        <p:nvSpPr>
          <p:cNvPr id="9" name="Text 5"/>
          <p:cNvSpPr/>
          <p:nvPr/>
        </p:nvSpPr>
        <p:spPr>
          <a:xfrm>
            <a:off x="9509760" y="6473952"/>
            <a:ext cx="2194560" cy="237744"/>
          </a:xfrm>
          <a:prstGeom prst="rect">
            <a:avLst/>
          </a:prstGeom>
          <a:noFill/>
          <a:ln/>
        </p:spPr>
        <p:txBody>
          <a:bodyPr wrap="square" lIns="0" tIns="0" rIns="0" bIns="0" rtlCol="0" anchor="ctr"/>
          <a:lstStyle/>
          <a:p>
            <a:pPr marL="0" indent="0" algn="r">
              <a:buNone/>
            </a:pPr>
            <a:r>
              <a:rPr lang="en-US" sz="1000" dirty="0">
                <a:solidFill>
                  <a:srgbClr val="5F7265"/>
                </a:solidFill>
                <a:latin typeface="Calibri" pitchFamily="34" charset="0"/>
                <a:ea typeface="Calibri" pitchFamily="34" charset="-122"/>
                <a:cs typeface="Calibri" pitchFamily="34" charset="-120"/>
              </a:rPr>
              <a:t>15  /  15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1011</TotalTime>
  <Words>4150</Words>
  <Application>Microsoft Office PowerPoint</Application>
  <PresentationFormat>Widescreen</PresentationFormat>
  <Paragraphs>340</Paragraphs>
  <Slides>15</Slides>
  <Notes>15</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Georgia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Health-account charges</dc:title>
  <dc:subject>What is associated with the bill, and how we would price the next customer</dc:subject>
  <dc:creator>Aaron Powell and Thuan-Andy Bui</dc:creator>
  <cp:lastModifiedBy>Bui, Andy</cp:lastModifiedBy>
  <cp:revision>25</cp:revision>
  <dcterms:created xsi:type="dcterms:W3CDTF">2026-09-25T14:41:18Z</dcterms:created>
  <dcterms:modified xsi:type="dcterms:W3CDTF">2026-09-27T23:25:31Z</dcterms:modified>
</cp:coreProperties>
</file>